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f7f7b1d1c64e78" /><Relationship Type="http://schemas.openxmlformats.org/officeDocument/2006/relationships/extended-properties" Target="/docProps/app.xml" Id="Rb5f8dcbf7cd34110" /><Relationship Type="http://schemas.openxmlformats.org/officeDocument/2006/relationships/officeDocument" Target="/ppt/presentation.xml" Id="Rd74701712a8e4c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55e0838069475b"/>
  </p:sldMasterIdLst>
  <p:notesMasterIdLst>
    <p:notesMasterId xmlns:r="http://schemas.openxmlformats.org/officeDocument/2006/relationships" r:id="Ra78ae43721d64f98"/>
  </p:notesMasterIdLst>
  <p:sldIdLst>
    <p:sldId xmlns:r="http://schemas.openxmlformats.org/officeDocument/2006/relationships" id="256" r:id="R7ef3637804e24118"/>
    <p:sldId xmlns:r="http://schemas.openxmlformats.org/officeDocument/2006/relationships" id="257" r:id="R186b0a06c2b14550"/>
    <p:sldId xmlns:r="http://schemas.openxmlformats.org/officeDocument/2006/relationships" id="258" r:id="R18a47a94b0af4b9e"/>
    <p:sldId xmlns:r="http://schemas.openxmlformats.org/officeDocument/2006/relationships" id="259" r:id="Rd9b18d614d504f15"/>
    <p:sldId xmlns:r="http://schemas.openxmlformats.org/officeDocument/2006/relationships" id="260" r:id="R950fdd5fb7ce4be5"/>
    <p:sldId xmlns:r="http://schemas.openxmlformats.org/officeDocument/2006/relationships" id="261" r:id="Rc238095871d9458f"/>
    <p:sldId xmlns:r="http://schemas.openxmlformats.org/officeDocument/2006/relationships" id="262" r:id="R0f8a635f54e44f03"/>
    <p:sldId xmlns:r="http://schemas.openxmlformats.org/officeDocument/2006/relationships" id="263" r:id="R0f4d710ec7ed445d"/>
    <p:sldId xmlns:r="http://schemas.openxmlformats.org/officeDocument/2006/relationships" id="264" r:id="R1871dadb9c9e44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6ac1597a294748" /><Relationship Type="http://schemas.openxmlformats.org/officeDocument/2006/relationships/slideMaster" Target="/ppt/slideMasters/slideMaster1.xml" Id="R6a55e0838069475b" /><Relationship Type="http://schemas.openxmlformats.org/officeDocument/2006/relationships/notesMaster" Target="/ppt/notesMasters/notesMaster1.xml" Id="Ra78ae43721d64f98" /><Relationship Type="http://schemas.openxmlformats.org/officeDocument/2006/relationships/presProps" Target="/ppt/presProps.xml" Id="Ref828d9a7ef84702" /><Relationship Type="http://schemas.openxmlformats.org/officeDocument/2006/relationships/tableStyles" Target="/ppt/tableStyles.xml" Id="R15f28ead10e944fb" /><Relationship Type="http://schemas.openxmlformats.org/officeDocument/2006/relationships/slide" Target="/ppt/slides/slide1.xml" Id="R7ef3637804e24118" /><Relationship Type="http://schemas.openxmlformats.org/officeDocument/2006/relationships/slide" Target="/ppt/slides/slide2.xml" Id="R186b0a06c2b14550" /><Relationship Type="http://schemas.openxmlformats.org/officeDocument/2006/relationships/slide" Target="/ppt/slides/slide3.xml" Id="R18a47a94b0af4b9e" /><Relationship Type="http://schemas.openxmlformats.org/officeDocument/2006/relationships/slide" Target="/ppt/slides/slide4.xml" Id="Rd9b18d614d504f15" /><Relationship Type="http://schemas.openxmlformats.org/officeDocument/2006/relationships/slide" Target="/ppt/slides/slide5.xml" Id="R950fdd5fb7ce4be5" /><Relationship Type="http://schemas.openxmlformats.org/officeDocument/2006/relationships/slide" Target="/ppt/slides/slide6.xml" Id="Rc238095871d9458f" /><Relationship Type="http://schemas.openxmlformats.org/officeDocument/2006/relationships/slide" Target="/ppt/slides/slide7.xml" Id="R0f8a635f54e44f03" /><Relationship Type="http://schemas.openxmlformats.org/officeDocument/2006/relationships/slide" Target="/ppt/slides/slide8.xml" Id="R0f4d710ec7ed445d" /><Relationship Type="http://schemas.openxmlformats.org/officeDocument/2006/relationships/slide" Target="/ppt/slides/slide9.xml" Id="R1871dadb9c9e44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78eda374374c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217c5aca3d479d" /><Relationship Type="http://schemas.openxmlformats.org/officeDocument/2006/relationships/notesMaster" Target="/ppt/notesMasters/notesMaster1.xml" Id="R62077c08371a46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c53bc259564950" /><Relationship Type="http://schemas.openxmlformats.org/officeDocument/2006/relationships/notesMaster" Target="/ppt/notesMasters/notesMaster1.xml" Id="R188100fa376242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eade27389f4a18" /><Relationship Type="http://schemas.openxmlformats.org/officeDocument/2006/relationships/notesMaster" Target="/ppt/notesMasters/notesMaster1.xml" Id="R30dd603cb90e46d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6a0abcf1ca413f" /><Relationship Type="http://schemas.openxmlformats.org/officeDocument/2006/relationships/notesMaster" Target="/ppt/notesMasters/notesMaster1.xml" Id="R9a94e2c14dd544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bf1ead5706476a" /><Relationship Type="http://schemas.openxmlformats.org/officeDocument/2006/relationships/notesMaster" Target="/ppt/notesMasters/notesMaster1.xml" Id="Rb05e6d95efe043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32c2b9de1449ba" /><Relationship Type="http://schemas.openxmlformats.org/officeDocument/2006/relationships/notesMaster" Target="/ppt/notesMasters/notesMaster1.xml" Id="R1f35f35e93df42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ffa303c93c4d34" /><Relationship Type="http://schemas.openxmlformats.org/officeDocument/2006/relationships/notesMaster" Target="/ppt/notesMasters/notesMaster1.xml" Id="R142247f038404f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2bb9398b084594" /><Relationship Type="http://schemas.openxmlformats.org/officeDocument/2006/relationships/notesMaster" Target="/ppt/notesMasters/notesMaster1.xml" Id="R58e52548a0444e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3d964c0b9bc46d0" /><Relationship Type="http://schemas.openxmlformats.org/officeDocument/2006/relationships/notesMaster" Target="/ppt/notesMasters/notesMaster1.xml" Id="R2f9a7480a91a43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HeadStart is the project. Departure is the prototype we built. The idea is simple: instead of asking only when to wake up, the app starts with where you need to be and works backward.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the room: who has set an extra-early alarm just in case? The problem is not that alarms fail to ring. It is that they ignore everything between your bed and your first commitment.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just an example. First bell is 8:15. Take away a 10-minute arrival buffer and a 22-minute trip, so leave at 7:43. Take away 45 minutes to get ready, so wake at 6:58.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setup should feel familiar: choose where and when, then tell the app what your morning really takes. After that, the plan can change without you redoing the math.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screen. You do not need to read a spreadsheet or guess from a map. The biggest information is wake, leave, and arrive. The confidence bar is a quick check on whether the current plan has enough cushion.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 shows a 19-minute trip with a nine-minute delay. Since the arrival goal and buffer stay the same, the leave time moves from 8:40 to 8:31. The wake time follows it earlier by the same amount.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app is not built around one perfect routine. It can use calendar events, different travel modes, personal prep time, and an arrival buffer. Those choices are visible and editable.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are not trying to make the loudest alarm. The useful difference is context: what you are doing, where it is, how long the trip takes, and how much time you need before leaving.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Now show the simulation. Add or choose a commitment, point out prep time, then fast-forward. End by asking the room what would make this useful enough to trust on a real school morning.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496fccf5bc46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f088e153f749bb" /><Relationship Type="http://schemas.openxmlformats.org/officeDocument/2006/relationships/slideLayout" Target="/ppt/slideLayouts/slideLayout1.xml" Id="Rfd9dcded34804d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9dcded34804d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c57c2391d4338" /><Relationship Type="http://schemas.openxmlformats.org/officeDocument/2006/relationships/image" Target="/ppt/media/image.png" Id="Rf862bfa015e743f5" /><Relationship Type="http://schemas.openxmlformats.org/officeDocument/2006/relationships/notesSlide" Target="/ppt/notesSlides/notesSlide1.xml" Id="Rf4e2f4aa029d4b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569f45dc24c93" /><Relationship Type="http://schemas.openxmlformats.org/officeDocument/2006/relationships/notesSlide" Target="/ppt/notesSlides/notesSlide2.xml" Id="Rca8abef096814d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6789871c54256" /><Relationship Type="http://schemas.openxmlformats.org/officeDocument/2006/relationships/notesSlide" Target="/ppt/notesSlides/notesSlide3.xml" Id="Rb957013f3d9f431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5042614204b2f" /><Relationship Type="http://schemas.openxmlformats.org/officeDocument/2006/relationships/notesSlide" Target="/ppt/notesSlides/notesSlide4.xml" Id="R797ecda8070a48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29478934e4b3d" /><Relationship Type="http://schemas.openxmlformats.org/officeDocument/2006/relationships/image" Target="/ppt/media/image2.png" Id="R4f04638d70bb4d61" /><Relationship Type="http://schemas.openxmlformats.org/officeDocument/2006/relationships/notesSlide" Target="/ppt/notesSlides/notesSlide5.xml" Id="Racff1cb40de64a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c1a8fcc2df4a52" /><Relationship Type="http://schemas.openxmlformats.org/officeDocument/2006/relationships/image" Target="/ppt/media/image3.png" Id="Rf85adb67506e449a" /><Relationship Type="http://schemas.openxmlformats.org/officeDocument/2006/relationships/notesSlide" Target="/ppt/notesSlides/notesSlide6.xml" Id="R167869f0c08643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6c989d1d34d50" /><Relationship Type="http://schemas.openxmlformats.org/officeDocument/2006/relationships/image" Target="/ppt/media/image4.png" Id="Raa4ae25095784235" /><Relationship Type="http://schemas.openxmlformats.org/officeDocument/2006/relationships/image" Target="/ppt/media/image5.png" Id="R859aa7dbf2694c6a" /><Relationship Type="http://schemas.openxmlformats.org/officeDocument/2006/relationships/notesSlide" Target="/ppt/notesSlides/notesSlide7.xml" Id="Rba3007322fe249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cb83eb375445f" /><Relationship Type="http://schemas.openxmlformats.org/officeDocument/2006/relationships/notesSlide" Target="/ppt/notesSlides/notesSlide8.xml" Id="R9e477a1f43104e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8f5bd0b6b443f" /><Relationship Type="http://schemas.openxmlformats.org/officeDocument/2006/relationships/image" Target="/ppt/media/image6.png" Id="R59018a7570b54ff6" /><Relationship Type="http://schemas.openxmlformats.org/officeDocument/2006/relationships/notesSlide" Target="/ppt/notesSlides/notesSlide9.xml" Id="R39a64f7b500946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228940F2-59A9-4FCF-B822-C02EFE46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HEADSTART PROJECT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A3269C1-9198-4D48-AB4D-B201C47C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509587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Meet Departure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8FA00B9-8A01-4445-B6FB-26722BD1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4953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A smarter alarm for school mornings.</a:t>
            </a:r>
          </a:p>
        </p:txBody>
      </p:sp>
      <p:cxnSp>
        <p:nvCxnSpPr>
          <p:cNvPr id="12" name="cover-rule"/>
          <p:cNvCxnSpPr/>
          <p:nvPr/>
        </p:nvCxnSpPr>
        <p:spPr>
          <a:xfrm xmlns:a="http://schemas.openxmlformats.org/drawingml/2006/main">
            <a:off x="457200" y="3857625"/>
            <a:ext cx="1657350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0BFA8"/>
            </a:solidFill>
            <a:prstDash val="solid"/>
          </a:ln>
        </p:spPr>
      </p:cxnSp>
      <p:sp>
        <p:nvSpPr>
          <p:cNvPr id="5" name="cover-idea">
            <a:extLst xmlns:a="http://schemas.openxmlformats.org/drawingml/2006/main">
              <a:ext uri="{FF2B5EF4-FFF2-40B4-BE49-F238E27FC236}">
                <a16:creationId xmlns:a16="http://schemas.microsoft.com/office/drawing/2014/main" id="{55E8C1AA-B2FE-4905-98FC-DD50A54B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71950"/>
            <a:ext cx="5000625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It plans backward from where you need to be—then updates when the trip changes.</a:t>
            </a:r>
          </a:p>
        </p:txBody>
      </p:sp>
      <p:sp>
        <p:nvSpPr>
          <p:cNvPr id="6" name="cover-team">
            <a:extLst xmlns:a="http://schemas.openxmlformats.org/drawingml/2006/main">
              <a:ext uri="{FF2B5EF4-FFF2-40B4-BE49-F238E27FC236}">
                <a16:creationId xmlns:a16="http://schemas.microsoft.com/office/drawing/2014/main" id="{7C0A2112-51C9-43A0-925F-805B78D9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43625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Team HeadStart</a:t>
            </a:r>
          </a:p>
        </p:txBody>
      </p:sp>
      <p:sp>
        <p:nvSpPr>
          <p:cNvPr id="7" name="cover-image-frame">
            <a:extLst xmlns:a="http://schemas.openxmlformats.org/drawingml/2006/main">
              <a:ext uri="{FF2B5EF4-FFF2-40B4-BE49-F238E27FC236}">
                <a16:creationId xmlns:a16="http://schemas.microsoft.com/office/drawing/2014/main" id="{5CF4AD0C-4E34-41B6-ACC4-1BFE6111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1000"/>
            <a:ext cx="5353050" cy="6096000"/>
          </a:xfrm>
          <a:prstGeom xmlns:a="http://schemas.openxmlformats.org/drawingml/2006/main" prst="roundRect">
            <a:avLst>
              <a:gd name="adj" fmla="val 1423"/>
            </a:avLst>
          </a:prstGeom>
          <a:solidFill xmlns:a="http://schemas.openxmlformats.org/drawingml/2006/main">
            <a:srgbClr val="DDF7F2"/>
          </a:solidFill>
          <a:ln xmlns:a="http://schemas.openxmlformats.org/drawingml/2006/main" w="9525">
            <a:solidFill>
              <a:srgbClr val="BBC5C8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2bfa015e743f5"/>
          <a:srcRect xmlns:a="http://schemas.openxmlformats.org/drawingml/2006/main" l="0" t="11" r="0" b="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609600"/>
            <a:ext cx="4781550" cy="5638800"/>
          </a:xfrm>
          <a:prstGeom xmlns:a="http://schemas.openxmlformats.org/drawingml/2006/main" prst="roundRect">
            <a:avLst>
              <a:gd name="adj" fmla="val 3586"/>
            </a:avLst>
          </a:prstGeom>
        </p:spPr>
      </p:pic>
    </p:spTree>
    <p:extLst>
      <p:ext uri="{BB962C8B-B14F-4D97-AF65-F5344CB8AC3E}">
        <p14:creationId xmlns:p14="http://schemas.microsoft.com/office/powerpoint/2010/main" val="15140943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roblem-eyebrow">
            <a:extLst xmlns:a="http://schemas.openxmlformats.org/drawingml/2006/main">
              <a:ext uri="{FF2B5EF4-FFF2-40B4-BE49-F238E27FC236}">
                <a16:creationId xmlns:a16="http://schemas.microsoft.com/office/drawing/2014/main" id="{65FF5277-BFB6-49ED-ABB6-7CECC87A1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2476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THE PROBLEM</a:t>
            </a:r>
          </a:p>
        </p:txBody>
      </p:sp>
      <p:sp>
        <p:nvSpPr>
          <p:cNvPr id="2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9F31F0E9-CF2A-4325-B9DA-05755E57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076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A normal alarm knows the time.</a:t>
            </a:r>
          </a:p>
        </p:txBody>
      </p:sp>
      <p:sp>
        <p:nvSpPr>
          <p:cNvPr id="3" name="problem-punchline">
            <a:extLst xmlns:a="http://schemas.openxmlformats.org/drawingml/2006/main">
              <a:ext uri="{FF2B5EF4-FFF2-40B4-BE49-F238E27FC236}">
                <a16:creationId xmlns:a16="http://schemas.microsoft.com/office/drawing/2014/main" id="{BDE196B4-C4A6-45CC-9119-2146667B1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0763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It doesn't know your morning.</a:t>
            </a:r>
          </a:p>
        </p:txBody>
      </p:sp>
      <p:cxnSp>
        <p:nvCxnSpPr>
          <p:cNvPr id="11" name="problem-rule"/>
          <p:cNvCxnSpPr/>
          <p:nvPr/>
        </p:nvCxnSpPr>
        <p:spPr>
          <a:xfrm xmlns:a="http://schemas.openxmlformats.org/drawingml/2006/main">
            <a:off x="457200" y="3762375"/>
            <a:ext cx="1104900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BC5C8"/>
            </a:solidFill>
            <a:prstDash val="solid"/>
          </a:ln>
        </p:spPr>
      </p:cxnSp>
      <p:sp>
        <p:nvSpPr>
          <p:cNvPr id="5" name="problem-list">
            <a:extLst xmlns:a="http://schemas.openxmlformats.org/drawingml/2006/main">
              <a:ext uri="{FF2B5EF4-FFF2-40B4-BE49-F238E27FC236}">
                <a16:creationId xmlns:a16="http://schemas.microsoft.com/office/drawing/2014/main" id="{9B8910FC-C60C-4BC8-8D08-78372411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1076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Traffic changes.  The bus runs late.  Practice is across town.</a:t>
            </a:r>
          </a:p>
        </p:txBody>
      </p:sp>
      <p:sp>
        <p:nvSpPr>
          <p:cNvPr id="6" name="problem-fixed">
            <a:extLst xmlns:a="http://schemas.openxmlformats.org/drawingml/2006/main">
              <a:ext uri="{FF2B5EF4-FFF2-40B4-BE49-F238E27FC236}">
                <a16:creationId xmlns:a16="http://schemas.microsoft.com/office/drawing/2014/main" id="{6FD731E5-0F39-412A-B818-EBCE072D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05375"/>
            <a:ext cx="9144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85B70"/>
                </a:solidFill>
                <a:latin typeface="Helvetica Neue"/>
                <a:ea typeface="Helvetica Neue"/>
                <a:cs typeface="Helvetica Neue"/>
              </a:defRPr>
            </a:pPr>
            <a:r>
              <a:t>Your 7:00 alarm stays exactly the same.</a:t>
            </a:r>
          </a:p>
        </p:txBody>
      </p:sp>
      <p:sp>
        <p:nvSpPr>
          <p:cNvPr id="7" name="page-2">
            <a:extLst xmlns:a="http://schemas.openxmlformats.org/drawingml/2006/main">
              <a:ext uri="{FF2B5EF4-FFF2-40B4-BE49-F238E27FC236}">
                <a16:creationId xmlns:a16="http://schemas.microsoft.com/office/drawing/2014/main" id="{631F1792-D582-4D7E-96F2-26F99DDB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94430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2A80869C-390D-42EC-920C-400EB4261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04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EXAMPLE SCHOOL MORNING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B4CBD180-2F0E-4E93-83CF-A94FB8CB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1252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Start with the time you need to be there.</a:t>
            </a:r>
          </a:p>
        </p:txBody>
      </p:sp>
      <p:sp>
        <p:nvSpPr>
          <p:cNvPr id="3" name="timeline-intro">
            <a:extLst xmlns:a="http://schemas.openxmlformats.org/drawingml/2006/main">
              <a:ext uri="{FF2B5EF4-FFF2-40B4-BE49-F238E27FC236}">
                <a16:creationId xmlns:a16="http://schemas.microsoft.com/office/drawing/2014/main" id="{AB49002D-B852-467D-8459-5055DA5E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7620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Departure does the backward math so you don't have to.</a:t>
            </a:r>
          </a:p>
        </p:txBody>
      </p:sp>
      <p:cxnSp>
        <p:nvCxnSpPr>
          <p:cNvPr id="22" name="timeline-line"/>
          <p:cNvCxnSpPr/>
          <p:nvPr/>
        </p:nvCxnSpPr>
        <p:spPr>
          <a:xfrm xmlns:a="http://schemas.openxmlformats.org/drawingml/2006/main">
            <a:off x="1381125" y="3429000"/>
            <a:ext cx="94297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BC5C8"/>
            </a:solidFill>
            <a:prstDash val="solid"/>
          </a:ln>
        </p:spPr>
      </p:cxnSp>
      <p:sp>
        <p:nvSpPr>
          <p:cNvPr id="5" name="timeline-node-1">
            <a:extLst xmlns:a="http://schemas.openxmlformats.org/drawingml/2006/main">
              <a:ext uri="{FF2B5EF4-FFF2-40B4-BE49-F238E27FC236}">
                <a16:creationId xmlns:a16="http://schemas.microsoft.com/office/drawing/2014/main" id="{A2F68E8F-E00C-4BE8-BFFF-C091A132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38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01820"/>
            </a:solidFill>
            <a:prstDash val="solid"/>
          </a:ln>
        </p:spPr>
      </p:sp>
      <p:sp>
        <p:nvSpPr>
          <p:cNvPr id="6" name="timeline-label-1">
            <a:extLst xmlns:a="http://schemas.openxmlformats.org/drawingml/2006/main">
              <a:ext uri="{FF2B5EF4-FFF2-40B4-BE49-F238E27FC236}">
                <a16:creationId xmlns:a16="http://schemas.microsoft.com/office/drawing/2014/main" id="{DCC29FF9-6376-4E0E-A0E5-CBE87E6C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6700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WAKE</a:t>
            </a:r>
          </a:p>
        </p:txBody>
      </p:sp>
      <p:sp>
        <p:nvSpPr>
          <p:cNvPr id="7" name="timeline-time-1">
            <a:extLst xmlns:a="http://schemas.openxmlformats.org/drawingml/2006/main">
              <a:ext uri="{FF2B5EF4-FFF2-40B4-BE49-F238E27FC236}">
                <a16:creationId xmlns:a16="http://schemas.microsoft.com/office/drawing/2014/main" id="{A3547B55-D776-4FBE-9B73-EB2D2983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57625"/>
            <a:ext cx="2571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6:58 AM</a:t>
            </a:r>
          </a:p>
        </p:txBody>
      </p:sp>
      <p:sp>
        <p:nvSpPr>
          <p:cNvPr id="8" name="timeline-body-1">
            <a:extLst xmlns:a="http://schemas.openxmlformats.org/drawingml/2006/main">
              <a:ext uri="{FF2B5EF4-FFF2-40B4-BE49-F238E27FC236}">
                <a16:creationId xmlns:a16="http://schemas.microsoft.com/office/drawing/2014/main" id="{6AD4D32B-D05D-430B-B732-0B4A59B2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76750"/>
            <a:ext cx="2571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45 minutes to get ready</a:t>
            </a:r>
          </a:p>
        </p:txBody>
      </p:sp>
      <p:sp>
        <p:nvSpPr>
          <p:cNvPr id="9" name="timeline-node-2">
            <a:extLst xmlns:a="http://schemas.openxmlformats.org/drawingml/2006/main">
              <a:ext uri="{FF2B5EF4-FFF2-40B4-BE49-F238E27FC236}">
                <a16:creationId xmlns:a16="http://schemas.microsoft.com/office/drawing/2014/main" id="{AB67A9D3-15CF-42A7-B3D9-CC46F3E8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38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101820"/>
            </a:solidFill>
            <a:prstDash val="solid"/>
          </a:ln>
        </p:spPr>
      </p:sp>
      <p:sp>
        <p:nvSpPr>
          <p:cNvPr id="10" name="timeline-label-2">
            <a:extLst xmlns:a="http://schemas.openxmlformats.org/drawingml/2006/main">
              <a:ext uri="{FF2B5EF4-FFF2-40B4-BE49-F238E27FC236}">
                <a16:creationId xmlns:a16="http://schemas.microsoft.com/office/drawing/2014/main" id="{45AFE79C-CE40-414B-9443-D6E623EE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66700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LEAVE</a:t>
            </a:r>
          </a:p>
        </p:txBody>
      </p:sp>
      <p:sp>
        <p:nvSpPr>
          <p:cNvPr id="11" name="timeline-time-2">
            <a:extLst xmlns:a="http://schemas.openxmlformats.org/drawingml/2006/main">
              <a:ext uri="{FF2B5EF4-FFF2-40B4-BE49-F238E27FC236}">
                <a16:creationId xmlns:a16="http://schemas.microsoft.com/office/drawing/2014/main" id="{63A217F4-4980-4930-BC18-07C5C4B3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3857625"/>
            <a:ext cx="2571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7:43 AM</a:t>
            </a:r>
          </a:p>
        </p:txBody>
      </p:sp>
      <p:sp>
        <p:nvSpPr>
          <p:cNvPr id="12" name="timeline-body-2">
            <a:extLst xmlns:a="http://schemas.openxmlformats.org/drawingml/2006/main">
              <a:ext uri="{FF2B5EF4-FFF2-40B4-BE49-F238E27FC236}">
                <a16:creationId xmlns:a16="http://schemas.microsoft.com/office/drawing/2014/main" id="{B167A0AF-0DB6-4438-B40A-416C3659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76750"/>
            <a:ext cx="2571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22-minute trip + 10-minute buffer</a:t>
            </a:r>
          </a:p>
        </p:txBody>
      </p:sp>
      <p:sp>
        <p:nvSpPr>
          <p:cNvPr id="13" name="timeline-node-3">
            <a:extLst xmlns:a="http://schemas.openxmlformats.org/drawingml/2006/main">
              <a:ext uri="{FF2B5EF4-FFF2-40B4-BE49-F238E27FC236}">
                <a16:creationId xmlns:a16="http://schemas.microsoft.com/office/drawing/2014/main" id="{8EB133EB-6DD7-4554-A733-485574C5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FA8"/>
          </a:solidFill>
          <a:ln xmlns:a="http://schemas.openxmlformats.org/drawingml/2006/main" w="38100">
            <a:solidFill>
              <a:srgbClr val="20BFA8"/>
            </a:solidFill>
            <a:prstDash val="solid"/>
          </a:ln>
        </p:spPr>
      </p:sp>
      <p:sp>
        <p:nvSpPr>
          <p:cNvPr id="14" name="timeline-label-3">
            <a:extLst xmlns:a="http://schemas.openxmlformats.org/drawingml/2006/main">
              <a:ext uri="{FF2B5EF4-FFF2-40B4-BE49-F238E27FC236}">
                <a16:creationId xmlns:a16="http://schemas.microsoft.com/office/drawing/2014/main" id="{B7780082-18A2-4808-B715-E543C04C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6700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FIRST BELL</a:t>
            </a:r>
          </a:p>
        </p:txBody>
      </p:sp>
      <p:sp>
        <p:nvSpPr>
          <p:cNvPr id="15" name="timeline-time-3">
            <a:extLst xmlns:a="http://schemas.openxmlformats.org/drawingml/2006/main">
              <a:ext uri="{FF2B5EF4-FFF2-40B4-BE49-F238E27FC236}">
                <a16:creationId xmlns:a16="http://schemas.microsoft.com/office/drawing/2014/main" id="{78D82AD7-E362-491B-8BE4-AE57ABB7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857625"/>
            <a:ext cx="2571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8:15 AM</a:t>
            </a:r>
          </a:p>
        </p:txBody>
      </p:sp>
      <p:sp>
        <p:nvSpPr>
          <p:cNvPr id="16" name="timeline-body-3">
            <a:extLst xmlns:a="http://schemas.openxmlformats.org/drawingml/2006/main">
              <a:ext uri="{FF2B5EF4-FFF2-40B4-BE49-F238E27FC236}">
                <a16:creationId xmlns:a16="http://schemas.microsoft.com/office/drawing/2014/main" id="{9D841E70-4ED0-4BA1-B243-2EEA921F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76750"/>
            <a:ext cx="25717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The deadline stays fixed</a:t>
            </a:r>
          </a:p>
        </p:txBody>
      </p:sp>
      <p:sp>
        <p:nvSpPr>
          <p:cNvPr id="17" name="timeline-equation">
            <a:extLst xmlns:a="http://schemas.openxmlformats.org/drawingml/2006/main">
              <a:ext uri="{FF2B5EF4-FFF2-40B4-BE49-F238E27FC236}">
                <a16:creationId xmlns:a16="http://schemas.microsoft.com/office/drawing/2014/main" id="{9A15E2CB-717D-475E-93AA-F3688047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287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Arrive by  −  buffer  −  travel  −  get-ready time  =  wake time</a:t>
            </a:r>
          </a:p>
        </p:txBody>
      </p:sp>
      <p:sp>
        <p:nvSpPr>
          <p:cNvPr id="18" name="page-3">
            <a:extLst xmlns:a="http://schemas.openxmlformats.org/drawingml/2006/main">
              <a:ext uri="{FF2B5EF4-FFF2-40B4-BE49-F238E27FC236}">
                <a16:creationId xmlns:a16="http://schemas.microsoft.com/office/drawing/2014/main" id="{0B1B2C28-27DA-4A41-A73B-195D9D9E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992256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277D0018-49B3-442B-8968-85868F21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1252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You set the goal once. The plan keeps doing the math.</a:t>
            </a:r>
          </a:p>
        </p:txBody>
      </p:sp>
      <p:sp>
        <p:nvSpPr>
          <p:cNvPr id="2" name="process-card-1">
            <a:extLst xmlns:a="http://schemas.openxmlformats.org/drawingml/2006/main">
              <a:ext uri="{FF2B5EF4-FFF2-40B4-BE49-F238E27FC236}">
                <a16:creationId xmlns:a16="http://schemas.microsoft.com/office/drawing/2014/main" id="{06BA417E-5288-4B42-B45E-F8B43722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62125"/>
            <a:ext cx="3505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EF2F2"/>
          </a:solidFill>
        </p:spPr>
      </p:sp>
      <p:sp>
        <p:nvSpPr>
          <p:cNvPr id="3" name="process-number-circle-1">
            <a:extLst xmlns:a="http://schemas.openxmlformats.org/drawingml/2006/main">
              <a:ext uri="{FF2B5EF4-FFF2-40B4-BE49-F238E27FC236}">
                <a16:creationId xmlns:a16="http://schemas.microsoft.com/office/drawing/2014/main" id="{54C4E352-0B5F-48DC-AD0A-FBF5A047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</p:spPr>
      </p:sp>
      <p:sp>
        <p:nvSpPr>
          <p:cNvPr id="4" name="process-number-1">
            <a:extLst xmlns:a="http://schemas.openxmlformats.org/drawingml/2006/main">
              <a:ext uri="{FF2B5EF4-FFF2-40B4-BE49-F238E27FC236}">
                <a16:creationId xmlns:a16="http://schemas.microsoft.com/office/drawing/2014/main" id="{226B985B-0BB3-496A-93A0-639091DB3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438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5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2267A47E-2F27-478B-BE26-C3331CA7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9718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Add your first commitment</a:t>
            </a:r>
          </a:p>
        </p:txBody>
      </p:sp>
      <p:sp>
        <p:nvSpPr>
          <p:cNvPr id="6" name="process-body-1">
            <a:extLst xmlns:a="http://schemas.openxmlformats.org/drawingml/2006/main">
              <a:ext uri="{FF2B5EF4-FFF2-40B4-BE49-F238E27FC236}">
                <a16:creationId xmlns:a16="http://schemas.microsoft.com/office/drawing/2014/main" id="{8E204BA2-1332-4178-8C5F-C2009C82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2971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School, a game, work, or a bus. Type it in or pull it from your calendar.</a:t>
            </a:r>
          </a:p>
        </p:txBody>
      </p:sp>
      <p:sp>
        <p:nvSpPr>
          <p:cNvPr id="7" name="process-card-2">
            <a:extLst xmlns:a="http://schemas.openxmlformats.org/drawingml/2006/main">
              <a:ext uri="{FF2B5EF4-FFF2-40B4-BE49-F238E27FC236}">
                <a16:creationId xmlns:a16="http://schemas.microsoft.com/office/drawing/2014/main" id="{C8015DD9-3382-4B54-A3B0-6B791945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3505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EEF2F2"/>
          </a:solidFill>
        </p:spPr>
      </p:sp>
      <p:sp>
        <p:nvSpPr>
          <p:cNvPr id="8" name="process-number-circle-2">
            <a:extLst xmlns:a="http://schemas.openxmlformats.org/drawingml/2006/main">
              <a:ext uri="{FF2B5EF4-FFF2-40B4-BE49-F238E27FC236}">
                <a16:creationId xmlns:a16="http://schemas.microsoft.com/office/drawing/2014/main" id="{9B59BB01-840C-4D1B-A195-579EA29E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</p:spPr>
      </p:sp>
      <p:sp>
        <p:nvSpPr>
          <p:cNvPr id="9" name="process-number-2">
            <a:extLst xmlns:a="http://schemas.openxmlformats.org/drawingml/2006/main">
              <a:ext uri="{FF2B5EF4-FFF2-40B4-BE49-F238E27FC236}">
                <a16:creationId xmlns:a16="http://schemas.microsoft.com/office/drawing/2014/main" id="{0990487E-3ECC-4B13-94FC-82EC84DF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438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0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2FE7196B-F411-49E1-B126-96069DD8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62250"/>
            <a:ext cx="29718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Add your real routine</a:t>
            </a:r>
          </a:p>
        </p:txBody>
      </p:sp>
      <p:sp>
        <p:nvSpPr>
          <p:cNvPr id="11" name="process-body-2">
            <a:extLst xmlns:a="http://schemas.openxmlformats.org/drawingml/2006/main">
              <a:ext uri="{FF2B5EF4-FFF2-40B4-BE49-F238E27FC236}">
                <a16:creationId xmlns:a16="http://schemas.microsoft.com/office/drawing/2014/main" id="{4ED439F8-63D9-40F8-8B76-91D9D6B1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62375"/>
            <a:ext cx="2971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Tell it how long you need to get ready and how early you want to arrive.</a:t>
            </a:r>
          </a:p>
        </p:txBody>
      </p:sp>
      <p:sp>
        <p:nvSpPr>
          <p:cNvPr id="12" name="process-card-3">
            <a:extLst xmlns:a="http://schemas.openxmlformats.org/drawingml/2006/main">
              <a:ext uri="{FF2B5EF4-FFF2-40B4-BE49-F238E27FC236}">
                <a16:creationId xmlns:a16="http://schemas.microsoft.com/office/drawing/2014/main" id="{349B4463-798C-4561-B7E3-03A54D5F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62125"/>
            <a:ext cx="3505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DDF7F2"/>
          </a:solidFill>
        </p:spPr>
      </p:sp>
      <p:sp>
        <p:nvSpPr>
          <p:cNvPr id="13" name="process-number-circle-3">
            <a:extLst xmlns:a="http://schemas.openxmlformats.org/drawingml/2006/main">
              <a:ext uri="{FF2B5EF4-FFF2-40B4-BE49-F238E27FC236}">
                <a16:creationId xmlns:a16="http://schemas.microsoft.com/office/drawing/2014/main" id="{7C565B9D-DCB2-4E0D-B0CC-8FD022CE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478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FA8"/>
          </a:solidFill>
        </p:spPr>
      </p:sp>
      <p:sp>
        <p:nvSpPr>
          <p:cNvPr id="14" name="process-number-3">
            <a:extLst xmlns:a="http://schemas.openxmlformats.org/drawingml/2006/main">
              <a:ext uri="{FF2B5EF4-FFF2-40B4-BE49-F238E27FC236}">
                <a16:creationId xmlns:a16="http://schemas.microsoft.com/office/drawing/2014/main" id="{4B547291-2A1C-43DC-9F6C-C36EF3B4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95500"/>
            <a:ext cx="438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5" name="process-title-3">
            <a:extLst xmlns:a="http://schemas.openxmlformats.org/drawingml/2006/main">
              <a:ext uri="{FF2B5EF4-FFF2-40B4-BE49-F238E27FC236}">
                <a16:creationId xmlns:a16="http://schemas.microsoft.com/office/drawing/2014/main" id="{08FC608C-A09D-4AA7-8168-70D7AF6C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29718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Let the trip update the plan</a:t>
            </a:r>
          </a:p>
        </p:txBody>
      </p:sp>
      <p:sp>
        <p:nvSpPr>
          <p:cNvPr id="16" name="process-body-3">
            <a:extLst xmlns:a="http://schemas.openxmlformats.org/drawingml/2006/main">
              <a:ext uri="{FF2B5EF4-FFF2-40B4-BE49-F238E27FC236}">
                <a16:creationId xmlns:a16="http://schemas.microsoft.com/office/drawing/2014/main" id="{832744BE-FE78-40CB-B7C7-DC1B47DB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62375"/>
            <a:ext cx="29718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If travel takes longer, the app moves your leave and wake times earlier.</a:t>
            </a:r>
          </a:p>
        </p:txBody>
      </p:sp>
      <p:sp>
        <p:nvSpPr>
          <p:cNvPr id="17" name="process-note">
            <a:extLst xmlns:a="http://schemas.openxmlformats.org/drawingml/2006/main">
              <a:ext uri="{FF2B5EF4-FFF2-40B4-BE49-F238E27FC236}">
                <a16:creationId xmlns:a16="http://schemas.microsoft.com/office/drawing/2014/main" id="{924A10CE-12E2-44FF-9B76-D762DF67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10250"/>
            <a:ext cx="10287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The arrival time is the goal. Everything before it can adjust.</a:t>
            </a:r>
          </a:p>
        </p:txBody>
      </p:sp>
      <p:sp>
        <p:nvSpPr>
          <p:cNvPr id="18" name="page-4">
            <a:extLst xmlns:a="http://schemas.openxmlformats.org/drawingml/2006/main">
              <a:ext uri="{FF2B5EF4-FFF2-40B4-BE49-F238E27FC236}">
                <a16:creationId xmlns:a16="http://schemas.microsoft.com/office/drawing/2014/main" id="{9F118F83-F942-44B7-9B66-EF20C393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69089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D7C9B7F7-5B52-4347-8B5C-C18E0705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1252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One screen answers the three questions that matter.</a:t>
            </a:r>
          </a:p>
        </p:txBody>
      </p:sp>
      <p:sp>
        <p:nvSpPr>
          <p:cNvPr id="2" name="answer-label-1">
            <a:extLst xmlns:a="http://schemas.openxmlformats.org/drawingml/2006/main">
              <a:ext uri="{FF2B5EF4-FFF2-40B4-BE49-F238E27FC236}">
                <a16:creationId xmlns:a16="http://schemas.microsoft.com/office/drawing/2014/main" id="{275F38A4-0C2D-4FD8-BF17-B7109CD6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WHEN DO I WAKE UP?</a:t>
            </a:r>
          </a:p>
        </p:txBody>
      </p:sp>
      <p:sp>
        <p:nvSpPr>
          <p:cNvPr id="3" name="answer-value-1">
            <a:extLst xmlns:a="http://schemas.openxmlformats.org/drawingml/2006/main">
              <a:ext uri="{FF2B5EF4-FFF2-40B4-BE49-F238E27FC236}">
                <a16:creationId xmlns:a16="http://schemas.microsoft.com/office/drawing/2014/main" id="{527AFCD7-5A71-45EB-9B9D-9F9705C7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43338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7:41 AM</a:t>
            </a:r>
          </a:p>
        </p:txBody>
      </p:sp>
      <p:cxnSp>
        <p:nvCxnSpPr>
          <p:cNvPr id="17" name="answer-divider-1"/>
          <p:cNvCxnSpPr/>
          <p:nvPr/>
        </p:nvCxnSpPr>
        <p:spPr>
          <a:xfrm xmlns:a="http://schemas.openxmlformats.org/drawingml/2006/main">
            <a:off x="457200" y="3076575"/>
            <a:ext cx="433387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BC5C8"/>
            </a:solidFill>
            <a:prstDash val="solid"/>
          </a:ln>
        </p:spPr>
      </p:cxnSp>
      <p:sp>
        <p:nvSpPr>
          <p:cNvPr id="5" name="answer-label-2">
            <a:extLst xmlns:a="http://schemas.openxmlformats.org/drawingml/2006/main">
              <a:ext uri="{FF2B5EF4-FFF2-40B4-BE49-F238E27FC236}">
                <a16:creationId xmlns:a16="http://schemas.microsoft.com/office/drawing/2014/main" id="{D0EF9FF1-F99D-4A59-933D-1C74F30B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67075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WHEN DO I LEAVE?</a:t>
            </a:r>
          </a:p>
        </p:txBody>
      </p:sp>
      <p:sp>
        <p:nvSpPr>
          <p:cNvPr id="6" name="answer-value-2">
            <a:extLst xmlns:a="http://schemas.openxmlformats.org/drawingml/2006/main">
              <a:ext uri="{FF2B5EF4-FFF2-40B4-BE49-F238E27FC236}">
                <a16:creationId xmlns:a16="http://schemas.microsoft.com/office/drawing/2014/main" id="{F58ACFE5-B11E-496E-B74D-57FBB638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43338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8:31 AM</a:t>
            </a:r>
          </a:p>
        </p:txBody>
      </p:sp>
      <p:cxnSp>
        <p:nvCxnSpPr>
          <p:cNvPr id="20" name="answer-divider-2"/>
          <p:cNvCxnSpPr/>
          <p:nvPr/>
        </p:nvCxnSpPr>
        <p:spPr>
          <a:xfrm xmlns:a="http://schemas.openxmlformats.org/drawingml/2006/main">
            <a:off x="457200" y="4295775"/>
            <a:ext cx="433387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BC5C8"/>
            </a:solidFill>
            <a:prstDash val="solid"/>
          </a:ln>
        </p:spPr>
      </p:cxnSp>
      <p:sp>
        <p:nvSpPr>
          <p:cNvPr id="8" name="answer-label-3">
            <a:extLst xmlns:a="http://schemas.openxmlformats.org/drawingml/2006/main">
              <a:ext uri="{FF2B5EF4-FFF2-40B4-BE49-F238E27FC236}">
                <a16:creationId xmlns:a16="http://schemas.microsoft.com/office/drawing/2014/main" id="{6FFC1A3A-4BAB-462D-ADAE-920A7FA2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6275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WILL I MAKE IT?</a:t>
            </a:r>
          </a:p>
        </p:txBody>
      </p:sp>
      <p:sp>
        <p:nvSpPr>
          <p:cNvPr id="9" name="answer-value-3">
            <a:extLst xmlns:a="http://schemas.openxmlformats.org/drawingml/2006/main">
              <a:ext uri="{FF2B5EF4-FFF2-40B4-BE49-F238E27FC236}">
                <a16:creationId xmlns:a16="http://schemas.microsoft.com/office/drawing/2014/main" id="{9633FE65-76FF-44EB-987B-BC836D26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10125"/>
            <a:ext cx="4333875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96% confidence</a:t>
            </a:r>
          </a:p>
        </p:txBody>
      </p:sp>
      <p:sp>
        <p:nvSpPr>
          <p:cNvPr id="10" name="answer-caption">
            <a:extLst xmlns:a="http://schemas.openxmlformats.org/drawingml/2006/main">
              <a:ext uri="{FF2B5EF4-FFF2-40B4-BE49-F238E27FC236}">
                <a16:creationId xmlns:a16="http://schemas.microsoft.com/office/drawing/2014/main" id="{DA1E0010-0732-47E4-8CA4-BF392A3F0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285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Prototype example shown</a:t>
            </a:r>
          </a:p>
        </p:txBody>
      </p:sp>
      <p:sp>
        <p:nvSpPr>
          <p:cNvPr id="11" name="answer-image-frame">
            <a:extLst xmlns:a="http://schemas.openxmlformats.org/drawingml/2006/main">
              <a:ext uri="{FF2B5EF4-FFF2-40B4-BE49-F238E27FC236}">
                <a16:creationId xmlns:a16="http://schemas.microsoft.com/office/drawing/2014/main" id="{820F0FFA-3624-4D97-A144-7CCA39AC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6115050" cy="4524375"/>
          </a:xfrm>
          <a:prstGeom xmlns:a="http://schemas.openxmlformats.org/drawingml/2006/main" prst="roundRect">
            <a:avLst>
              <a:gd name="adj" fmla="val 1684"/>
            </a:avLst>
          </a:prstGeom>
          <a:solidFill xmlns:a="http://schemas.openxmlformats.org/drawingml/2006/main">
            <a:srgbClr val="DDF7F2"/>
          </a:solidFill>
          <a:ln xmlns:a="http://schemas.openxmlformats.org/drawingml/2006/main" w="9525">
            <a:solidFill>
              <a:srgbClr val="BBC5C8"/>
            </a:solidFill>
            <a:prstDash val="solid"/>
          </a:ln>
        </p:spPr>
      </p:sp>
      <p:sp>
        <p:nvSpPr>
          <p:cNvPr id="12" name="page-5">
            <a:extLst xmlns:a="http://schemas.openxmlformats.org/drawingml/2006/main">
              <a:ext uri="{FF2B5EF4-FFF2-40B4-BE49-F238E27FC236}">
                <a16:creationId xmlns:a16="http://schemas.microsoft.com/office/drawing/2014/main" id="{6A7B3D9A-6722-4E10-90BB-F6000302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04638d70bb4d61"/>
          <a:srcRect xmlns:a="http://schemas.openxmlformats.org/drawingml/2006/main" l="0" t="35921" r="0" b="359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733550"/>
            <a:ext cx="5524500" cy="4171950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</p:spTree>
    <p:extLst>
      <p:ext uri="{BB962C8B-B14F-4D97-AF65-F5344CB8AC3E}">
        <p14:creationId xmlns:p14="http://schemas.microsoft.com/office/powerpoint/2010/main" val="3944970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AD5FE794-7134-43A7-92A9-CDBEEE8A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1252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Traffic changes the plan—not the deadline.</a:t>
            </a:r>
          </a:p>
        </p:txBody>
      </p:sp>
      <p:sp>
        <p:nvSpPr>
          <p:cNvPr id="2" name="traffic-intro">
            <a:extLst xmlns:a="http://schemas.openxmlformats.org/drawingml/2006/main">
              <a:ext uri="{FF2B5EF4-FFF2-40B4-BE49-F238E27FC236}">
                <a16:creationId xmlns:a16="http://schemas.microsoft.com/office/drawing/2014/main" id="{15A19B8B-33DA-4427-9C65-6D77553A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2550"/>
            <a:ext cx="685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Same 9:00 AM arrival. Same 10-minute buffer.</a:t>
            </a:r>
          </a:p>
        </p:txBody>
      </p:sp>
      <p:sp>
        <p:nvSpPr>
          <p:cNvPr id="3" name="traffic-typical-panel">
            <a:extLst xmlns:a="http://schemas.openxmlformats.org/drawingml/2006/main">
              <a:ext uri="{FF2B5EF4-FFF2-40B4-BE49-F238E27FC236}">
                <a16:creationId xmlns:a16="http://schemas.microsoft.com/office/drawing/2014/main" id="{7B57914D-A496-4D79-B0D1-CA2AF83C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EF2F2"/>
          </a:solidFill>
        </p:spPr>
      </p:sp>
      <p:sp>
        <p:nvSpPr>
          <p:cNvPr id="4" name="traffic-typical-label">
            <a:extLst xmlns:a="http://schemas.openxmlformats.org/drawingml/2006/main">
              <a:ext uri="{FF2B5EF4-FFF2-40B4-BE49-F238E27FC236}">
                <a16:creationId xmlns:a16="http://schemas.microsoft.com/office/drawing/2014/main" id="{A9222B6B-6D24-46B6-BEBE-843FE693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TYPICAL ROUTE</a:t>
            </a:r>
          </a:p>
        </p:txBody>
      </p:sp>
      <p:sp>
        <p:nvSpPr>
          <p:cNvPr id="5" name="traffic-typical-time">
            <a:extLst xmlns:a="http://schemas.openxmlformats.org/drawingml/2006/main">
              <a:ext uri="{FF2B5EF4-FFF2-40B4-BE49-F238E27FC236}">
                <a16:creationId xmlns:a16="http://schemas.microsoft.com/office/drawing/2014/main" id="{EE312E97-829E-4581-BA89-5A529C46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266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10 min</a:t>
            </a:r>
          </a:p>
        </p:txBody>
      </p:sp>
      <p:sp>
        <p:nvSpPr>
          <p:cNvPr id="6" name="traffic-typical-leave">
            <a:extLst xmlns:a="http://schemas.openxmlformats.org/drawingml/2006/main">
              <a:ext uri="{FF2B5EF4-FFF2-40B4-BE49-F238E27FC236}">
                <a16:creationId xmlns:a16="http://schemas.microsoft.com/office/drawing/2014/main" id="{BE8BCE5B-4F9B-4943-8E21-59F05226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2667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Leave at 8:40</a:t>
            </a:r>
          </a:p>
        </p:txBody>
      </p:sp>
      <p:sp>
        <p:nvSpPr>
          <p:cNvPr id="7" name="traffic-heavy-panel">
            <a:extLst xmlns:a="http://schemas.openxmlformats.org/drawingml/2006/main">
              <a:ext uri="{FF2B5EF4-FFF2-40B4-BE49-F238E27FC236}">
                <a16:creationId xmlns:a16="http://schemas.microsoft.com/office/drawing/2014/main" id="{D1A4471A-EBF6-416F-A324-FA632EC2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095500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DDF7F2"/>
          </a:solidFill>
        </p:spPr>
      </p:sp>
      <p:sp>
        <p:nvSpPr>
          <p:cNvPr id="8" name="traffic-heavy-label">
            <a:extLst xmlns:a="http://schemas.openxmlformats.org/drawingml/2006/main">
              <a:ext uri="{FF2B5EF4-FFF2-40B4-BE49-F238E27FC236}">
                <a16:creationId xmlns:a16="http://schemas.microsoft.com/office/drawing/2014/main" id="{0E47CF7C-366F-4A97-BD73-A7B84588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85B70"/>
                </a:solidFill>
                <a:latin typeface="Helvetica Neue"/>
                <a:ea typeface="Helvetica Neue"/>
                <a:cs typeface="Helvetica Neue"/>
              </a:defRPr>
            </a:pPr>
            <a:r>
              <a:t>HEAVY TRAFFIC</a:t>
            </a:r>
          </a:p>
        </p:txBody>
      </p:sp>
      <p:sp>
        <p:nvSpPr>
          <p:cNvPr id="9" name="traffic-heavy-time">
            <a:extLst xmlns:a="http://schemas.openxmlformats.org/drawingml/2006/main">
              <a:ext uri="{FF2B5EF4-FFF2-40B4-BE49-F238E27FC236}">
                <a16:creationId xmlns:a16="http://schemas.microsoft.com/office/drawing/2014/main" id="{4BFC682B-2FAE-449C-978F-A88C5EC1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57500"/>
            <a:ext cx="2667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19 min</a:t>
            </a:r>
          </a:p>
        </p:txBody>
      </p:sp>
      <p:sp>
        <p:nvSpPr>
          <p:cNvPr id="10" name="traffic-heavy-leave">
            <a:extLst xmlns:a="http://schemas.openxmlformats.org/drawingml/2006/main">
              <a:ext uri="{FF2B5EF4-FFF2-40B4-BE49-F238E27FC236}">
                <a16:creationId xmlns:a16="http://schemas.microsoft.com/office/drawing/2014/main" id="{45640042-57BF-457E-BF94-B4D35C70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33800"/>
            <a:ext cx="2667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Leave at 8:31</a:t>
            </a:r>
          </a:p>
        </p:txBody>
      </p:sp>
      <p:sp>
        <p:nvSpPr>
          <p:cNvPr id="11" name="traffic-shift">
            <a:extLst xmlns:a="http://schemas.openxmlformats.org/drawingml/2006/main">
              <a:ext uri="{FF2B5EF4-FFF2-40B4-BE49-F238E27FC236}">
                <a16:creationId xmlns:a16="http://schemas.microsoft.com/office/drawing/2014/main" id="{D0F8DEA9-34A2-46EE-B5DD-718519E0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6858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The wake time moves 9 minutes earlier too.</a:t>
            </a:r>
          </a:p>
        </p:txBody>
      </p:sp>
      <p:sp>
        <p:nvSpPr>
          <p:cNvPr id="12" name="traffic-image-frame">
            <a:extLst xmlns:a="http://schemas.openxmlformats.org/drawingml/2006/main">
              <a:ext uri="{FF2B5EF4-FFF2-40B4-BE49-F238E27FC236}">
                <a16:creationId xmlns:a16="http://schemas.microsoft.com/office/drawing/2014/main" id="{4914C80D-53CD-46AF-9891-728845E59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28750"/>
            <a:ext cx="3829050" cy="4667250"/>
          </a:xfrm>
          <a:prstGeom xmlns:a="http://schemas.openxmlformats.org/drawingml/2006/main" prst="roundRect">
            <a:avLst>
              <a:gd name="adj" fmla="val 1990"/>
            </a:avLst>
          </a:prstGeom>
          <a:solidFill xmlns:a="http://schemas.openxmlformats.org/drawingml/2006/main">
            <a:srgbClr val="111B25"/>
          </a:solidFill>
          <a:ln xmlns:a="http://schemas.openxmlformats.org/drawingml/2006/main" w="9525">
            <a:solidFill>
              <a:srgbClr val="BBC5C8"/>
            </a:solidFill>
            <a:prstDash val="solid"/>
          </a:ln>
        </p:spPr>
      </p:sp>
      <p:sp>
        <p:nvSpPr>
          <p:cNvPr id="13" name="page-6">
            <a:extLst xmlns:a="http://schemas.openxmlformats.org/drawingml/2006/main">
              <a:ext uri="{FF2B5EF4-FFF2-40B4-BE49-F238E27FC236}">
                <a16:creationId xmlns:a16="http://schemas.microsoft.com/office/drawing/2014/main" id="{6D3CEBF6-9BAB-4B72-82CF-F94EE1BA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adb67506e449a"/>
          <a:srcRect xmlns:a="http://schemas.openxmlformats.org/drawingml/2006/main" l="0" t="26565" r="0" b="265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15300" y="1619250"/>
            <a:ext cx="3409950" cy="4286250"/>
          </a:xfrm>
          <a:prstGeom xmlns:a="http://schemas.openxmlformats.org/drawingml/2006/main" prst="roundRect">
            <a:avLst>
              <a:gd name="adj" fmla="val 5028"/>
            </a:avLst>
          </a:prstGeom>
        </p:spPr>
      </p:pic>
    </p:spTree>
    <p:extLst>
      <p:ext uri="{BB962C8B-B14F-4D97-AF65-F5344CB8AC3E}">
        <p14:creationId xmlns:p14="http://schemas.microsoft.com/office/powerpoint/2010/main" val="8868392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C7FF4DB9-F3F4-4809-91E7-EA7C1CDE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1252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It fits the messy parts of real mornings.</a:t>
            </a:r>
          </a:p>
        </p:txBody>
      </p:sp>
      <p:sp>
        <p:nvSpPr>
          <p:cNvPr id="2" name="real-calendar-title">
            <a:extLst xmlns:a="http://schemas.openxmlformats.org/drawingml/2006/main">
              <a:ext uri="{FF2B5EF4-FFF2-40B4-BE49-F238E27FC236}">
                <a16:creationId xmlns:a16="http://schemas.microsoft.com/office/drawing/2014/main" id="{3B7767BE-42EA-48C7-A48C-530BC7A4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Calendar in, less typing</a:t>
            </a:r>
          </a:p>
        </p:txBody>
      </p:sp>
      <p:sp>
        <p:nvSpPr>
          <p:cNvPr id="3" name="real-calendar-body">
            <a:extLst xmlns:a="http://schemas.openxmlformats.org/drawingml/2006/main">
              <a:ext uri="{FF2B5EF4-FFF2-40B4-BE49-F238E27FC236}">
                <a16:creationId xmlns:a16="http://schemas.microsoft.com/office/drawing/2014/main" id="{CF1FD232-C036-424B-A9EB-F4363AC7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405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Bring in school, practice, or work events, then edit what matters.</a:t>
            </a:r>
          </a:p>
        </p:txBody>
      </p:sp>
      <p:sp>
        <p:nvSpPr>
          <p:cNvPr id="4" name="commitment-frame">
            <a:extLst xmlns:a="http://schemas.openxmlformats.org/drawingml/2006/main">
              <a:ext uri="{FF2B5EF4-FFF2-40B4-BE49-F238E27FC236}">
                <a16:creationId xmlns:a16="http://schemas.microsoft.com/office/drawing/2014/main" id="{DC74E0F6-79FB-4FAC-8668-CADEF7D4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533400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EF2F2"/>
          </a:solidFill>
          <a:ln xmlns:a="http://schemas.openxmlformats.org/drawingml/2006/main" w="9525">
            <a:solidFill>
              <a:srgbClr val="BBC5C8"/>
            </a:solidFill>
            <a:prstDash val="solid"/>
          </a:ln>
        </p:spPr>
      </p:sp>
      <p:sp>
        <p:nvSpPr>
          <p:cNvPr id="5" name="real-settings-title">
            <a:extLst xmlns:a="http://schemas.openxmlformats.org/drawingml/2006/main">
              <a:ext uri="{FF2B5EF4-FFF2-40B4-BE49-F238E27FC236}">
                <a16:creationId xmlns:a16="http://schemas.microsoft.com/office/drawing/2014/main" id="{9A2B6312-8919-4B01-84F1-CDB4317F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76375"/>
            <a:ext cx="4762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Your morning, your buffer</a:t>
            </a:r>
          </a:p>
        </p:txBody>
      </p:sp>
      <p:sp>
        <p:nvSpPr>
          <p:cNvPr id="6" name="real-settings-body">
            <a:extLst xmlns:a="http://schemas.openxmlformats.org/drawingml/2006/main">
              <a:ext uri="{FF2B5EF4-FFF2-40B4-BE49-F238E27FC236}">
                <a16:creationId xmlns:a16="http://schemas.microsoft.com/office/drawing/2014/main" id="{75CAA95F-49F6-40E0-8636-5EABA017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24050"/>
            <a:ext cx="4762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Set getting-ready time, arrive-early time, and how you are traveling.</a:t>
            </a:r>
          </a:p>
        </p:txBody>
      </p:sp>
      <p:sp>
        <p:nvSpPr>
          <p:cNvPr id="7" name="settings-frame">
            <a:extLst xmlns:a="http://schemas.openxmlformats.org/drawingml/2006/main">
              <a:ext uri="{FF2B5EF4-FFF2-40B4-BE49-F238E27FC236}">
                <a16:creationId xmlns:a16="http://schemas.microsoft.com/office/drawing/2014/main" id="{09804887-AE73-45C2-A9E2-108BB70D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14625"/>
            <a:ext cx="55054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DDF7F2"/>
          </a:solidFill>
          <a:ln xmlns:a="http://schemas.openxmlformats.org/drawingml/2006/main" w="9525">
            <a:solidFill>
              <a:srgbClr val="BBC5C8"/>
            </a:solidFill>
            <a:prstDash val="solid"/>
          </a:ln>
        </p:spPr>
      </p:sp>
      <p:sp>
        <p:nvSpPr>
          <p:cNvPr id="8" name="real-footer">
            <a:extLst xmlns:a="http://schemas.openxmlformats.org/drawingml/2006/main">
              <a:ext uri="{FF2B5EF4-FFF2-40B4-BE49-F238E27FC236}">
                <a16:creationId xmlns:a16="http://schemas.microsoft.com/office/drawing/2014/main" id="{F81261D8-E943-4DBA-89CF-2E2DFC3E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1047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Drive · transit · bike · walk   |   alerts when the plan changes</a:t>
            </a:r>
          </a:p>
        </p:txBody>
      </p:sp>
      <p:sp>
        <p:nvSpPr>
          <p:cNvPr id="9" name="page-7">
            <a:extLst xmlns:a="http://schemas.openxmlformats.org/drawingml/2006/main">
              <a:ext uri="{FF2B5EF4-FFF2-40B4-BE49-F238E27FC236}">
                <a16:creationId xmlns:a16="http://schemas.microsoft.com/office/drawing/2014/main" id="{6F88040E-7379-487B-8635-794F1E8E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ae25095784235"/>
          <a:srcRect xmlns:a="http://schemas.openxmlformats.org/drawingml/2006/main" l="0" t="42" r="0" b="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867025"/>
            <a:ext cx="5029200" cy="2266950"/>
          </a:xfrm>
          <a:prstGeom xmlns:a="http://schemas.openxmlformats.org/drawingml/2006/main" prst="roundRect">
            <a:avLst>
              <a:gd name="adj" fmla="val 7563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aa7dbf2694c6a"/>
          <a:srcRect xmlns:a="http://schemas.openxmlformats.org/drawingml/2006/main" l="0" t="53" r="0" b="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2867025"/>
            <a:ext cx="5200650" cy="2266950"/>
          </a:xfrm>
          <a:prstGeom xmlns:a="http://schemas.openxmlformats.org/drawingml/2006/main" prst="roundRect">
            <a:avLst>
              <a:gd name="adj" fmla="val 7563"/>
            </a:avLst>
          </a:prstGeom>
        </p:spPr>
      </p:pic>
    </p:spTree>
    <p:extLst>
      <p:ext uri="{BB962C8B-B14F-4D97-AF65-F5344CB8AC3E}">
        <p14:creationId xmlns:p14="http://schemas.microsoft.com/office/powerpoint/2010/main" val="121568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65EEAC70-DE21-4FA4-A911-87DB8729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1252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A regular alarm wakes you at a time. Departure wakes you for a reason.</a:t>
            </a:r>
          </a:p>
        </p:txBody>
      </p:sp>
      <p:sp>
        <p:nvSpPr>
          <p:cNvPr id="2" name="compare-left">
            <a:extLst xmlns:a="http://schemas.openxmlformats.org/drawingml/2006/main">
              <a:ext uri="{FF2B5EF4-FFF2-40B4-BE49-F238E27FC236}">
                <a16:creationId xmlns:a16="http://schemas.microsoft.com/office/drawing/2014/main" id="{AF671255-187D-4195-B028-00601753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52197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EEF2F2"/>
          </a:solidFill>
        </p:spPr>
      </p:sp>
      <p:sp>
        <p:nvSpPr>
          <p:cNvPr id="3" name="compare-right">
            <a:extLst xmlns:a="http://schemas.openxmlformats.org/drawingml/2006/main">
              <a:ext uri="{FF2B5EF4-FFF2-40B4-BE49-F238E27FC236}">
                <a16:creationId xmlns:a16="http://schemas.microsoft.com/office/drawing/2014/main" id="{61510BB4-4F2D-4F6B-A69E-2AB68A2E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66875"/>
            <a:ext cx="5219700" cy="3810000"/>
          </a:xfrm>
          <a:prstGeom xmlns:a="http://schemas.openxmlformats.org/drawingml/2006/main" prst="roundRect">
            <a:avLst>
              <a:gd name="adj" fmla="val 2000"/>
            </a:avLst>
          </a:prstGeom>
          <a:solidFill xmlns:a="http://schemas.openxmlformats.org/drawingml/2006/main">
            <a:srgbClr val="DDF7F2"/>
          </a:solidFill>
        </p:spPr>
      </p:sp>
      <p:sp>
        <p:nvSpPr>
          <p:cNvPr id="4" name="compare-left-title">
            <a:extLst xmlns:a="http://schemas.openxmlformats.org/drawingml/2006/main">
              <a:ext uri="{FF2B5EF4-FFF2-40B4-BE49-F238E27FC236}">
                <a16:creationId xmlns:a16="http://schemas.microsoft.com/office/drawing/2014/main" id="{75132766-DF45-4D05-9CA6-52F185E5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47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REGULAR ALARM</a:t>
            </a:r>
          </a:p>
        </p:txBody>
      </p:sp>
      <p:sp>
        <p:nvSpPr>
          <p:cNvPr id="5" name="compare-right-title">
            <a:extLst xmlns:a="http://schemas.openxmlformats.org/drawingml/2006/main">
              <a:ext uri="{FF2B5EF4-FFF2-40B4-BE49-F238E27FC236}">
                <a16:creationId xmlns:a16="http://schemas.microsoft.com/office/drawing/2014/main" id="{D84C993F-D32D-449C-B67F-78C7C07F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00250"/>
            <a:ext cx="447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DEPARTURE</a:t>
            </a:r>
          </a:p>
        </p:txBody>
      </p:sp>
      <p:sp>
        <p:nvSpPr>
          <p:cNvPr id="6" name="compare-left-1">
            <a:extLst xmlns:a="http://schemas.openxmlformats.org/drawingml/2006/main">
              <a:ext uri="{FF2B5EF4-FFF2-40B4-BE49-F238E27FC236}">
                <a16:creationId xmlns:a16="http://schemas.microsoft.com/office/drawing/2014/main" id="{2FD2B57E-3E09-49A1-AC15-52E0C079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4381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7:00 every day</a:t>
            </a:r>
          </a:p>
        </p:txBody>
      </p:sp>
      <p:sp>
        <p:nvSpPr>
          <p:cNvPr id="7" name="compare-right-1">
            <a:extLst xmlns:a="http://schemas.openxmlformats.org/drawingml/2006/main">
              <a:ext uri="{FF2B5EF4-FFF2-40B4-BE49-F238E27FC236}">
                <a16:creationId xmlns:a16="http://schemas.microsoft.com/office/drawing/2014/main" id="{E7DA3A0D-E07A-4A65-8AC9-40DB70EB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62250"/>
            <a:ext cx="4381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Plans around what comes first</a:t>
            </a:r>
          </a:p>
        </p:txBody>
      </p:sp>
      <p:cxnSp>
        <p:nvCxnSpPr>
          <p:cNvPr id="25" name="compare-left-rule-1"/>
          <p:cNvCxnSpPr/>
          <p:nvPr/>
        </p:nvCxnSpPr>
        <p:spPr>
          <a:xfrm xmlns:a="http://schemas.openxmlformats.org/drawingml/2006/main">
            <a:off x="781050" y="3409950"/>
            <a:ext cx="43624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BC5C8"/>
            </a:solidFill>
            <a:prstDash val="solid"/>
          </a:ln>
        </p:spPr>
      </p:cxnSp>
      <p:cxnSp>
        <p:nvCxnSpPr>
          <p:cNvPr id="26" name="compare-right-rule-1"/>
          <p:cNvCxnSpPr/>
          <p:nvPr/>
        </p:nvCxnSpPr>
        <p:spPr>
          <a:xfrm xmlns:a="http://schemas.openxmlformats.org/drawingml/2006/main">
            <a:off x="6838950" y="3409950"/>
            <a:ext cx="43624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8DCD5"/>
            </a:solidFill>
            <a:prstDash val="solid"/>
          </a:ln>
        </p:spPr>
      </p:cxnSp>
      <p:sp>
        <p:nvSpPr>
          <p:cNvPr id="10" name="compare-left-2">
            <a:extLst xmlns:a="http://schemas.openxmlformats.org/drawingml/2006/main">
              <a:ext uri="{FF2B5EF4-FFF2-40B4-BE49-F238E27FC236}">
                <a16:creationId xmlns:a16="http://schemas.microsoft.com/office/drawing/2014/main" id="{418ECD02-35E1-4C65-81A8-F3AE2FCF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4381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No idea how the trip looks</a:t>
            </a:r>
          </a:p>
        </p:txBody>
      </p:sp>
      <p:sp>
        <p:nvSpPr>
          <p:cNvPr id="11" name="compare-right-2">
            <a:extLst xmlns:a="http://schemas.openxmlformats.org/drawingml/2006/main">
              <a:ext uri="{FF2B5EF4-FFF2-40B4-BE49-F238E27FC236}">
                <a16:creationId xmlns:a16="http://schemas.microsoft.com/office/drawing/2014/main" id="{1EE7B611-F264-4557-9779-78B0FBAB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38550"/>
            <a:ext cx="4381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Updates when travel time changes</a:t>
            </a:r>
          </a:p>
        </p:txBody>
      </p:sp>
      <p:cxnSp>
        <p:nvCxnSpPr>
          <p:cNvPr id="29" name="compare-left-rule-2"/>
          <p:cNvCxnSpPr/>
          <p:nvPr/>
        </p:nvCxnSpPr>
        <p:spPr>
          <a:xfrm xmlns:a="http://schemas.openxmlformats.org/drawingml/2006/main">
            <a:off x="781050" y="4286250"/>
            <a:ext cx="43624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BC5C8"/>
            </a:solidFill>
            <a:prstDash val="solid"/>
          </a:ln>
        </p:spPr>
      </p:cxnSp>
      <p:cxnSp>
        <p:nvCxnSpPr>
          <p:cNvPr id="30" name="compare-right-rule-2"/>
          <p:cNvCxnSpPr/>
          <p:nvPr/>
        </p:nvCxnSpPr>
        <p:spPr>
          <a:xfrm xmlns:a="http://schemas.openxmlformats.org/drawingml/2006/main">
            <a:off x="6838950" y="4286250"/>
            <a:ext cx="4362450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A8DCD5"/>
            </a:solidFill>
            <a:prstDash val="solid"/>
          </a:ln>
        </p:spPr>
      </p:cxnSp>
      <p:sp>
        <p:nvSpPr>
          <p:cNvPr id="14" name="compare-left-3">
            <a:extLst xmlns:a="http://schemas.openxmlformats.org/drawingml/2006/main">
              <a:ext uri="{FF2B5EF4-FFF2-40B4-BE49-F238E27FC236}">
                <a16:creationId xmlns:a16="http://schemas.microsoft.com/office/drawing/2014/main" id="{EA5C5D23-0842-4AFD-9284-61802D5F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4381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You do the buffer math</a:t>
            </a:r>
          </a:p>
        </p:txBody>
      </p:sp>
      <p:sp>
        <p:nvSpPr>
          <p:cNvPr id="15" name="compare-right-3">
            <a:extLst xmlns:a="http://schemas.openxmlformats.org/drawingml/2006/main">
              <a:ext uri="{FF2B5EF4-FFF2-40B4-BE49-F238E27FC236}">
                <a16:creationId xmlns:a16="http://schemas.microsoft.com/office/drawing/2014/main" id="{1FFE5E24-76C1-4B38-9323-34D01350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14850"/>
            <a:ext cx="4381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Shows wake, leave, and arrive together</a:t>
            </a:r>
          </a:p>
        </p:txBody>
      </p:sp>
      <p:sp>
        <p:nvSpPr>
          <p:cNvPr id="16" name="compare-bottom">
            <a:extLst xmlns:a="http://schemas.openxmlformats.org/drawingml/2006/main">
              <a:ext uri="{FF2B5EF4-FFF2-40B4-BE49-F238E27FC236}">
                <a16:creationId xmlns:a16="http://schemas.microsoft.com/office/drawing/2014/main" id="{6AA1ED3D-04C0-42DF-9D88-46C3557E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6667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The difference is context.</a:t>
            </a:r>
          </a:p>
        </p:txBody>
      </p:sp>
      <p:sp>
        <p:nvSpPr>
          <p:cNvPr id="17" name="page-8">
            <a:extLst xmlns:a="http://schemas.openxmlformats.org/drawingml/2006/main">
              <a:ext uri="{FF2B5EF4-FFF2-40B4-BE49-F238E27FC236}">
                <a16:creationId xmlns:a16="http://schemas.microsoft.com/office/drawing/2014/main" id="{A67322C0-0155-4ED9-980D-9E1EA583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9373879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3F7B712B-0C61-4FE2-A6DD-2BF80539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3048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LIVE DEMO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E183278D-1BD5-44EF-AB15-85A319A5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04850"/>
            <a:ext cx="111252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Let's run a morning in fast-forward.</a:t>
            </a:r>
          </a:p>
        </p:txBody>
      </p:sp>
      <p:sp>
        <p:nvSpPr>
          <p:cNvPr id="3" name="demo-number-circle-1">
            <a:extLst xmlns:a="http://schemas.openxmlformats.org/drawingml/2006/main">
              <a:ext uri="{FF2B5EF4-FFF2-40B4-BE49-F238E27FC236}">
                <a16:creationId xmlns:a16="http://schemas.microsoft.com/office/drawing/2014/main" id="{360A631A-B0E2-47DC-9CB7-DF86DB15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</p:spPr>
      </p:sp>
      <p:sp>
        <p:nvSpPr>
          <p:cNvPr id="4" name="demo-number-1">
            <a:extLst xmlns:a="http://schemas.openxmlformats.org/drawingml/2006/main">
              <a:ext uri="{FF2B5EF4-FFF2-40B4-BE49-F238E27FC236}">
                <a16:creationId xmlns:a16="http://schemas.microsoft.com/office/drawing/2014/main" id="{98A39E7F-768D-47E2-91A6-7FFFA6D81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400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5" name="demo-step-1">
            <a:extLst xmlns:a="http://schemas.openxmlformats.org/drawingml/2006/main">
              <a:ext uri="{FF2B5EF4-FFF2-40B4-BE49-F238E27FC236}">
                <a16:creationId xmlns:a16="http://schemas.microsoft.com/office/drawing/2014/main" id="{6C041DB6-E901-49A2-87E2-ABFE594E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90725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Add a commitment</a:t>
            </a:r>
          </a:p>
        </p:txBody>
      </p:sp>
      <p:sp>
        <p:nvSpPr>
          <p:cNvPr id="6" name="demo-number-circle-2">
            <a:extLst xmlns:a="http://schemas.openxmlformats.org/drawingml/2006/main">
              <a:ext uri="{FF2B5EF4-FFF2-40B4-BE49-F238E27FC236}">
                <a16:creationId xmlns:a16="http://schemas.microsoft.com/office/drawing/2014/main" id="{50F3E91C-6600-4DF7-8B69-5AF63913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4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820"/>
          </a:solidFill>
        </p:spPr>
      </p:sp>
      <p:sp>
        <p:nvSpPr>
          <p:cNvPr id="7" name="demo-number-2">
            <a:extLst xmlns:a="http://schemas.openxmlformats.org/drawingml/2006/main">
              <a:ext uri="{FF2B5EF4-FFF2-40B4-BE49-F238E27FC236}">
                <a16:creationId xmlns:a16="http://schemas.microsoft.com/office/drawing/2014/main" id="{C177306A-D868-4E3D-ACD8-8AC01360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400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8" name="demo-step-2">
            <a:extLst xmlns:a="http://schemas.openxmlformats.org/drawingml/2006/main">
              <a:ext uri="{FF2B5EF4-FFF2-40B4-BE49-F238E27FC236}">
                <a16:creationId xmlns:a16="http://schemas.microsoft.com/office/drawing/2014/main" id="{FC200144-D444-490E-8375-3C6A2E79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62275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Set prep time</a:t>
            </a:r>
          </a:p>
        </p:txBody>
      </p:sp>
      <p:sp>
        <p:nvSpPr>
          <p:cNvPr id="9" name="demo-number-circle-3">
            <a:extLst xmlns:a="http://schemas.openxmlformats.org/drawingml/2006/main">
              <a:ext uri="{FF2B5EF4-FFF2-40B4-BE49-F238E27FC236}">
                <a16:creationId xmlns:a16="http://schemas.microsoft.com/office/drawing/2014/main" id="{41B1B4F3-B6EF-4762-A79A-29F19A87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957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FA8"/>
          </a:solidFill>
        </p:spPr>
      </p:sp>
      <p:sp>
        <p:nvSpPr>
          <p:cNvPr id="10" name="demo-number-3">
            <a:extLst xmlns:a="http://schemas.openxmlformats.org/drawingml/2006/main">
              <a:ext uri="{FF2B5EF4-FFF2-40B4-BE49-F238E27FC236}">
                <a16:creationId xmlns:a16="http://schemas.microsoft.com/office/drawing/2014/main" id="{38601A5A-9695-4422-8C49-1F1A10AC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400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1" name="demo-step-3">
            <a:extLst xmlns:a="http://schemas.openxmlformats.org/drawingml/2006/main">
              <a:ext uri="{FF2B5EF4-FFF2-40B4-BE49-F238E27FC236}">
                <a16:creationId xmlns:a16="http://schemas.microsoft.com/office/drawing/2014/main" id="{17875945-BE92-4DB5-A02E-C46505E0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33825"/>
            <a:ext cx="4000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t>Hit Simulate morning</a:t>
            </a:r>
          </a:p>
        </p:txBody>
      </p:sp>
      <p:cxnSp>
        <p:nvCxnSpPr>
          <p:cNvPr id="28" name="demo-closing-rule"/>
          <p:cNvCxnSpPr/>
          <p:nvPr/>
        </p:nvCxnSpPr>
        <p:spPr>
          <a:xfrm xmlns:a="http://schemas.openxmlformats.org/drawingml/2006/main">
            <a:off x="457200" y="5095875"/>
            <a:ext cx="4524375" cy="286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20BFA8"/>
            </a:solidFill>
            <a:prstDash val="solid"/>
          </a:ln>
        </p:spPr>
      </p:cxnSp>
      <p:sp>
        <p:nvSpPr>
          <p:cNvPr id="13" name="demo-closing">
            <a:extLst xmlns:a="http://schemas.openxmlformats.org/drawingml/2006/main">
              <a:ext uri="{FF2B5EF4-FFF2-40B4-BE49-F238E27FC236}">
                <a16:creationId xmlns:a16="http://schemas.microsoft.com/office/drawing/2014/main" id="{B8E21108-2153-47D9-A213-99BCAD75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47625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E756A"/>
                </a:solidFill>
                <a:latin typeface="Helvetica Neue"/>
                <a:ea typeface="Helvetica Neue"/>
                <a:cs typeface="Helvetica Neue"/>
              </a:defRPr>
            </a:pPr>
            <a:r>
              <a:t>Would this make your morning easier?</a:t>
            </a:r>
          </a:p>
        </p:txBody>
      </p:sp>
      <p:sp>
        <p:nvSpPr>
          <p:cNvPr id="14" name="demo-image-frame">
            <a:extLst xmlns:a="http://schemas.openxmlformats.org/drawingml/2006/main">
              <a:ext uri="{FF2B5EF4-FFF2-40B4-BE49-F238E27FC236}">
                <a16:creationId xmlns:a16="http://schemas.microsoft.com/office/drawing/2014/main" id="{BB46F355-B312-4E56-A046-FC60EBD0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33500"/>
            <a:ext cx="57340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111B25"/>
          </a:solidFill>
          <a:ln xmlns:a="http://schemas.openxmlformats.org/drawingml/2006/main" w="9525">
            <a:solidFill>
              <a:srgbClr val="BBC5C8"/>
            </a:solidFill>
            <a:prstDash val="solid"/>
          </a:ln>
        </p:spPr>
      </p:sp>
      <p:sp>
        <p:nvSpPr>
          <p:cNvPr id="15" name="page-9">
            <a:extLst xmlns:a="http://schemas.openxmlformats.org/drawingml/2006/main">
              <a:ext uri="{FF2B5EF4-FFF2-40B4-BE49-F238E27FC236}">
                <a16:creationId xmlns:a16="http://schemas.microsoft.com/office/drawing/2014/main" id="{14752E71-AB90-4072-B2BF-4E22BCFE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05550"/>
            <a:ext cx="400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B78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018a7570b54ff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48400" y="1543050"/>
            <a:ext cx="5238750" cy="4438650"/>
          </a:xfrm>
          <a:prstGeom xmlns:a="http://schemas.openxmlformats.org/drawingml/2006/main" prst="roundRect">
            <a:avLst>
              <a:gd name="adj" fmla="val 3863"/>
            </a:avLst>
          </a:prstGeom>
        </p:spPr>
      </p:pic>
    </p:spTree>
    <p:extLst>
      <p:ext uri="{BB962C8B-B14F-4D97-AF65-F5344CB8AC3E}">
        <p14:creationId xmlns:p14="http://schemas.microsoft.com/office/powerpoint/2010/main" val="25870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2026-07-15T16:15:31.8080000Z</dcterms:created>
  <dcterms:modified xsi:type="dcterms:W3CDTF">2026-07-15T16:15:31.8080000Z</dcterms:modified>
</coreProperties>
</file>