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2160619d9344f3" /><Relationship Type="http://schemas.openxmlformats.org/officeDocument/2006/relationships/extended-properties" Target="/docProps/app.xml" Id="Ree059b61b9124c1d" /><Relationship Type="http://schemas.openxmlformats.org/officeDocument/2006/relationships/officeDocument" Target="/ppt/presentation.xml" Id="R20342e1b18914fff" /></Relationships>
</file>

<file path=ppt/presentation.xml><?xml version="1.0" encoding="utf-8"?>
<p:presentation xmlns:p="http://schemas.openxmlformats.org/presentationml/2006/main">
  <p:sldMasterIdLst>
    <p:sldMasterId xmlns:r="http://schemas.openxmlformats.org/officeDocument/2006/relationships" id="2147483648" r:id="R7944c99152da44ee"/>
  </p:sldMasterIdLst>
  <p:notesMasterIdLst>
    <p:notesMasterId xmlns:r="http://schemas.openxmlformats.org/officeDocument/2006/relationships" r:id="R87e37d65c5154e1d"/>
  </p:notesMasterIdLst>
  <p:sldIdLst>
    <p:sldId xmlns:r="http://schemas.openxmlformats.org/officeDocument/2006/relationships" id="256" r:id="Rb4d04df478604b6c"/>
    <p:sldId xmlns:r="http://schemas.openxmlformats.org/officeDocument/2006/relationships" id="257" r:id="R4523d4e1302641a5"/>
    <p:sldId xmlns:r="http://schemas.openxmlformats.org/officeDocument/2006/relationships" id="258" r:id="R715ee1f4e0a84f49"/>
    <p:sldId xmlns:r="http://schemas.openxmlformats.org/officeDocument/2006/relationships" id="259" r:id="R7fd7fdebd1c44d56"/>
    <p:sldId xmlns:r="http://schemas.openxmlformats.org/officeDocument/2006/relationships" id="260" r:id="R44bd528b46a14925"/>
    <p:sldId xmlns:r="http://schemas.openxmlformats.org/officeDocument/2006/relationships" id="261" r:id="Rbaf2e83fd2c14a10"/>
    <p:sldId xmlns:r="http://schemas.openxmlformats.org/officeDocument/2006/relationships" id="262" r:id="R6bca12639cda4ae8"/>
    <p:sldId xmlns:r="http://schemas.openxmlformats.org/officeDocument/2006/relationships" id="263" r:id="R7fb0bee20b174d0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85d79d129940fe" /><Relationship Type="http://schemas.openxmlformats.org/officeDocument/2006/relationships/slideMaster" Target="/ppt/slideMasters/slideMaster1.xml" Id="R7944c99152da44ee" /><Relationship Type="http://schemas.openxmlformats.org/officeDocument/2006/relationships/notesMaster" Target="/ppt/notesMasters/notesMaster1.xml" Id="R87e37d65c5154e1d" /><Relationship Type="http://schemas.openxmlformats.org/officeDocument/2006/relationships/presProps" Target="/ppt/presProps.xml" Id="Rc6db735eb6ab4e07" /><Relationship Type="http://schemas.openxmlformats.org/officeDocument/2006/relationships/tableStyles" Target="/ppt/tableStyles.xml" Id="R64e4dfe1a8064701" /><Relationship Type="http://schemas.openxmlformats.org/officeDocument/2006/relationships/slide" Target="/ppt/slides/slide1.xml" Id="Rb4d04df478604b6c" /><Relationship Type="http://schemas.openxmlformats.org/officeDocument/2006/relationships/slide" Target="/ppt/slides/slide2.xml" Id="R4523d4e1302641a5" /><Relationship Type="http://schemas.openxmlformats.org/officeDocument/2006/relationships/slide" Target="/ppt/slides/slide3.xml" Id="R715ee1f4e0a84f49" /><Relationship Type="http://schemas.openxmlformats.org/officeDocument/2006/relationships/slide" Target="/ppt/slides/slide4.xml" Id="R7fd7fdebd1c44d56" /><Relationship Type="http://schemas.openxmlformats.org/officeDocument/2006/relationships/slide" Target="/ppt/slides/slide5.xml" Id="R44bd528b46a14925" /><Relationship Type="http://schemas.openxmlformats.org/officeDocument/2006/relationships/slide" Target="/ppt/slides/slide6.xml" Id="Rbaf2e83fd2c14a10" /><Relationship Type="http://schemas.openxmlformats.org/officeDocument/2006/relationships/slide" Target="/ppt/slides/slide7.xml" Id="R6bca12639cda4ae8" /><Relationship Type="http://schemas.openxmlformats.org/officeDocument/2006/relationships/slide" Target="/ppt/slides/slide8.xml" Id="R7fb0bee20b174d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1916bed26246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72ca9988134b99" /><Relationship Type="http://schemas.openxmlformats.org/officeDocument/2006/relationships/notesMaster" Target="/ppt/notesMasters/notesMaster1.xml" Id="R6867f4cdc26a48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58cdcaaaf2440d" /><Relationship Type="http://schemas.openxmlformats.org/officeDocument/2006/relationships/notesMaster" Target="/ppt/notesMasters/notesMaster1.xml" Id="R1af5ed7dc3ac4c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eb706ab0924f27" /><Relationship Type="http://schemas.openxmlformats.org/officeDocument/2006/relationships/notesMaster" Target="/ppt/notesMasters/notesMaster1.xml" Id="Ra1d33aa8eb2d47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c4a251509043d9" /><Relationship Type="http://schemas.openxmlformats.org/officeDocument/2006/relationships/notesMaster" Target="/ppt/notesMasters/notesMaster1.xml" Id="Ra1b2f4a0817e43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2e6fdf0a554399" /><Relationship Type="http://schemas.openxmlformats.org/officeDocument/2006/relationships/notesMaster" Target="/ppt/notesMasters/notesMaster1.xml" Id="Rd0220d1b2a8c45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07411166b84991" /><Relationship Type="http://schemas.openxmlformats.org/officeDocument/2006/relationships/notesMaster" Target="/ppt/notesMasters/notesMaster1.xml" Id="Rffd6945f930740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dff322a617473b" /><Relationship Type="http://schemas.openxmlformats.org/officeDocument/2006/relationships/notesMaster" Target="/ppt/notesMasters/notesMaster1.xml" Id="R7fb1700eca8d49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7e33efb67746fe" /><Relationship Type="http://schemas.openxmlformats.org/officeDocument/2006/relationships/notesMaster" Target="/ppt/notesMasters/notesMaster1.xml" Id="Rf6abf419f4214b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made this project to help with mornings that do not always go the same way. We are going to explain how we would get students to try it and how we would keep the app working.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easiest way to explain the app is that it plans backward from where you need to be. We think it makes the most sense for students because our schedules can be different every 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simple version of the four Ps. We would keep the beta free, put it on phones and the web, and promote it by showing the app doing something useful.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do not think the ad needs a huge explanation. A short before-and-after shows the main point: when the trip changes, the morning plan changes too.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would not try to launch everywhere right away. A small school beta gives us honest feedback and makes it easier to fix problems before more people depend on the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Since this is software, there is no physical factory. Manufacturing means having a repeatable way to plan, code, test, and release each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has to be reliable before we release it. We would test the timing, use a real phone alarm test, keep a fallback if live data fails, and keep calendar access read-only.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first goal is not millions of downloads. It is a small group of students who use the app on real mornings, tell us what is wrong, and choose to keep using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f9a7a46ddf46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c3578aeadd42d7" /><Relationship Type="http://schemas.openxmlformats.org/officeDocument/2006/relationships/slideLayout" Target="/ppt/slideLayouts/slideLayout1.xml" Id="Rd576d170998b4b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76d170998b4b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aad893d3774a25" /><Relationship Type="http://schemas.openxmlformats.org/officeDocument/2006/relationships/image" Target="/ppt/media/image.png" Id="Rcad607ba039c43a5" /><Relationship Type="http://schemas.openxmlformats.org/officeDocument/2006/relationships/notesSlide" Target="/ppt/notesSlides/notesSlide1.xml" Id="Rac4e818cd68e4e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bfe444db4ed4117" /><Relationship Type="http://schemas.openxmlformats.org/officeDocument/2006/relationships/image" Target="/ppt/media/image2.png" Id="R7bf14f0b8de44896" /><Relationship Type="http://schemas.openxmlformats.org/officeDocument/2006/relationships/notesSlide" Target="/ppt/notesSlides/notesSlide2.xml" Id="Rcc25070db97445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4c1713307c4e9f" /><Relationship Type="http://schemas.openxmlformats.org/officeDocument/2006/relationships/notesSlide" Target="/ppt/notesSlides/notesSlide3.xml" Id="R36e8928e0ede49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0bd09504ac403d" /><Relationship Type="http://schemas.openxmlformats.org/officeDocument/2006/relationships/image" Target="/ppt/media/image3.png" Id="R0eda0859327b4cc1" /><Relationship Type="http://schemas.openxmlformats.org/officeDocument/2006/relationships/notesSlide" Target="/ppt/notesSlides/notesSlide4.xml" Id="R49035f14d61347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83321a35ab465d" /><Relationship Type="http://schemas.openxmlformats.org/officeDocument/2006/relationships/notesSlide" Target="/ppt/notesSlides/notesSlide5.xml" Id="R885b56ab5ca645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ca15cf37fc4276" /><Relationship Type="http://schemas.openxmlformats.org/officeDocument/2006/relationships/notesSlide" Target="/ppt/notesSlides/notesSlide6.xml" Id="R22293650dd9847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36a8642d674472" /><Relationship Type="http://schemas.openxmlformats.org/officeDocument/2006/relationships/image" Target="/ppt/media/image4.png" Id="Re8ace71b284244b9" /><Relationship Type="http://schemas.openxmlformats.org/officeDocument/2006/relationships/notesSlide" Target="/ppt/notesSlides/notesSlide7.xml" Id="R5ff31ac9ac204d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c09f0e047943b7" /><Relationship Type="http://schemas.openxmlformats.org/officeDocument/2006/relationships/notesSlide" Target="/ppt/notesSlides/notesSlide8.xml" Id="R2400760d89e34d8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ver-eyebrow">
            <a:extLst xmlns:a="http://schemas.openxmlformats.org/drawingml/2006/main">
              <a:ext uri="{FF2B5EF4-FFF2-40B4-BE49-F238E27FC236}">
                <a16:creationId xmlns:a16="http://schemas.microsoft.com/office/drawing/2014/main" id="{6E8DC896-5069-47D7-8CFD-02D477C41C43}"/>
              </a:ext>
            </a:extLst>
          </p:cNvPr>
          <p:cNvSpPr>
            <a:spLocks xmlns:a="http://schemas.openxmlformats.org/drawingml/2006/main" noGrp="1"/>
          </p:cNvSpPr>
          <p:nvPr/>
        </p:nvSpPr>
        <p:spPr>
          <a:xfrm xmlns:a="http://schemas.openxmlformats.org/drawingml/2006/main">
            <a:off x="457200" y="361950"/>
            <a:ext cx="285750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E756A"/>
                </a:solidFill>
                <a:latin typeface="Helvetica Neue"/>
                <a:ea typeface="Helvetica Neue"/>
                <a:cs typeface="Helvetica Neue"/>
              </a:defRPr>
            </a:pPr>
            <a:r>
              <a:t>HEADSTART PROJECT</a:t>
            </a:r>
          </a:p>
        </p:txBody>
      </p:sp>
      <p:sp>
        <p:nvSpPr>
          <p:cNvPr id="2" name="cover-title">
            <a:extLst xmlns:a="http://schemas.openxmlformats.org/drawingml/2006/main">
              <a:ext uri="{FF2B5EF4-FFF2-40B4-BE49-F238E27FC236}">
                <a16:creationId xmlns:a16="http://schemas.microsoft.com/office/drawing/2014/main" id="{8F137FB0-AD3B-4876-90D8-1789F9D08BCD}"/>
              </a:ext>
            </a:extLst>
          </p:cNvPr>
          <p:cNvSpPr>
            <a:spLocks xmlns:a="http://schemas.openxmlformats.org/drawingml/2006/main" noGrp="1"/>
          </p:cNvSpPr>
          <p:nvPr/>
        </p:nvSpPr>
        <p:spPr>
          <a:xfrm xmlns:a="http://schemas.openxmlformats.org/drawingml/2006/main">
            <a:off x="457200" y="1428750"/>
            <a:ext cx="5381625" cy="1428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101820"/>
                </a:solidFill>
                <a:latin typeface="Helvetica Neue"/>
                <a:ea typeface="Helvetica Neue"/>
                <a:cs typeface="Helvetica Neue"/>
              </a:defRPr>
            </a:pPr>
            <a:r>
              <a:t>How We'd Market
&amp; Make It</a:t>
            </a:r>
          </a:p>
        </p:txBody>
      </p:sp>
      <p:sp>
        <p:nvSpPr>
          <p:cNvPr id="3" name="cover-subtitle">
            <a:extLst xmlns:a="http://schemas.openxmlformats.org/drawingml/2006/main">
              <a:ext uri="{FF2B5EF4-FFF2-40B4-BE49-F238E27FC236}">
                <a16:creationId xmlns:a16="http://schemas.microsoft.com/office/drawing/2014/main" id="{6A37B39E-2A69-4AE2-BF86-F73409B4B6FD}"/>
              </a:ext>
            </a:extLst>
          </p:cNvPr>
          <p:cNvSpPr>
            <a:spLocks xmlns:a="http://schemas.openxmlformats.org/drawingml/2006/main" noGrp="1"/>
          </p:cNvSpPr>
          <p:nvPr/>
        </p:nvSpPr>
        <p:spPr>
          <a:xfrm xmlns:a="http://schemas.openxmlformats.org/drawingml/2006/main">
            <a:off x="457200" y="3190875"/>
            <a:ext cx="5143500" cy="952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F6B78"/>
                </a:solidFill>
                <a:latin typeface="Helvetica Neue"/>
                <a:ea typeface="Helvetica Neue"/>
                <a:cs typeface="Helvetica Neue"/>
              </a:defRPr>
            </a:pPr>
            <a:r>
              <a:t>Our plan for getting students to try HeadStart—and making sure it works.</a:t>
            </a:r>
          </a:p>
        </p:txBody>
      </p:sp>
      <p:cxnSp>
        <p:nvCxnSpPr>
          <p:cNvPr id="11" name="cover-rule"/>
          <p:cNvCxnSpPr/>
          <p:nvPr/>
        </p:nvCxnSpPr>
        <p:spPr>
          <a:xfrm xmlns:a="http://schemas.openxmlformats.org/drawingml/2006/main">
            <a:off x="457200" y="4476750"/>
            <a:ext cx="1695450" cy="286"/>
          </a:xfrm>
          <a:prstGeom xmlns:a="http://schemas.openxmlformats.org/drawingml/2006/main" prst="straightConnector1">
            <a:avLst/>
          </a:prstGeom>
          <a:ln xmlns:a="http://schemas.openxmlformats.org/drawingml/2006/main" w="38100">
            <a:solidFill>
              <a:srgbClr val="20BFA8"/>
            </a:solidFill>
            <a:prstDash val="solid"/>
          </a:ln>
        </p:spPr>
      </p:cxnSp>
      <p:sp>
        <p:nvSpPr>
          <p:cNvPr id="5" name="cover-product">
            <a:extLst xmlns:a="http://schemas.openxmlformats.org/drawingml/2006/main">
              <a:ext uri="{FF2B5EF4-FFF2-40B4-BE49-F238E27FC236}">
                <a16:creationId xmlns:a16="http://schemas.microsoft.com/office/drawing/2014/main" id="{21ECA3EB-1486-48D9-A119-61CDA9C458A7}"/>
              </a:ext>
            </a:extLst>
          </p:cNvPr>
          <p:cNvSpPr>
            <a:spLocks xmlns:a="http://schemas.openxmlformats.org/drawingml/2006/main" noGrp="1"/>
          </p:cNvSpPr>
          <p:nvPr/>
        </p:nvSpPr>
        <p:spPr>
          <a:xfrm xmlns:a="http://schemas.openxmlformats.org/drawingml/2006/main">
            <a:off x="457200" y="4810125"/>
            <a:ext cx="40005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01820"/>
                </a:solidFill>
                <a:latin typeface="Helvetica Neue"/>
                <a:ea typeface="Helvetica Neue"/>
                <a:cs typeface="Helvetica Neue"/>
              </a:defRPr>
            </a:pPr>
            <a:r>
              <a:t>Departure by Team HeadStart</a:t>
            </a:r>
          </a:p>
        </p:txBody>
      </p:sp>
      <p:sp>
        <p:nvSpPr>
          <p:cNvPr id="6" name="cover-image-frame">
            <a:extLst xmlns:a="http://schemas.openxmlformats.org/drawingml/2006/main">
              <a:ext uri="{FF2B5EF4-FFF2-40B4-BE49-F238E27FC236}">
                <a16:creationId xmlns:a16="http://schemas.microsoft.com/office/drawing/2014/main" id="{469EE486-E702-4CF4-83E1-B11E6CCE0344}"/>
              </a:ext>
            </a:extLst>
          </p:cNvPr>
          <p:cNvSpPr>
            <a:spLocks xmlns:a="http://schemas.openxmlformats.org/drawingml/2006/main" noGrp="1"/>
          </p:cNvSpPr>
          <p:nvPr/>
        </p:nvSpPr>
        <p:spPr>
          <a:xfrm xmlns:a="http://schemas.openxmlformats.org/drawingml/2006/main">
            <a:off x="6381750" y="381000"/>
            <a:ext cx="5353050" cy="6096000"/>
          </a:xfrm>
          <a:prstGeom xmlns:a="http://schemas.openxmlformats.org/drawingml/2006/main" prst="roundRect">
            <a:avLst>
              <a:gd name="adj" fmla="val 1423"/>
            </a:avLst>
          </a:prstGeom>
          <a:solidFill xmlns:a="http://schemas.openxmlformats.org/drawingml/2006/main">
            <a:srgbClr val="DDF7F2"/>
          </a:solidFill>
          <a:ln xmlns:a="http://schemas.openxmlformats.org/drawingml/2006/main" w="9525">
            <a:solidFill>
              <a:srgbClr val="BBC5C8"/>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ad607ba039c43a5"/>
          <a:srcRect xmlns:a="http://schemas.openxmlformats.org/drawingml/2006/main" l="0" t="11" r="0" b="11"/>
          <a:stretch xmlns:a="http://schemas.openxmlformats.org/drawingml/2006/main">
            <a:fillRect l="0" t="0" r="0" b="0"/>
          </a:stretch>
        </p:blipFill>
        <p:spPr>
          <a:xfrm xmlns:a="http://schemas.openxmlformats.org/drawingml/2006/main">
            <a:off x="6667500" y="609600"/>
            <a:ext cx="4781550" cy="5638800"/>
          </a:xfrm>
          <a:prstGeom xmlns:a="http://schemas.openxmlformats.org/drawingml/2006/main" prst="roundRect">
            <a:avLst>
              <a:gd name="adj" fmla="val 3586"/>
            </a:avLst>
          </a:prstGeom>
        </p:spPr>
      </p:pic>
    </p:spTree>
    <p:extLst>
      <p:ext uri="{BB962C8B-B14F-4D97-AF65-F5344CB8AC3E}">
        <p14:creationId xmlns:p14="http://schemas.microsoft.com/office/powerpoint/2010/main" val="7810084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yebrow-2">
            <a:extLst xmlns:a="http://schemas.openxmlformats.org/drawingml/2006/main">
              <a:ext uri="{FF2B5EF4-FFF2-40B4-BE49-F238E27FC236}">
                <a16:creationId xmlns:a16="http://schemas.microsoft.com/office/drawing/2014/main" id="{0BDA72AF-AEB8-4EC5-B708-D5C96470444A}"/>
              </a:ext>
            </a:extLst>
          </p:cNvPr>
          <p:cNvSpPr>
            <a:spLocks xmlns:a="http://schemas.openxmlformats.org/drawingml/2006/main" noGrp="1"/>
          </p:cNvSpPr>
          <p:nvPr/>
        </p:nvSpPr>
        <p:spPr>
          <a:xfrm xmlns:a="http://schemas.openxmlformats.org/drawingml/2006/main">
            <a:off x="457200" y="342900"/>
            <a:ext cx="409575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WHAT IT DOES</a:t>
            </a:r>
          </a:p>
        </p:txBody>
      </p:sp>
      <p:sp>
        <p:nvSpPr>
          <p:cNvPr id="2" name="title-2">
            <a:extLst xmlns:a="http://schemas.openxmlformats.org/drawingml/2006/main">
              <a:ext uri="{FF2B5EF4-FFF2-40B4-BE49-F238E27FC236}">
                <a16:creationId xmlns:a16="http://schemas.microsoft.com/office/drawing/2014/main" id="{757D89D7-A705-413D-BF04-4EFA3DDB1076}"/>
              </a:ext>
            </a:extLst>
          </p:cNvPr>
          <p:cNvSpPr>
            <a:spLocks xmlns:a="http://schemas.openxmlformats.org/drawingml/2006/main" noGrp="1"/>
          </p:cNvSpPr>
          <p:nvPr/>
        </p:nvSpPr>
        <p:spPr>
          <a:xfrm xmlns:a="http://schemas.openxmlformats.org/drawingml/2006/main">
            <a:off x="457200" y="704850"/>
            <a:ext cx="11125200" cy="857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820"/>
                </a:solidFill>
                <a:latin typeface="Helvetica Neue"/>
                <a:ea typeface="Helvetica Neue"/>
                <a:cs typeface="Helvetica Neue"/>
              </a:defRPr>
            </a:pPr>
            <a:r>
              <a:t>The idea is pretty simple.</a:t>
            </a:r>
          </a:p>
        </p:txBody>
      </p:sp>
      <p:sp>
        <p:nvSpPr>
          <p:cNvPr id="3" name="idea-main">
            <a:extLst xmlns:a="http://schemas.openxmlformats.org/drawingml/2006/main">
              <a:ext uri="{FF2B5EF4-FFF2-40B4-BE49-F238E27FC236}">
                <a16:creationId xmlns:a16="http://schemas.microsoft.com/office/drawing/2014/main" id="{A63AB03A-33A9-4702-87F2-888297C9ABB8}"/>
              </a:ext>
            </a:extLst>
          </p:cNvPr>
          <p:cNvSpPr>
            <a:spLocks xmlns:a="http://schemas.openxmlformats.org/drawingml/2006/main" noGrp="1"/>
          </p:cNvSpPr>
          <p:nvPr/>
        </p:nvSpPr>
        <p:spPr>
          <a:xfrm xmlns:a="http://schemas.openxmlformats.org/drawingml/2006/main">
            <a:off x="457200" y="1619250"/>
            <a:ext cx="4953000" cy="1143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01820"/>
                </a:solidFill>
                <a:latin typeface="Helvetica Neue"/>
                <a:ea typeface="Helvetica Neue"/>
                <a:cs typeface="Helvetica Neue"/>
              </a:defRPr>
            </a:pPr>
            <a:r>
              <a:t>HeadStart tells you when to wake up and leave, based on where you're going and what traffic is like.</a:t>
            </a:r>
          </a:p>
        </p:txBody>
      </p:sp>
      <p:sp>
        <p:nvSpPr>
          <p:cNvPr id="4" name="benefit-dot-1">
            <a:extLst xmlns:a="http://schemas.openxmlformats.org/drawingml/2006/main">
              <a:ext uri="{FF2B5EF4-FFF2-40B4-BE49-F238E27FC236}">
                <a16:creationId xmlns:a16="http://schemas.microsoft.com/office/drawing/2014/main" id="{B5DB0A8F-1ABC-40BB-9724-D95FE111DB34}"/>
              </a:ext>
            </a:extLst>
          </p:cNvPr>
          <p:cNvSpPr>
            <a:spLocks xmlns:a="http://schemas.openxmlformats.org/drawingml/2006/main" noGrp="1"/>
          </p:cNvSpPr>
          <p:nvPr/>
        </p:nvSpPr>
        <p:spPr>
          <a:xfrm xmlns:a="http://schemas.openxmlformats.org/drawingml/2006/main">
            <a:off x="457200" y="3267075"/>
            <a:ext cx="209550" cy="209550"/>
          </a:xfrm>
          <a:prstGeom xmlns:a="http://schemas.openxmlformats.org/drawingml/2006/main" prst="ellipse">
            <a:avLst/>
          </a:prstGeom>
          <a:solidFill xmlns:a="http://schemas.openxmlformats.org/drawingml/2006/main">
            <a:srgbClr val="20BFA8"/>
          </a:solidFill>
        </p:spPr>
      </p:sp>
      <p:sp>
        <p:nvSpPr>
          <p:cNvPr id="5" name="benefit-1">
            <a:extLst xmlns:a="http://schemas.openxmlformats.org/drawingml/2006/main">
              <a:ext uri="{FF2B5EF4-FFF2-40B4-BE49-F238E27FC236}">
                <a16:creationId xmlns:a16="http://schemas.microsoft.com/office/drawing/2014/main" id="{7885BA11-9BBE-485B-BC53-4570447F3E4B}"/>
              </a:ext>
            </a:extLst>
          </p:cNvPr>
          <p:cNvSpPr>
            <a:spLocks xmlns:a="http://schemas.openxmlformats.org/drawingml/2006/main" noGrp="1"/>
          </p:cNvSpPr>
          <p:nvPr/>
        </p:nvSpPr>
        <p:spPr>
          <a:xfrm xmlns:a="http://schemas.openxmlformats.org/drawingml/2006/main">
            <a:off x="819150" y="3238500"/>
            <a:ext cx="333375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01820"/>
                </a:solidFill>
                <a:latin typeface="Helvetica Neue"/>
                <a:ea typeface="Helvetica Neue"/>
                <a:cs typeface="Helvetica Neue"/>
              </a:defRPr>
            </a:pPr>
            <a:r>
              <a:t>Less guessing</a:t>
            </a:r>
          </a:p>
        </p:txBody>
      </p:sp>
      <p:sp>
        <p:nvSpPr>
          <p:cNvPr id="6" name="benefit-dot-2">
            <a:extLst xmlns:a="http://schemas.openxmlformats.org/drawingml/2006/main">
              <a:ext uri="{FF2B5EF4-FFF2-40B4-BE49-F238E27FC236}">
                <a16:creationId xmlns:a16="http://schemas.microsoft.com/office/drawing/2014/main" id="{ECC98FAF-9075-4985-8E7D-5856EE906087}"/>
              </a:ext>
            </a:extLst>
          </p:cNvPr>
          <p:cNvSpPr>
            <a:spLocks xmlns:a="http://schemas.openxmlformats.org/drawingml/2006/main" noGrp="1"/>
          </p:cNvSpPr>
          <p:nvPr/>
        </p:nvSpPr>
        <p:spPr>
          <a:xfrm xmlns:a="http://schemas.openxmlformats.org/drawingml/2006/main">
            <a:off x="457200" y="3990975"/>
            <a:ext cx="209550" cy="209550"/>
          </a:xfrm>
          <a:prstGeom xmlns:a="http://schemas.openxmlformats.org/drawingml/2006/main" prst="ellipse">
            <a:avLst/>
          </a:prstGeom>
          <a:solidFill xmlns:a="http://schemas.openxmlformats.org/drawingml/2006/main">
            <a:srgbClr val="E85B70"/>
          </a:solidFill>
        </p:spPr>
      </p:sp>
      <p:sp>
        <p:nvSpPr>
          <p:cNvPr id="7" name="benefit-2">
            <a:extLst xmlns:a="http://schemas.openxmlformats.org/drawingml/2006/main">
              <a:ext uri="{FF2B5EF4-FFF2-40B4-BE49-F238E27FC236}">
                <a16:creationId xmlns:a16="http://schemas.microsoft.com/office/drawing/2014/main" id="{6AF35C54-AAF8-4D57-B61A-7E06EE7C12A8}"/>
              </a:ext>
            </a:extLst>
          </p:cNvPr>
          <p:cNvSpPr>
            <a:spLocks xmlns:a="http://schemas.openxmlformats.org/drawingml/2006/main" noGrp="1"/>
          </p:cNvSpPr>
          <p:nvPr/>
        </p:nvSpPr>
        <p:spPr>
          <a:xfrm xmlns:a="http://schemas.openxmlformats.org/drawingml/2006/main">
            <a:off x="819150" y="3962400"/>
            <a:ext cx="333375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01820"/>
                </a:solidFill>
                <a:latin typeface="Helvetica Neue"/>
                <a:ea typeface="Helvetica Neue"/>
                <a:cs typeface="Helvetica Neue"/>
              </a:defRPr>
            </a:pPr>
            <a:r>
              <a:t>Less rushing</a:t>
            </a:r>
          </a:p>
        </p:txBody>
      </p:sp>
      <p:sp>
        <p:nvSpPr>
          <p:cNvPr id="8" name="benefit-dot-3">
            <a:extLst xmlns:a="http://schemas.openxmlformats.org/drawingml/2006/main">
              <a:ext uri="{FF2B5EF4-FFF2-40B4-BE49-F238E27FC236}">
                <a16:creationId xmlns:a16="http://schemas.microsoft.com/office/drawing/2014/main" id="{53011CEE-8B87-46F8-9307-88C02077DA40}"/>
              </a:ext>
            </a:extLst>
          </p:cNvPr>
          <p:cNvSpPr>
            <a:spLocks xmlns:a="http://schemas.openxmlformats.org/drawingml/2006/main" noGrp="1"/>
          </p:cNvSpPr>
          <p:nvPr/>
        </p:nvSpPr>
        <p:spPr>
          <a:xfrm xmlns:a="http://schemas.openxmlformats.org/drawingml/2006/main">
            <a:off x="457200" y="4714875"/>
            <a:ext cx="209550" cy="209550"/>
          </a:xfrm>
          <a:prstGeom xmlns:a="http://schemas.openxmlformats.org/drawingml/2006/main" prst="ellipse">
            <a:avLst/>
          </a:prstGeom>
          <a:solidFill xmlns:a="http://schemas.openxmlformats.org/drawingml/2006/main">
            <a:srgbClr val="20BFA8"/>
          </a:solidFill>
        </p:spPr>
      </p:sp>
      <p:sp>
        <p:nvSpPr>
          <p:cNvPr id="9" name="benefit-3">
            <a:extLst xmlns:a="http://schemas.openxmlformats.org/drawingml/2006/main">
              <a:ext uri="{FF2B5EF4-FFF2-40B4-BE49-F238E27FC236}">
                <a16:creationId xmlns:a16="http://schemas.microsoft.com/office/drawing/2014/main" id="{61CD334C-4D3C-4A11-B79B-BAFF090CDC6B}"/>
              </a:ext>
            </a:extLst>
          </p:cNvPr>
          <p:cNvSpPr>
            <a:spLocks xmlns:a="http://schemas.openxmlformats.org/drawingml/2006/main" noGrp="1"/>
          </p:cNvSpPr>
          <p:nvPr/>
        </p:nvSpPr>
        <p:spPr>
          <a:xfrm xmlns:a="http://schemas.openxmlformats.org/drawingml/2006/main">
            <a:off x="819150" y="4686300"/>
            <a:ext cx="333375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01820"/>
                </a:solidFill>
                <a:latin typeface="Helvetica Neue"/>
                <a:ea typeface="Helvetica Neue"/>
                <a:cs typeface="Helvetica Neue"/>
              </a:defRPr>
            </a:pPr>
            <a:r>
              <a:t>More on time</a:t>
            </a:r>
          </a:p>
        </p:txBody>
      </p:sp>
      <p:sp>
        <p:nvSpPr>
          <p:cNvPr id="10" name="idea-user">
            <a:extLst xmlns:a="http://schemas.openxmlformats.org/drawingml/2006/main">
              <a:ext uri="{FF2B5EF4-FFF2-40B4-BE49-F238E27FC236}">
                <a16:creationId xmlns:a16="http://schemas.microsoft.com/office/drawing/2014/main" id="{7923669F-4583-4123-A30D-5E3205E92BD9}"/>
              </a:ext>
            </a:extLst>
          </p:cNvPr>
          <p:cNvSpPr>
            <a:spLocks xmlns:a="http://schemas.openxmlformats.org/drawingml/2006/main" noGrp="1"/>
          </p:cNvSpPr>
          <p:nvPr/>
        </p:nvSpPr>
        <p:spPr>
          <a:xfrm xmlns:a="http://schemas.openxmlformats.org/drawingml/2006/main">
            <a:off x="457200" y="5572125"/>
            <a:ext cx="495300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F6B78"/>
                </a:solidFill>
                <a:latin typeface="Helvetica Neue"/>
                <a:ea typeface="Helvetica Neue"/>
                <a:cs typeface="Helvetica Neue"/>
              </a:defRPr>
            </a:pPr>
            <a:r>
              <a:t>Made for students with school, practice, clubs, jobs, or rides that keep changing.</a:t>
            </a:r>
          </a:p>
        </p:txBody>
      </p:sp>
      <p:sp>
        <p:nvSpPr>
          <p:cNvPr id="11" name="idea-image-frame">
            <a:extLst xmlns:a="http://schemas.openxmlformats.org/drawingml/2006/main">
              <a:ext uri="{FF2B5EF4-FFF2-40B4-BE49-F238E27FC236}">
                <a16:creationId xmlns:a16="http://schemas.microsoft.com/office/drawing/2014/main" id="{92D88D78-377E-4656-9374-4CBCFB0E3055}"/>
              </a:ext>
            </a:extLst>
          </p:cNvPr>
          <p:cNvSpPr>
            <a:spLocks xmlns:a="http://schemas.openxmlformats.org/drawingml/2006/main" noGrp="1"/>
          </p:cNvSpPr>
          <p:nvPr/>
        </p:nvSpPr>
        <p:spPr>
          <a:xfrm xmlns:a="http://schemas.openxmlformats.org/drawingml/2006/main">
            <a:off x="5619750" y="1524000"/>
            <a:ext cx="6115050" cy="4667250"/>
          </a:xfrm>
          <a:prstGeom xmlns:a="http://schemas.openxmlformats.org/drawingml/2006/main" prst="roundRect">
            <a:avLst>
              <a:gd name="adj" fmla="val 1633"/>
            </a:avLst>
          </a:prstGeom>
          <a:solidFill xmlns:a="http://schemas.openxmlformats.org/drawingml/2006/main">
            <a:srgbClr val="DDF7F2"/>
          </a:solidFill>
          <a:ln xmlns:a="http://schemas.openxmlformats.org/drawingml/2006/main" w="9525">
            <a:solidFill>
              <a:srgbClr val="BBC5C8"/>
            </a:solidFill>
            <a:prstDash val="solid"/>
          </a:ln>
        </p:spPr>
      </p:sp>
      <p:sp>
        <p:nvSpPr>
          <p:cNvPr id="12" name="page-2">
            <a:extLst xmlns:a="http://schemas.openxmlformats.org/drawingml/2006/main">
              <a:ext uri="{FF2B5EF4-FFF2-40B4-BE49-F238E27FC236}">
                <a16:creationId xmlns:a16="http://schemas.microsoft.com/office/drawing/2014/main" id="{7731758F-FDDB-4CBC-9655-A05299E2C135}"/>
              </a:ext>
            </a:extLst>
          </p:cNvPr>
          <p:cNvSpPr>
            <a:spLocks xmlns:a="http://schemas.openxmlformats.org/drawingml/2006/main" noGrp="1"/>
          </p:cNvSpPr>
          <p:nvPr/>
        </p:nvSpPr>
        <p:spPr>
          <a:xfrm xmlns:a="http://schemas.openxmlformats.org/drawingml/2006/main">
            <a:off x="11334750" y="6305550"/>
            <a:ext cx="400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B78"/>
                </a:solidFill>
                <a:latin typeface="Helvetica Neue"/>
                <a:ea typeface="Helvetica Neue"/>
                <a:cs typeface="Helvetica Neue"/>
              </a:defRPr>
            </a:pPr>
            <a:r>
              <a:t>2</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bf14f0b8de44896"/>
          <a:srcRect xmlns:a="http://schemas.openxmlformats.org/drawingml/2006/main" l="0" t="35535" r="0" b="35535"/>
          <a:stretch xmlns:a="http://schemas.openxmlformats.org/drawingml/2006/main">
            <a:fillRect l="0" t="0" r="0" b="0"/>
          </a:stretch>
        </p:blipFill>
        <p:spPr>
          <a:xfrm xmlns:a="http://schemas.openxmlformats.org/drawingml/2006/main">
            <a:off x="5905500" y="1714500"/>
            <a:ext cx="5524500" cy="4286250"/>
          </a:xfrm>
          <a:prstGeom xmlns:a="http://schemas.openxmlformats.org/drawingml/2006/main" prst="roundRect">
            <a:avLst>
              <a:gd name="adj" fmla="val 4000"/>
            </a:avLst>
          </a:prstGeom>
        </p:spPr>
      </p:pic>
    </p:spTree>
    <p:extLst>
      <p:ext uri="{BB962C8B-B14F-4D97-AF65-F5344CB8AC3E}">
        <p14:creationId xmlns:p14="http://schemas.microsoft.com/office/powerpoint/2010/main" val="4956378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eyebrow-3">
            <a:extLst xmlns:a="http://schemas.openxmlformats.org/drawingml/2006/main">
              <a:ext uri="{FF2B5EF4-FFF2-40B4-BE49-F238E27FC236}">
                <a16:creationId xmlns:a16="http://schemas.microsoft.com/office/drawing/2014/main" id="{4F04AFB8-3943-47D6-92EC-7C9F5E649112}"/>
              </a:ext>
            </a:extLst>
          </p:cNvPr>
          <p:cNvSpPr>
            <a:spLocks xmlns:a="http://schemas.openxmlformats.org/drawingml/2006/main" noGrp="1"/>
          </p:cNvSpPr>
          <p:nvPr/>
        </p:nvSpPr>
        <p:spPr>
          <a:xfrm xmlns:a="http://schemas.openxmlformats.org/drawingml/2006/main">
            <a:off x="457200" y="342900"/>
            <a:ext cx="409575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MARKETING PLAN</a:t>
            </a:r>
          </a:p>
        </p:txBody>
      </p:sp>
      <p:sp>
        <p:nvSpPr>
          <p:cNvPr id="2" name="title-3">
            <a:extLst xmlns:a="http://schemas.openxmlformats.org/drawingml/2006/main">
              <a:ext uri="{FF2B5EF4-FFF2-40B4-BE49-F238E27FC236}">
                <a16:creationId xmlns:a16="http://schemas.microsoft.com/office/drawing/2014/main" id="{9E3FD090-97CE-4E48-BE8C-5B021DCC4D69}"/>
              </a:ext>
            </a:extLst>
          </p:cNvPr>
          <p:cNvSpPr>
            <a:spLocks xmlns:a="http://schemas.openxmlformats.org/drawingml/2006/main" noGrp="1"/>
          </p:cNvSpPr>
          <p:nvPr/>
        </p:nvSpPr>
        <p:spPr>
          <a:xfrm xmlns:a="http://schemas.openxmlformats.org/drawingml/2006/main">
            <a:off x="457200" y="704850"/>
            <a:ext cx="11125200" cy="857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820"/>
                </a:solidFill>
                <a:latin typeface="Helvetica Neue"/>
                <a:ea typeface="Helvetica Neue"/>
                <a:cs typeface="Helvetica Neue"/>
              </a:defRPr>
            </a:pPr>
            <a:r>
              <a:t>Here's how we'd get people to try it.</a:t>
            </a:r>
          </a:p>
        </p:txBody>
      </p:sp>
      <p:cxnSp>
        <p:nvCxnSpPr>
          <p:cNvPr id="21" name="mix-vertical"/>
          <p:cNvCxnSpPr/>
          <p:nvPr/>
        </p:nvCxnSpPr>
        <p:spPr>
          <a:xfrm xmlns:a="http://schemas.openxmlformats.org/drawingml/2006/main">
            <a:off x="6096000" y="1714500"/>
            <a:ext cx="286" cy="3905250"/>
          </a:xfrm>
          <a:prstGeom xmlns:a="http://schemas.openxmlformats.org/drawingml/2006/main" prst="straightConnector1">
            <a:avLst/>
          </a:prstGeom>
          <a:ln xmlns:a="http://schemas.openxmlformats.org/drawingml/2006/main" w="9525">
            <a:solidFill>
              <a:srgbClr val="BBC5C8"/>
            </a:solidFill>
            <a:prstDash val="solid"/>
          </a:ln>
        </p:spPr>
      </p:cxnSp>
      <p:cxnSp>
        <p:nvCxnSpPr>
          <p:cNvPr id="22" name="mix-left"/>
          <p:cNvCxnSpPr/>
          <p:nvPr/>
        </p:nvCxnSpPr>
        <p:spPr>
          <a:xfrm xmlns:a="http://schemas.openxmlformats.org/drawingml/2006/main">
            <a:off x="457200" y="3714750"/>
            <a:ext cx="5238750" cy="286"/>
          </a:xfrm>
          <a:prstGeom xmlns:a="http://schemas.openxmlformats.org/drawingml/2006/main" prst="straightConnector1">
            <a:avLst/>
          </a:prstGeom>
          <a:ln xmlns:a="http://schemas.openxmlformats.org/drawingml/2006/main" w="9525">
            <a:solidFill>
              <a:srgbClr val="BBC5C8"/>
            </a:solidFill>
            <a:prstDash val="solid"/>
          </a:ln>
        </p:spPr>
      </p:cxnSp>
      <p:cxnSp>
        <p:nvCxnSpPr>
          <p:cNvPr id="23" name="mix-right"/>
          <p:cNvCxnSpPr/>
          <p:nvPr/>
        </p:nvCxnSpPr>
        <p:spPr>
          <a:xfrm xmlns:a="http://schemas.openxmlformats.org/drawingml/2006/main">
            <a:off x="6496050" y="3714750"/>
            <a:ext cx="5238750" cy="286"/>
          </a:xfrm>
          <a:prstGeom xmlns:a="http://schemas.openxmlformats.org/drawingml/2006/main" prst="straightConnector1">
            <a:avLst/>
          </a:prstGeom>
          <a:ln xmlns:a="http://schemas.openxmlformats.org/drawingml/2006/main" w="9525">
            <a:solidFill>
              <a:srgbClr val="BBC5C8"/>
            </a:solidFill>
            <a:prstDash val="solid"/>
          </a:ln>
        </p:spPr>
      </p:cxnSp>
      <p:sp>
        <p:nvSpPr>
          <p:cNvPr id="6" name="mix-label-1">
            <a:extLst xmlns:a="http://schemas.openxmlformats.org/drawingml/2006/main">
              <a:ext uri="{FF2B5EF4-FFF2-40B4-BE49-F238E27FC236}">
                <a16:creationId xmlns:a16="http://schemas.microsoft.com/office/drawing/2014/main" id="{DDC4B07F-A2B5-4D69-856F-AFFC2330B1FA}"/>
              </a:ext>
            </a:extLst>
          </p:cNvPr>
          <p:cNvSpPr>
            <a:spLocks xmlns:a="http://schemas.openxmlformats.org/drawingml/2006/main" noGrp="1"/>
          </p:cNvSpPr>
          <p:nvPr/>
        </p:nvSpPr>
        <p:spPr>
          <a:xfrm xmlns:a="http://schemas.openxmlformats.org/drawingml/2006/main">
            <a:off x="457200" y="1809750"/>
            <a:ext cx="19050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PRODUCT</a:t>
            </a:r>
          </a:p>
        </p:txBody>
      </p:sp>
      <p:sp>
        <p:nvSpPr>
          <p:cNvPr id="7" name="mix-title-1">
            <a:extLst xmlns:a="http://schemas.openxmlformats.org/drawingml/2006/main">
              <a:ext uri="{FF2B5EF4-FFF2-40B4-BE49-F238E27FC236}">
                <a16:creationId xmlns:a16="http://schemas.microsoft.com/office/drawing/2014/main" id="{703BC8A8-D9D3-4AD1-8AA9-C95306EE2AB2}"/>
              </a:ext>
            </a:extLst>
          </p:cNvPr>
          <p:cNvSpPr>
            <a:spLocks xmlns:a="http://schemas.openxmlformats.org/drawingml/2006/main" noGrp="1"/>
          </p:cNvSpPr>
          <p:nvPr/>
        </p:nvSpPr>
        <p:spPr>
          <a:xfrm xmlns:a="http://schemas.openxmlformats.org/drawingml/2006/main">
            <a:off x="457200" y="2171700"/>
            <a:ext cx="476250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1820"/>
                </a:solidFill>
                <a:latin typeface="Helvetica Neue"/>
                <a:ea typeface="Helvetica Neue"/>
                <a:cs typeface="Helvetica Neue"/>
              </a:defRPr>
            </a:pPr>
            <a:r>
              <a:t>A smarter alarm</a:t>
            </a:r>
          </a:p>
        </p:txBody>
      </p:sp>
      <p:sp>
        <p:nvSpPr>
          <p:cNvPr id="8" name="mix-body-1">
            <a:extLst xmlns:a="http://schemas.openxmlformats.org/drawingml/2006/main">
              <a:ext uri="{FF2B5EF4-FFF2-40B4-BE49-F238E27FC236}">
                <a16:creationId xmlns:a16="http://schemas.microsoft.com/office/drawing/2014/main" id="{029F6855-21B0-4B7A-BCC1-9CEE1465CCA8}"/>
              </a:ext>
            </a:extLst>
          </p:cNvPr>
          <p:cNvSpPr>
            <a:spLocks xmlns:a="http://schemas.openxmlformats.org/drawingml/2006/main" noGrp="1"/>
          </p:cNvSpPr>
          <p:nvPr/>
        </p:nvSpPr>
        <p:spPr>
          <a:xfrm xmlns:a="http://schemas.openxmlformats.org/drawingml/2006/main">
            <a:off x="457200" y="2762250"/>
            <a:ext cx="4810125"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F6B78"/>
                </a:solidFill>
                <a:latin typeface="Helvetica Neue"/>
                <a:ea typeface="Helvetica Neue"/>
                <a:cs typeface="Helvetica Neue"/>
              </a:defRPr>
            </a:pPr>
            <a:r>
              <a:t>It plans around traffic and your schedule.</a:t>
            </a:r>
          </a:p>
        </p:txBody>
      </p:sp>
      <p:sp>
        <p:nvSpPr>
          <p:cNvPr id="9" name="mix-label-2">
            <a:extLst xmlns:a="http://schemas.openxmlformats.org/drawingml/2006/main">
              <a:ext uri="{FF2B5EF4-FFF2-40B4-BE49-F238E27FC236}">
                <a16:creationId xmlns:a16="http://schemas.microsoft.com/office/drawing/2014/main" id="{518EC769-52BA-41D2-9920-02BE1C9023C6}"/>
              </a:ext>
            </a:extLst>
          </p:cNvPr>
          <p:cNvSpPr>
            <a:spLocks xmlns:a="http://schemas.openxmlformats.org/drawingml/2006/main" noGrp="1"/>
          </p:cNvSpPr>
          <p:nvPr/>
        </p:nvSpPr>
        <p:spPr>
          <a:xfrm xmlns:a="http://schemas.openxmlformats.org/drawingml/2006/main">
            <a:off x="6496050" y="1809750"/>
            <a:ext cx="19050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E85B70"/>
                </a:solidFill>
                <a:latin typeface="Helvetica Neue"/>
                <a:ea typeface="Helvetica Neue"/>
                <a:cs typeface="Helvetica Neue"/>
              </a:defRPr>
            </a:pPr>
            <a:r>
              <a:t>PRICE</a:t>
            </a:r>
          </a:p>
        </p:txBody>
      </p:sp>
      <p:sp>
        <p:nvSpPr>
          <p:cNvPr id="10" name="mix-title-2">
            <a:extLst xmlns:a="http://schemas.openxmlformats.org/drawingml/2006/main">
              <a:ext uri="{FF2B5EF4-FFF2-40B4-BE49-F238E27FC236}">
                <a16:creationId xmlns:a16="http://schemas.microsoft.com/office/drawing/2014/main" id="{49186D18-5675-4E7A-B84D-B530C00076D8}"/>
              </a:ext>
            </a:extLst>
          </p:cNvPr>
          <p:cNvSpPr>
            <a:spLocks xmlns:a="http://schemas.openxmlformats.org/drawingml/2006/main" noGrp="1"/>
          </p:cNvSpPr>
          <p:nvPr/>
        </p:nvSpPr>
        <p:spPr>
          <a:xfrm xmlns:a="http://schemas.openxmlformats.org/drawingml/2006/main">
            <a:off x="6496050" y="2171700"/>
            <a:ext cx="476250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1820"/>
                </a:solidFill>
                <a:latin typeface="Helvetica Neue"/>
                <a:ea typeface="Helvetica Neue"/>
                <a:cs typeface="Helvetica Neue"/>
              </a:defRPr>
            </a:pPr>
            <a:r>
              <a:t>Free beta</a:t>
            </a:r>
          </a:p>
        </p:txBody>
      </p:sp>
      <p:sp>
        <p:nvSpPr>
          <p:cNvPr id="11" name="mix-body-2">
            <a:extLst xmlns:a="http://schemas.openxmlformats.org/drawingml/2006/main">
              <a:ext uri="{FF2B5EF4-FFF2-40B4-BE49-F238E27FC236}">
                <a16:creationId xmlns:a16="http://schemas.microsoft.com/office/drawing/2014/main" id="{DC40DF79-DFD4-4EC9-A934-68EA8FEA9699}"/>
              </a:ext>
            </a:extLst>
          </p:cNvPr>
          <p:cNvSpPr>
            <a:spLocks xmlns:a="http://schemas.openxmlformats.org/drawingml/2006/main" noGrp="1"/>
          </p:cNvSpPr>
          <p:nvPr/>
        </p:nvSpPr>
        <p:spPr>
          <a:xfrm xmlns:a="http://schemas.openxmlformats.org/drawingml/2006/main">
            <a:off x="6496050" y="2762250"/>
            <a:ext cx="4810125"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F6B78"/>
                </a:solidFill>
                <a:latin typeface="Helvetica Neue"/>
                <a:ea typeface="Helvetica Neue"/>
                <a:cs typeface="Helvetica Neue"/>
              </a:defRPr>
            </a:pPr>
            <a:r>
              <a:t>Let people test it before adding extras.</a:t>
            </a:r>
          </a:p>
        </p:txBody>
      </p:sp>
      <p:sp>
        <p:nvSpPr>
          <p:cNvPr id="12" name="mix-label-3">
            <a:extLst xmlns:a="http://schemas.openxmlformats.org/drawingml/2006/main">
              <a:ext uri="{FF2B5EF4-FFF2-40B4-BE49-F238E27FC236}">
                <a16:creationId xmlns:a16="http://schemas.microsoft.com/office/drawing/2014/main" id="{CCC5BB52-D557-4035-B373-E7015FE4E8FE}"/>
              </a:ext>
            </a:extLst>
          </p:cNvPr>
          <p:cNvSpPr>
            <a:spLocks xmlns:a="http://schemas.openxmlformats.org/drawingml/2006/main" noGrp="1"/>
          </p:cNvSpPr>
          <p:nvPr/>
        </p:nvSpPr>
        <p:spPr>
          <a:xfrm xmlns:a="http://schemas.openxmlformats.org/drawingml/2006/main">
            <a:off x="457200" y="4000500"/>
            <a:ext cx="19050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PLACE</a:t>
            </a:r>
          </a:p>
        </p:txBody>
      </p:sp>
      <p:sp>
        <p:nvSpPr>
          <p:cNvPr id="13" name="mix-title-3">
            <a:extLst xmlns:a="http://schemas.openxmlformats.org/drawingml/2006/main">
              <a:ext uri="{FF2B5EF4-FFF2-40B4-BE49-F238E27FC236}">
                <a16:creationId xmlns:a16="http://schemas.microsoft.com/office/drawing/2014/main" id="{6058A0E8-9C88-4E05-9115-1B68560DD96A}"/>
              </a:ext>
            </a:extLst>
          </p:cNvPr>
          <p:cNvSpPr>
            <a:spLocks xmlns:a="http://schemas.openxmlformats.org/drawingml/2006/main" noGrp="1"/>
          </p:cNvSpPr>
          <p:nvPr/>
        </p:nvSpPr>
        <p:spPr>
          <a:xfrm xmlns:a="http://schemas.openxmlformats.org/drawingml/2006/main">
            <a:off x="457200" y="4362450"/>
            <a:ext cx="476250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1820"/>
                </a:solidFill>
                <a:latin typeface="Helvetica Neue"/>
                <a:ea typeface="Helvetica Neue"/>
                <a:cs typeface="Helvetica Neue"/>
              </a:defRPr>
            </a:pPr>
            <a:r>
              <a:t>Phones + web</a:t>
            </a:r>
          </a:p>
        </p:txBody>
      </p:sp>
      <p:sp>
        <p:nvSpPr>
          <p:cNvPr id="14" name="mix-body-3">
            <a:extLst xmlns:a="http://schemas.openxmlformats.org/drawingml/2006/main">
              <a:ext uri="{FF2B5EF4-FFF2-40B4-BE49-F238E27FC236}">
                <a16:creationId xmlns:a16="http://schemas.microsoft.com/office/drawing/2014/main" id="{5BE9218F-53E7-410E-A4E2-31897198A174}"/>
              </a:ext>
            </a:extLst>
          </p:cNvPr>
          <p:cNvSpPr>
            <a:spLocks xmlns:a="http://schemas.openxmlformats.org/drawingml/2006/main" noGrp="1"/>
          </p:cNvSpPr>
          <p:nvPr/>
        </p:nvSpPr>
        <p:spPr>
          <a:xfrm xmlns:a="http://schemas.openxmlformats.org/drawingml/2006/main">
            <a:off x="457200" y="4953000"/>
            <a:ext cx="4810125"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F6B78"/>
                </a:solidFill>
                <a:latin typeface="Helvetica Neue"/>
                <a:ea typeface="Helvetica Neue"/>
                <a:cs typeface="Helvetica Neue"/>
              </a:defRPr>
            </a:pPr>
            <a:r>
              <a:t>Make it easy to use on the devices students have.</a:t>
            </a:r>
          </a:p>
        </p:txBody>
      </p:sp>
      <p:sp>
        <p:nvSpPr>
          <p:cNvPr id="15" name="mix-label-4">
            <a:extLst xmlns:a="http://schemas.openxmlformats.org/drawingml/2006/main">
              <a:ext uri="{FF2B5EF4-FFF2-40B4-BE49-F238E27FC236}">
                <a16:creationId xmlns:a16="http://schemas.microsoft.com/office/drawing/2014/main" id="{63B04F35-B673-45D6-944A-BEB3FDFDCA12}"/>
              </a:ext>
            </a:extLst>
          </p:cNvPr>
          <p:cNvSpPr>
            <a:spLocks xmlns:a="http://schemas.openxmlformats.org/drawingml/2006/main" noGrp="1"/>
          </p:cNvSpPr>
          <p:nvPr/>
        </p:nvSpPr>
        <p:spPr>
          <a:xfrm xmlns:a="http://schemas.openxmlformats.org/drawingml/2006/main">
            <a:off x="6496050" y="4000500"/>
            <a:ext cx="19050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PROMOTION</a:t>
            </a:r>
          </a:p>
        </p:txBody>
      </p:sp>
      <p:sp>
        <p:nvSpPr>
          <p:cNvPr id="16" name="mix-title-4">
            <a:extLst xmlns:a="http://schemas.openxmlformats.org/drawingml/2006/main">
              <a:ext uri="{FF2B5EF4-FFF2-40B4-BE49-F238E27FC236}">
                <a16:creationId xmlns:a16="http://schemas.microsoft.com/office/drawing/2014/main" id="{AA61595A-1BED-4612-BBD3-7293F4ECF0F9}"/>
              </a:ext>
            </a:extLst>
          </p:cNvPr>
          <p:cNvSpPr>
            <a:spLocks xmlns:a="http://schemas.openxmlformats.org/drawingml/2006/main" noGrp="1"/>
          </p:cNvSpPr>
          <p:nvPr/>
        </p:nvSpPr>
        <p:spPr>
          <a:xfrm xmlns:a="http://schemas.openxmlformats.org/drawingml/2006/main">
            <a:off x="6496050" y="4362450"/>
            <a:ext cx="476250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1820"/>
                </a:solidFill>
                <a:latin typeface="Helvetica Neue"/>
                <a:ea typeface="Helvetica Neue"/>
                <a:cs typeface="Helvetica Neue"/>
              </a:defRPr>
            </a:pPr>
            <a:r>
              <a:t>Show it working</a:t>
            </a:r>
          </a:p>
        </p:txBody>
      </p:sp>
      <p:sp>
        <p:nvSpPr>
          <p:cNvPr id="17" name="mix-body-4">
            <a:extLst xmlns:a="http://schemas.openxmlformats.org/drawingml/2006/main">
              <a:ext uri="{FF2B5EF4-FFF2-40B4-BE49-F238E27FC236}">
                <a16:creationId xmlns:a16="http://schemas.microsoft.com/office/drawing/2014/main" id="{D1118570-91CF-4D03-BBE1-34D03D305A26}"/>
              </a:ext>
            </a:extLst>
          </p:cNvPr>
          <p:cNvSpPr>
            <a:spLocks xmlns:a="http://schemas.openxmlformats.org/drawingml/2006/main" noGrp="1"/>
          </p:cNvSpPr>
          <p:nvPr/>
        </p:nvSpPr>
        <p:spPr>
          <a:xfrm xmlns:a="http://schemas.openxmlformats.org/drawingml/2006/main">
            <a:off x="6496050" y="4953000"/>
            <a:ext cx="4810125"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F6B78"/>
                </a:solidFill>
                <a:latin typeface="Helvetica Neue"/>
                <a:ea typeface="Helvetica Neue"/>
                <a:cs typeface="Helvetica Neue"/>
              </a:defRPr>
            </a:pPr>
            <a:r>
              <a:t>Use quick videos, school demos, and friends sharing it.</a:t>
            </a:r>
          </a:p>
        </p:txBody>
      </p:sp>
      <p:sp>
        <p:nvSpPr>
          <p:cNvPr id="18" name="page-3">
            <a:extLst xmlns:a="http://schemas.openxmlformats.org/drawingml/2006/main">
              <a:ext uri="{FF2B5EF4-FFF2-40B4-BE49-F238E27FC236}">
                <a16:creationId xmlns:a16="http://schemas.microsoft.com/office/drawing/2014/main" id="{0168C555-451D-4A19-B99C-0B4E426688A8}"/>
              </a:ext>
            </a:extLst>
          </p:cNvPr>
          <p:cNvSpPr>
            <a:spLocks xmlns:a="http://schemas.openxmlformats.org/drawingml/2006/main" noGrp="1"/>
          </p:cNvSpPr>
          <p:nvPr/>
        </p:nvSpPr>
        <p:spPr>
          <a:xfrm xmlns:a="http://schemas.openxmlformats.org/drawingml/2006/main">
            <a:off x="11334750" y="6305550"/>
            <a:ext cx="400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B78"/>
                </a:solidFill>
                <a:latin typeface="Helvetica Neue"/>
                <a:ea typeface="Helvetica Neue"/>
                <a:cs typeface="Helvetica Neue"/>
              </a:defRPr>
            </a:pPr>
            <a:r>
              <a:t>3</a:t>
            </a:r>
          </a:p>
        </p:txBody>
      </p:sp>
    </p:spTree>
    <p:extLst>
      <p:ext uri="{BB962C8B-B14F-4D97-AF65-F5344CB8AC3E}">
        <p14:creationId xmlns:p14="http://schemas.microsoft.com/office/powerpoint/2010/main" val="19227536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yebrow-4">
            <a:extLst xmlns:a="http://schemas.openxmlformats.org/drawingml/2006/main">
              <a:ext uri="{FF2B5EF4-FFF2-40B4-BE49-F238E27FC236}">
                <a16:creationId xmlns:a16="http://schemas.microsoft.com/office/drawing/2014/main" id="{226C746B-65C6-4378-B477-FD687660A824}"/>
              </a:ext>
            </a:extLst>
          </p:cNvPr>
          <p:cNvSpPr>
            <a:spLocks xmlns:a="http://schemas.openxmlformats.org/drawingml/2006/main" noGrp="1"/>
          </p:cNvSpPr>
          <p:nvPr/>
        </p:nvSpPr>
        <p:spPr>
          <a:xfrm xmlns:a="http://schemas.openxmlformats.org/drawingml/2006/main">
            <a:off x="457200" y="342900"/>
            <a:ext cx="409575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CAMPAIGN IDEA</a:t>
            </a:r>
          </a:p>
        </p:txBody>
      </p:sp>
      <p:sp>
        <p:nvSpPr>
          <p:cNvPr id="2" name="title-4">
            <a:extLst xmlns:a="http://schemas.openxmlformats.org/drawingml/2006/main">
              <a:ext uri="{FF2B5EF4-FFF2-40B4-BE49-F238E27FC236}">
                <a16:creationId xmlns:a16="http://schemas.microsoft.com/office/drawing/2014/main" id="{E14B1C18-BD8B-403F-8077-56D8E569FBB3}"/>
              </a:ext>
            </a:extLst>
          </p:cNvPr>
          <p:cNvSpPr>
            <a:spLocks xmlns:a="http://schemas.openxmlformats.org/drawingml/2006/main" noGrp="1"/>
          </p:cNvSpPr>
          <p:nvPr/>
        </p:nvSpPr>
        <p:spPr>
          <a:xfrm xmlns:a="http://schemas.openxmlformats.org/drawingml/2006/main">
            <a:off x="457200" y="704850"/>
            <a:ext cx="11125200" cy="857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820"/>
                </a:solidFill>
                <a:latin typeface="Helvetica Neue"/>
                <a:ea typeface="Helvetica Neue"/>
                <a:cs typeface="Helvetica Neue"/>
              </a:defRPr>
            </a:pPr>
            <a:r>
              <a:t>Our best ad is a quick before-and-after.</a:t>
            </a:r>
          </a:p>
        </p:txBody>
      </p:sp>
      <p:sp>
        <p:nvSpPr>
          <p:cNvPr id="3" name="campaign-hook-label">
            <a:extLst xmlns:a="http://schemas.openxmlformats.org/drawingml/2006/main">
              <a:ext uri="{FF2B5EF4-FFF2-40B4-BE49-F238E27FC236}">
                <a16:creationId xmlns:a16="http://schemas.microsoft.com/office/drawing/2014/main" id="{FBBB6EEE-FF13-4248-A2C9-E847A31457E6}"/>
              </a:ext>
            </a:extLst>
          </p:cNvPr>
          <p:cNvSpPr>
            <a:spLocks xmlns:a="http://schemas.openxmlformats.org/drawingml/2006/main" noGrp="1"/>
          </p:cNvSpPr>
          <p:nvPr/>
        </p:nvSpPr>
        <p:spPr>
          <a:xfrm xmlns:a="http://schemas.openxmlformats.org/drawingml/2006/main">
            <a:off x="457200" y="1714500"/>
            <a:ext cx="20955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E85B70"/>
                </a:solidFill>
                <a:latin typeface="Helvetica Neue"/>
                <a:ea typeface="Helvetica Neue"/>
                <a:cs typeface="Helvetica Neue"/>
              </a:defRPr>
            </a:pPr>
            <a:r>
              <a:t>THE WHOLE IDEA</a:t>
            </a:r>
          </a:p>
        </p:txBody>
      </p:sp>
      <p:sp>
        <p:nvSpPr>
          <p:cNvPr id="4" name="campaign-hook">
            <a:extLst xmlns:a="http://schemas.openxmlformats.org/drawingml/2006/main">
              <a:ext uri="{FF2B5EF4-FFF2-40B4-BE49-F238E27FC236}">
                <a16:creationId xmlns:a16="http://schemas.microsoft.com/office/drawing/2014/main" id="{8EEAF750-5820-450A-A78D-CE5998452550}"/>
              </a:ext>
            </a:extLst>
          </p:cNvPr>
          <p:cNvSpPr>
            <a:spLocks xmlns:a="http://schemas.openxmlformats.org/drawingml/2006/main" noGrp="1"/>
          </p:cNvSpPr>
          <p:nvPr/>
        </p:nvSpPr>
        <p:spPr>
          <a:xfrm xmlns:a="http://schemas.openxmlformats.org/drawingml/2006/main">
            <a:off x="457200" y="2095500"/>
            <a:ext cx="5238750" cy="1047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01820"/>
                </a:solidFill>
                <a:latin typeface="Helvetica Neue"/>
                <a:ea typeface="Helvetica Neue"/>
                <a:cs typeface="Helvetica Neue"/>
              </a:defRPr>
            </a:pPr>
            <a:r>
              <a:t>Traffic got worse.
The alarm moved earlier.</a:t>
            </a:r>
          </a:p>
        </p:txBody>
      </p:sp>
      <p:cxnSp>
        <p:nvCxnSpPr>
          <p:cNvPr id="15" name="campaign-rule"/>
          <p:cNvCxnSpPr/>
          <p:nvPr/>
        </p:nvCxnSpPr>
        <p:spPr>
          <a:xfrm xmlns:a="http://schemas.openxmlformats.org/drawingml/2006/main">
            <a:off x="457200" y="3571875"/>
            <a:ext cx="1714500" cy="286"/>
          </a:xfrm>
          <a:prstGeom xmlns:a="http://schemas.openxmlformats.org/drawingml/2006/main" prst="straightConnector1">
            <a:avLst/>
          </a:prstGeom>
          <a:ln xmlns:a="http://schemas.openxmlformats.org/drawingml/2006/main" w="38100">
            <a:solidFill>
              <a:srgbClr val="20BFA8"/>
            </a:solidFill>
            <a:prstDash val="solid"/>
          </a:ln>
        </p:spPr>
      </p:cxnSp>
      <p:sp>
        <p:nvSpPr>
          <p:cNvPr id="6" name="campaign-tagline">
            <a:extLst xmlns:a="http://schemas.openxmlformats.org/drawingml/2006/main">
              <a:ext uri="{FF2B5EF4-FFF2-40B4-BE49-F238E27FC236}">
                <a16:creationId xmlns:a16="http://schemas.microsoft.com/office/drawing/2014/main" id="{FC025270-E338-4347-BDB5-14FF46CBC387}"/>
              </a:ext>
            </a:extLst>
          </p:cNvPr>
          <p:cNvSpPr>
            <a:spLocks xmlns:a="http://schemas.openxmlformats.org/drawingml/2006/main" noGrp="1"/>
          </p:cNvSpPr>
          <p:nvPr/>
        </p:nvSpPr>
        <p:spPr>
          <a:xfrm xmlns:a="http://schemas.openxmlformats.org/drawingml/2006/main">
            <a:off x="457200" y="4048125"/>
            <a:ext cx="4762500" cy="857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1820"/>
                </a:solidFill>
                <a:latin typeface="Helvetica Neue"/>
                <a:ea typeface="Helvetica Neue"/>
                <a:cs typeface="Helvetica Neue"/>
              </a:defRPr>
            </a:pPr>
            <a:r>
              <a:t>Know when to wake.
Know when to leave.</a:t>
            </a:r>
          </a:p>
        </p:txBody>
      </p:sp>
      <p:sp>
        <p:nvSpPr>
          <p:cNvPr id="7" name="campaign-format">
            <a:extLst xmlns:a="http://schemas.openxmlformats.org/drawingml/2006/main">
              <a:ext uri="{FF2B5EF4-FFF2-40B4-BE49-F238E27FC236}">
                <a16:creationId xmlns:a16="http://schemas.microsoft.com/office/drawing/2014/main" id="{EF492333-BEA1-4FFD-B039-8DB512E79845}"/>
              </a:ext>
            </a:extLst>
          </p:cNvPr>
          <p:cNvSpPr>
            <a:spLocks xmlns:a="http://schemas.openxmlformats.org/drawingml/2006/main" noGrp="1"/>
          </p:cNvSpPr>
          <p:nvPr/>
        </p:nvSpPr>
        <p:spPr>
          <a:xfrm xmlns:a="http://schemas.openxmlformats.org/drawingml/2006/main">
            <a:off x="457200" y="5429250"/>
            <a:ext cx="4762500" cy="4191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F6B78"/>
                </a:solidFill>
                <a:latin typeface="Helvetica Neue"/>
                <a:ea typeface="Helvetica Neue"/>
                <a:cs typeface="Helvetica Neue"/>
              </a:defRPr>
            </a:pPr>
            <a:r>
              <a:t>We'd use a short video or just demo it live.</a:t>
            </a:r>
          </a:p>
        </p:txBody>
      </p:sp>
      <p:sp>
        <p:nvSpPr>
          <p:cNvPr id="8" name="campaign-image-frame">
            <a:extLst xmlns:a="http://schemas.openxmlformats.org/drawingml/2006/main">
              <a:ext uri="{FF2B5EF4-FFF2-40B4-BE49-F238E27FC236}">
                <a16:creationId xmlns:a16="http://schemas.microsoft.com/office/drawing/2014/main" id="{CD735B31-B146-4A28-A5BC-9D48781FB3FE}"/>
              </a:ext>
            </a:extLst>
          </p:cNvPr>
          <p:cNvSpPr>
            <a:spLocks xmlns:a="http://schemas.openxmlformats.org/drawingml/2006/main" noGrp="1"/>
          </p:cNvSpPr>
          <p:nvPr/>
        </p:nvSpPr>
        <p:spPr>
          <a:xfrm xmlns:a="http://schemas.openxmlformats.org/drawingml/2006/main">
            <a:off x="6191250" y="1524000"/>
            <a:ext cx="5543550" cy="4667250"/>
          </a:xfrm>
          <a:prstGeom xmlns:a="http://schemas.openxmlformats.org/drawingml/2006/main" prst="roundRect">
            <a:avLst>
              <a:gd name="adj" fmla="val 1633"/>
            </a:avLst>
          </a:prstGeom>
          <a:solidFill xmlns:a="http://schemas.openxmlformats.org/drawingml/2006/main">
            <a:srgbClr val="111B25"/>
          </a:solidFill>
          <a:ln xmlns:a="http://schemas.openxmlformats.org/drawingml/2006/main" w="9525">
            <a:solidFill>
              <a:srgbClr val="BBC5C8"/>
            </a:solidFill>
            <a:prstDash val="solid"/>
          </a:ln>
        </p:spPr>
      </p:sp>
      <p:sp>
        <p:nvSpPr>
          <p:cNvPr id="9" name="page-4">
            <a:extLst xmlns:a="http://schemas.openxmlformats.org/drawingml/2006/main">
              <a:ext uri="{FF2B5EF4-FFF2-40B4-BE49-F238E27FC236}">
                <a16:creationId xmlns:a16="http://schemas.microsoft.com/office/drawing/2014/main" id="{BFEFD425-A9D2-4F8B-8839-ABC00249D127}"/>
              </a:ext>
            </a:extLst>
          </p:cNvPr>
          <p:cNvSpPr>
            <a:spLocks xmlns:a="http://schemas.openxmlformats.org/drawingml/2006/main" noGrp="1"/>
          </p:cNvSpPr>
          <p:nvPr/>
        </p:nvSpPr>
        <p:spPr>
          <a:xfrm xmlns:a="http://schemas.openxmlformats.org/drawingml/2006/main">
            <a:off x="11334750" y="6305550"/>
            <a:ext cx="400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B78"/>
                </a:solidFill>
                <a:latin typeface="Helvetica Neue"/>
                <a:ea typeface="Helvetica Neue"/>
                <a:cs typeface="Helvetica Neue"/>
              </a:defRPr>
            </a:pPr>
            <a:r>
              <a:t>4</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eda0859327b4cc1"/>
          <a:srcRect xmlns:a="http://schemas.openxmlformats.org/drawingml/2006/main" l="0" t="34311" r="0" b="34311"/>
          <a:stretch xmlns:a="http://schemas.openxmlformats.org/drawingml/2006/main">
            <a:fillRect l="0" t="0" r="0" b="0"/>
          </a:stretch>
        </p:blipFill>
        <p:spPr>
          <a:xfrm xmlns:a="http://schemas.openxmlformats.org/drawingml/2006/main">
            <a:off x="6438900" y="1733550"/>
            <a:ext cx="5048250" cy="4248150"/>
          </a:xfrm>
          <a:prstGeom xmlns:a="http://schemas.openxmlformats.org/drawingml/2006/main" prst="roundRect">
            <a:avLst>
              <a:gd name="adj" fmla="val 4036"/>
            </a:avLst>
          </a:prstGeom>
        </p:spPr>
      </p:pic>
    </p:spTree>
    <p:extLst>
      <p:ext uri="{BB962C8B-B14F-4D97-AF65-F5344CB8AC3E}">
        <p14:creationId xmlns:p14="http://schemas.microsoft.com/office/powerpoint/2010/main" val="15154379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eyebrow-5">
            <a:extLst xmlns:a="http://schemas.openxmlformats.org/drawingml/2006/main">
              <a:ext uri="{FF2B5EF4-FFF2-40B4-BE49-F238E27FC236}">
                <a16:creationId xmlns:a16="http://schemas.microsoft.com/office/drawing/2014/main" id="{044AA8C8-D74C-4812-9BE1-32C8777C8FB1}"/>
              </a:ext>
            </a:extLst>
          </p:cNvPr>
          <p:cNvSpPr>
            <a:spLocks xmlns:a="http://schemas.openxmlformats.org/drawingml/2006/main" noGrp="1"/>
          </p:cNvSpPr>
          <p:nvPr/>
        </p:nvSpPr>
        <p:spPr>
          <a:xfrm xmlns:a="http://schemas.openxmlformats.org/drawingml/2006/main">
            <a:off x="457200" y="342900"/>
            <a:ext cx="409575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FIRST LAUNCH</a:t>
            </a:r>
          </a:p>
        </p:txBody>
      </p:sp>
      <p:sp>
        <p:nvSpPr>
          <p:cNvPr id="2" name="title-5">
            <a:extLst xmlns:a="http://schemas.openxmlformats.org/drawingml/2006/main">
              <a:ext uri="{FF2B5EF4-FFF2-40B4-BE49-F238E27FC236}">
                <a16:creationId xmlns:a16="http://schemas.microsoft.com/office/drawing/2014/main" id="{02E7CD95-EE5D-4953-AA55-F0E783DE87C2}"/>
              </a:ext>
            </a:extLst>
          </p:cNvPr>
          <p:cNvSpPr>
            <a:spLocks xmlns:a="http://schemas.openxmlformats.org/drawingml/2006/main" noGrp="1"/>
          </p:cNvSpPr>
          <p:nvPr/>
        </p:nvSpPr>
        <p:spPr>
          <a:xfrm xmlns:a="http://schemas.openxmlformats.org/drawingml/2006/main">
            <a:off x="457200" y="704850"/>
            <a:ext cx="11125200" cy="857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820"/>
                </a:solidFill>
                <a:latin typeface="Helvetica Neue"/>
                <a:ea typeface="Helvetica Neue"/>
                <a:cs typeface="Helvetica Neue"/>
              </a:defRPr>
            </a:pPr>
            <a:r>
              <a:t>Start with one school, not the whole world.</a:t>
            </a:r>
          </a:p>
        </p:txBody>
      </p:sp>
      <p:cxnSp>
        <p:nvCxnSpPr>
          <p:cNvPr id="20" name="pilot-line"/>
          <p:cNvCxnSpPr/>
          <p:nvPr/>
        </p:nvCxnSpPr>
        <p:spPr>
          <a:xfrm xmlns:a="http://schemas.openxmlformats.org/drawingml/2006/main">
            <a:off x="1571625" y="3286125"/>
            <a:ext cx="8858250" cy="286"/>
          </a:xfrm>
          <a:prstGeom xmlns:a="http://schemas.openxmlformats.org/drawingml/2006/main" prst="straightConnector1">
            <a:avLst/>
          </a:prstGeom>
          <a:ln xmlns:a="http://schemas.openxmlformats.org/drawingml/2006/main" w="38100">
            <a:solidFill>
              <a:srgbClr val="BBC5C8"/>
            </a:solidFill>
            <a:prstDash val="solid"/>
          </a:ln>
        </p:spPr>
      </p:cxnSp>
      <p:sp>
        <p:nvSpPr>
          <p:cNvPr id="4" name="pilot-node-1">
            <a:extLst xmlns:a="http://schemas.openxmlformats.org/drawingml/2006/main">
              <a:ext uri="{FF2B5EF4-FFF2-40B4-BE49-F238E27FC236}">
                <a16:creationId xmlns:a16="http://schemas.microsoft.com/office/drawing/2014/main" id="{82AA2147-7259-4A46-B490-FB54E410D20E}"/>
              </a:ext>
            </a:extLst>
          </p:cNvPr>
          <p:cNvSpPr>
            <a:spLocks xmlns:a="http://schemas.openxmlformats.org/drawingml/2006/main" noGrp="1"/>
          </p:cNvSpPr>
          <p:nvPr/>
        </p:nvSpPr>
        <p:spPr>
          <a:xfrm xmlns:a="http://schemas.openxmlformats.org/drawingml/2006/main">
            <a:off x="1619250" y="2971800"/>
            <a:ext cx="628650" cy="628650"/>
          </a:xfrm>
          <a:prstGeom xmlns:a="http://schemas.openxmlformats.org/drawingml/2006/main" prst="ellipse">
            <a:avLst/>
          </a:prstGeom>
          <a:solidFill xmlns:a="http://schemas.openxmlformats.org/drawingml/2006/main">
            <a:srgbClr val="FFFFFF"/>
          </a:solidFill>
          <a:ln xmlns:a="http://schemas.openxmlformats.org/drawingml/2006/main" w="38100">
            <a:solidFill>
              <a:srgbClr val="101820"/>
            </a:solidFill>
            <a:prstDash val="solid"/>
          </a:ln>
        </p:spPr>
      </p:sp>
      <p:sp>
        <p:nvSpPr>
          <p:cNvPr id="5" name="pilot-number-1">
            <a:extLst xmlns:a="http://schemas.openxmlformats.org/drawingml/2006/main">
              <a:ext uri="{FF2B5EF4-FFF2-40B4-BE49-F238E27FC236}">
                <a16:creationId xmlns:a16="http://schemas.microsoft.com/office/drawing/2014/main" id="{BE452E06-EBD5-41CE-A09A-3C122DEA5545}"/>
              </a:ext>
            </a:extLst>
          </p:cNvPr>
          <p:cNvSpPr>
            <a:spLocks xmlns:a="http://schemas.openxmlformats.org/drawingml/2006/main" noGrp="1"/>
          </p:cNvSpPr>
          <p:nvPr/>
        </p:nvSpPr>
        <p:spPr>
          <a:xfrm xmlns:a="http://schemas.openxmlformats.org/drawingml/2006/main">
            <a:off x="1619250" y="3143250"/>
            <a:ext cx="62865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101820"/>
                </a:solidFill>
                <a:latin typeface="Helvetica Neue"/>
                <a:ea typeface="Helvetica Neue"/>
                <a:cs typeface="Helvetica Neue"/>
              </a:defRPr>
            </a:pPr>
            <a:r>
              <a:t>1</a:t>
            </a:r>
          </a:p>
        </p:txBody>
      </p:sp>
      <p:sp>
        <p:nvSpPr>
          <p:cNvPr id="6" name="pilot-title-1">
            <a:extLst xmlns:a="http://schemas.openxmlformats.org/drawingml/2006/main">
              <a:ext uri="{FF2B5EF4-FFF2-40B4-BE49-F238E27FC236}">
                <a16:creationId xmlns:a16="http://schemas.microsoft.com/office/drawing/2014/main" id="{0306D44A-99CD-4736-B09C-10887BF0D966}"/>
              </a:ext>
            </a:extLst>
          </p:cNvPr>
          <p:cNvSpPr>
            <a:spLocks xmlns:a="http://schemas.openxmlformats.org/drawingml/2006/main" noGrp="1"/>
          </p:cNvSpPr>
          <p:nvPr/>
        </p:nvSpPr>
        <p:spPr>
          <a:xfrm xmlns:a="http://schemas.openxmlformats.org/drawingml/2006/main">
            <a:off x="1238250" y="4000500"/>
            <a:ext cx="238125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1820"/>
                </a:solidFill>
                <a:latin typeface="Helvetica Neue"/>
                <a:ea typeface="Helvetica Neue"/>
                <a:cs typeface="Helvetica Neue"/>
              </a:defRPr>
            </a:pPr>
            <a:r>
              <a:t>Try it</a:t>
            </a:r>
          </a:p>
        </p:txBody>
      </p:sp>
      <p:sp>
        <p:nvSpPr>
          <p:cNvPr id="7" name="pilot-body-1">
            <a:extLst xmlns:a="http://schemas.openxmlformats.org/drawingml/2006/main">
              <a:ext uri="{FF2B5EF4-FFF2-40B4-BE49-F238E27FC236}">
                <a16:creationId xmlns:a16="http://schemas.microsoft.com/office/drawing/2014/main" id="{6BBE2119-246D-45C3-82BF-AD4BA44B066D}"/>
              </a:ext>
            </a:extLst>
          </p:cNvPr>
          <p:cNvSpPr>
            <a:spLocks xmlns:a="http://schemas.openxmlformats.org/drawingml/2006/main" noGrp="1"/>
          </p:cNvSpPr>
          <p:nvPr/>
        </p:nvSpPr>
        <p:spPr>
          <a:xfrm xmlns:a="http://schemas.openxmlformats.org/drawingml/2006/main">
            <a:off x="1238250" y="4619625"/>
            <a:ext cx="2571750" cy="857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F6B78"/>
                </a:solidFill>
                <a:latin typeface="Helvetica Neue"/>
                <a:ea typeface="Helvetica Neue"/>
                <a:cs typeface="Helvetica Neue"/>
              </a:defRPr>
            </a:pPr>
            <a:r>
              <a:t>Ask a small group of students to use it for real mornings.</a:t>
            </a:r>
          </a:p>
        </p:txBody>
      </p:sp>
      <p:sp>
        <p:nvSpPr>
          <p:cNvPr id="8" name="pilot-node-2">
            <a:extLst xmlns:a="http://schemas.openxmlformats.org/drawingml/2006/main">
              <a:ext uri="{FF2B5EF4-FFF2-40B4-BE49-F238E27FC236}">
                <a16:creationId xmlns:a16="http://schemas.microsoft.com/office/drawing/2014/main" id="{7490A747-A17E-44DA-A686-B4CDEED48FCD}"/>
              </a:ext>
            </a:extLst>
          </p:cNvPr>
          <p:cNvSpPr>
            <a:spLocks xmlns:a="http://schemas.openxmlformats.org/drawingml/2006/main" noGrp="1"/>
          </p:cNvSpPr>
          <p:nvPr/>
        </p:nvSpPr>
        <p:spPr>
          <a:xfrm xmlns:a="http://schemas.openxmlformats.org/drawingml/2006/main">
            <a:off x="4810125" y="2971800"/>
            <a:ext cx="628650" cy="628650"/>
          </a:xfrm>
          <a:prstGeom xmlns:a="http://schemas.openxmlformats.org/drawingml/2006/main" prst="ellipse">
            <a:avLst/>
          </a:prstGeom>
          <a:solidFill xmlns:a="http://schemas.openxmlformats.org/drawingml/2006/main">
            <a:srgbClr val="FFFFFF"/>
          </a:solidFill>
          <a:ln xmlns:a="http://schemas.openxmlformats.org/drawingml/2006/main" w="38100">
            <a:solidFill>
              <a:srgbClr val="101820"/>
            </a:solidFill>
            <a:prstDash val="solid"/>
          </a:ln>
        </p:spPr>
      </p:sp>
      <p:sp>
        <p:nvSpPr>
          <p:cNvPr id="9" name="pilot-number-2">
            <a:extLst xmlns:a="http://schemas.openxmlformats.org/drawingml/2006/main">
              <a:ext uri="{FF2B5EF4-FFF2-40B4-BE49-F238E27FC236}">
                <a16:creationId xmlns:a16="http://schemas.microsoft.com/office/drawing/2014/main" id="{508D491D-EC00-455F-9572-2E5A9237222E}"/>
              </a:ext>
            </a:extLst>
          </p:cNvPr>
          <p:cNvSpPr>
            <a:spLocks xmlns:a="http://schemas.openxmlformats.org/drawingml/2006/main" noGrp="1"/>
          </p:cNvSpPr>
          <p:nvPr/>
        </p:nvSpPr>
        <p:spPr>
          <a:xfrm xmlns:a="http://schemas.openxmlformats.org/drawingml/2006/main">
            <a:off x="4810125" y="3143250"/>
            <a:ext cx="62865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101820"/>
                </a:solidFill>
                <a:latin typeface="Helvetica Neue"/>
                <a:ea typeface="Helvetica Neue"/>
                <a:cs typeface="Helvetica Neue"/>
              </a:defRPr>
            </a:pPr>
            <a:r>
              <a:t>2</a:t>
            </a:r>
          </a:p>
        </p:txBody>
      </p:sp>
      <p:sp>
        <p:nvSpPr>
          <p:cNvPr id="10" name="pilot-title-2">
            <a:extLst xmlns:a="http://schemas.openxmlformats.org/drawingml/2006/main">
              <a:ext uri="{FF2B5EF4-FFF2-40B4-BE49-F238E27FC236}">
                <a16:creationId xmlns:a16="http://schemas.microsoft.com/office/drawing/2014/main" id="{C218AA53-996C-46B8-845D-97F84DA77DFB}"/>
              </a:ext>
            </a:extLst>
          </p:cNvPr>
          <p:cNvSpPr>
            <a:spLocks xmlns:a="http://schemas.openxmlformats.org/drawingml/2006/main" noGrp="1"/>
          </p:cNvSpPr>
          <p:nvPr/>
        </p:nvSpPr>
        <p:spPr>
          <a:xfrm xmlns:a="http://schemas.openxmlformats.org/drawingml/2006/main">
            <a:off x="4429125" y="4000500"/>
            <a:ext cx="238125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1820"/>
                </a:solidFill>
                <a:latin typeface="Helvetica Neue"/>
                <a:ea typeface="Helvetica Neue"/>
                <a:cs typeface="Helvetica Neue"/>
              </a:defRPr>
            </a:pPr>
            <a:r>
              <a:t>Fix stuff</a:t>
            </a:r>
          </a:p>
        </p:txBody>
      </p:sp>
      <p:sp>
        <p:nvSpPr>
          <p:cNvPr id="11" name="pilot-body-2">
            <a:extLst xmlns:a="http://schemas.openxmlformats.org/drawingml/2006/main">
              <a:ext uri="{FF2B5EF4-FFF2-40B4-BE49-F238E27FC236}">
                <a16:creationId xmlns:a16="http://schemas.microsoft.com/office/drawing/2014/main" id="{EB8FF649-5CB9-43A2-811A-ED5CF37DBB47}"/>
              </a:ext>
            </a:extLst>
          </p:cNvPr>
          <p:cNvSpPr>
            <a:spLocks xmlns:a="http://schemas.openxmlformats.org/drawingml/2006/main" noGrp="1"/>
          </p:cNvSpPr>
          <p:nvPr/>
        </p:nvSpPr>
        <p:spPr>
          <a:xfrm xmlns:a="http://schemas.openxmlformats.org/drawingml/2006/main">
            <a:off x="4429125" y="4619625"/>
            <a:ext cx="2571750" cy="857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F6B78"/>
                </a:solidFill>
                <a:latin typeface="Helvetica Neue"/>
                <a:ea typeface="Helvetica Neue"/>
                <a:cs typeface="Helvetica Neue"/>
              </a:defRPr>
            </a:pPr>
            <a:r>
              <a:t>Make setup easier and solve the problems they find.</a:t>
            </a:r>
          </a:p>
        </p:txBody>
      </p:sp>
      <p:sp>
        <p:nvSpPr>
          <p:cNvPr id="12" name="pilot-node-3">
            <a:extLst xmlns:a="http://schemas.openxmlformats.org/drawingml/2006/main">
              <a:ext uri="{FF2B5EF4-FFF2-40B4-BE49-F238E27FC236}">
                <a16:creationId xmlns:a16="http://schemas.microsoft.com/office/drawing/2014/main" id="{011B031D-39FA-49DE-B346-B3353F52CDDC}"/>
              </a:ext>
            </a:extLst>
          </p:cNvPr>
          <p:cNvSpPr>
            <a:spLocks xmlns:a="http://schemas.openxmlformats.org/drawingml/2006/main" noGrp="1"/>
          </p:cNvSpPr>
          <p:nvPr/>
        </p:nvSpPr>
        <p:spPr>
          <a:xfrm xmlns:a="http://schemas.openxmlformats.org/drawingml/2006/main">
            <a:off x="8001000" y="2971800"/>
            <a:ext cx="628650" cy="628650"/>
          </a:xfrm>
          <a:prstGeom xmlns:a="http://schemas.openxmlformats.org/drawingml/2006/main" prst="ellipse">
            <a:avLst/>
          </a:prstGeom>
          <a:solidFill xmlns:a="http://schemas.openxmlformats.org/drawingml/2006/main">
            <a:srgbClr val="20BFA8"/>
          </a:solidFill>
          <a:ln xmlns:a="http://schemas.openxmlformats.org/drawingml/2006/main" w="38100">
            <a:solidFill>
              <a:srgbClr val="20BFA8"/>
            </a:solidFill>
            <a:prstDash val="solid"/>
          </a:ln>
        </p:spPr>
      </p:sp>
      <p:sp>
        <p:nvSpPr>
          <p:cNvPr id="13" name="pilot-number-3">
            <a:extLst xmlns:a="http://schemas.openxmlformats.org/drawingml/2006/main">
              <a:ext uri="{FF2B5EF4-FFF2-40B4-BE49-F238E27FC236}">
                <a16:creationId xmlns:a16="http://schemas.microsoft.com/office/drawing/2014/main" id="{DD1FC11A-D42B-433A-8E9D-84C849942CE5}"/>
              </a:ext>
            </a:extLst>
          </p:cNvPr>
          <p:cNvSpPr>
            <a:spLocks xmlns:a="http://schemas.openxmlformats.org/drawingml/2006/main" noGrp="1"/>
          </p:cNvSpPr>
          <p:nvPr/>
        </p:nvSpPr>
        <p:spPr>
          <a:xfrm xmlns:a="http://schemas.openxmlformats.org/drawingml/2006/main">
            <a:off x="8001000" y="3143250"/>
            <a:ext cx="62865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t>3</a:t>
            </a:r>
          </a:p>
        </p:txBody>
      </p:sp>
      <p:sp>
        <p:nvSpPr>
          <p:cNvPr id="14" name="pilot-title-3">
            <a:extLst xmlns:a="http://schemas.openxmlformats.org/drawingml/2006/main">
              <a:ext uri="{FF2B5EF4-FFF2-40B4-BE49-F238E27FC236}">
                <a16:creationId xmlns:a16="http://schemas.microsoft.com/office/drawing/2014/main" id="{E95958CF-6A1D-4639-A5FF-0741F4C5446A}"/>
              </a:ext>
            </a:extLst>
          </p:cNvPr>
          <p:cNvSpPr>
            <a:spLocks xmlns:a="http://schemas.openxmlformats.org/drawingml/2006/main" noGrp="1"/>
          </p:cNvSpPr>
          <p:nvPr/>
        </p:nvSpPr>
        <p:spPr>
          <a:xfrm xmlns:a="http://schemas.openxmlformats.org/drawingml/2006/main">
            <a:off x="7620000" y="4000500"/>
            <a:ext cx="238125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1820"/>
                </a:solidFill>
                <a:latin typeface="Helvetica Neue"/>
                <a:ea typeface="Helvetica Neue"/>
                <a:cs typeface="Helvetica Neue"/>
              </a:defRPr>
            </a:pPr>
            <a:r>
              <a:t>Share it</a:t>
            </a:r>
          </a:p>
        </p:txBody>
      </p:sp>
      <p:sp>
        <p:nvSpPr>
          <p:cNvPr id="15" name="pilot-body-3">
            <a:extLst xmlns:a="http://schemas.openxmlformats.org/drawingml/2006/main">
              <a:ext uri="{FF2B5EF4-FFF2-40B4-BE49-F238E27FC236}">
                <a16:creationId xmlns:a16="http://schemas.microsoft.com/office/drawing/2014/main" id="{EAD05918-1A58-4B8D-9183-63CC385AC469}"/>
              </a:ext>
            </a:extLst>
          </p:cNvPr>
          <p:cNvSpPr>
            <a:spLocks xmlns:a="http://schemas.openxmlformats.org/drawingml/2006/main" noGrp="1"/>
          </p:cNvSpPr>
          <p:nvPr/>
        </p:nvSpPr>
        <p:spPr>
          <a:xfrm xmlns:a="http://schemas.openxmlformats.org/drawingml/2006/main">
            <a:off x="7620000" y="4619625"/>
            <a:ext cx="2571750" cy="857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F6B78"/>
                </a:solidFill>
                <a:latin typeface="Helvetica Neue"/>
                <a:ea typeface="Helvetica Neue"/>
                <a:cs typeface="Helvetica Neue"/>
              </a:defRPr>
            </a:pPr>
            <a:r>
              <a:t>If it works, show it to more students and schools.</a:t>
            </a:r>
          </a:p>
        </p:txBody>
      </p:sp>
      <p:sp>
        <p:nvSpPr>
          <p:cNvPr id="16" name="pilot-bottom">
            <a:extLst xmlns:a="http://schemas.openxmlformats.org/drawingml/2006/main">
              <a:ext uri="{FF2B5EF4-FFF2-40B4-BE49-F238E27FC236}">
                <a16:creationId xmlns:a16="http://schemas.microsoft.com/office/drawing/2014/main" id="{F33D4A18-339E-4651-B0FA-302C7A44B35B}"/>
              </a:ext>
            </a:extLst>
          </p:cNvPr>
          <p:cNvSpPr>
            <a:spLocks xmlns:a="http://schemas.openxmlformats.org/drawingml/2006/main" noGrp="1"/>
          </p:cNvSpPr>
          <p:nvPr/>
        </p:nvSpPr>
        <p:spPr>
          <a:xfrm xmlns:a="http://schemas.openxmlformats.org/drawingml/2006/main">
            <a:off x="457200" y="5905500"/>
            <a:ext cx="95250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E756A"/>
                </a:solidFill>
                <a:latin typeface="Helvetica Neue"/>
                <a:ea typeface="Helvetica Neue"/>
                <a:cs typeface="Helvetica Neue"/>
              </a:defRPr>
            </a:pPr>
            <a:r>
              <a:t>Small launch = easier feedback and fewer giant mistakes.</a:t>
            </a:r>
          </a:p>
        </p:txBody>
      </p:sp>
      <p:sp>
        <p:nvSpPr>
          <p:cNvPr id="17" name="page-5">
            <a:extLst xmlns:a="http://schemas.openxmlformats.org/drawingml/2006/main">
              <a:ext uri="{FF2B5EF4-FFF2-40B4-BE49-F238E27FC236}">
                <a16:creationId xmlns:a16="http://schemas.microsoft.com/office/drawing/2014/main" id="{FA467413-00F7-4ACE-9FCC-4E8980F51144}"/>
              </a:ext>
            </a:extLst>
          </p:cNvPr>
          <p:cNvSpPr>
            <a:spLocks xmlns:a="http://schemas.openxmlformats.org/drawingml/2006/main" noGrp="1"/>
          </p:cNvSpPr>
          <p:nvPr/>
        </p:nvSpPr>
        <p:spPr>
          <a:xfrm xmlns:a="http://schemas.openxmlformats.org/drawingml/2006/main">
            <a:off x="11334750" y="6305550"/>
            <a:ext cx="400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B78"/>
                </a:solidFill>
                <a:latin typeface="Helvetica Neue"/>
                <a:ea typeface="Helvetica Neue"/>
                <a:cs typeface="Helvetica Neue"/>
              </a:defRPr>
            </a:pPr>
            <a:r>
              <a:t>5</a:t>
            </a:r>
          </a:p>
        </p:txBody>
      </p:sp>
    </p:spTree>
    <p:extLst>
      <p:ext uri="{BB962C8B-B14F-4D97-AF65-F5344CB8AC3E}">
        <p14:creationId xmlns:p14="http://schemas.microsoft.com/office/powerpoint/2010/main" val="19251900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eyebrow-6">
            <a:extLst xmlns:a="http://schemas.openxmlformats.org/drawingml/2006/main">
              <a:ext uri="{FF2B5EF4-FFF2-40B4-BE49-F238E27FC236}">
                <a16:creationId xmlns:a16="http://schemas.microsoft.com/office/drawing/2014/main" id="{CC93FC5D-896A-434B-BA84-6EFAD2B2BBF5}"/>
              </a:ext>
            </a:extLst>
          </p:cNvPr>
          <p:cNvSpPr>
            <a:spLocks xmlns:a="http://schemas.openxmlformats.org/drawingml/2006/main" noGrp="1"/>
          </p:cNvSpPr>
          <p:nvPr/>
        </p:nvSpPr>
        <p:spPr>
          <a:xfrm xmlns:a="http://schemas.openxmlformats.org/drawingml/2006/main">
            <a:off x="457200" y="342900"/>
            <a:ext cx="409575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MANUFACTURING</a:t>
            </a:r>
          </a:p>
        </p:txBody>
      </p:sp>
      <p:sp>
        <p:nvSpPr>
          <p:cNvPr id="2" name="title-6">
            <a:extLst xmlns:a="http://schemas.openxmlformats.org/drawingml/2006/main">
              <a:ext uri="{FF2B5EF4-FFF2-40B4-BE49-F238E27FC236}">
                <a16:creationId xmlns:a16="http://schemas.microsoft.com/office/drawing/2014/main" id="{A15FAB0B-3781-4C0D-97D7-90CA74EC4054}"/>
              </a:ext>
            </a:extLst>
          </p:cNvPr>
          <p:cNvSpPr>
            <a:spLocks xmlns:a="http://schemas.openxmlformats.org/drawingml/2006/main" noGrp="1"/>
          </p:cNvSpPr>
          <p:nvPr/>
        </p:nvSpPr>
        <p:spPr>
          <a:xfrm xmlns:a="http://schemas.openxmlformats.org/drawingml/2006/main">
            <a:off x="457200" y="704850"/>
            <a:ext cx="11125200" cy="857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820"/>
                </a:solidFill>
                <a:latin typeface="Helvetica Neue"/>
                <a:ea typeface="Helvetica Neue"/>
                <a:cs typeface="Helvetica Neue"/>
              </a:defRPr>
            </a:pPr>
            <a:r>
              <a:t>Making an app is basically a loop.</a:t>
            </a:r>
          </a:p>
        </p:txBody>
      </p:sp>
      <p:sp>
        <p:nvSpPr>
          <p:cNvPr id="3" name="factory-intro">
            <a:extLst xmlns:a="http://schemas.openxmlformats.org/drawingml/2006/main">
              <a:ext uri="{FF2B5EF4-FFF2-40B4-BE49-F238E27FC236}">
                <a16:creationId xmlns:a16="http://schemas.microsoft.com/office/drawing/2014/main" id="{EA0E971E-EC52-4C91-A1CD-C0AD593665C9}"/>
              </a:ext>
            </a:extLst>
          </p:cNvPr>
          <p:cNvSpPr>
            <a:spLocks xmlns:a="http://schemas.openxmlformats.org/drawingml/2006/main" noGrp="1"/>
          </p:cNvSpPr>
          <p:nvPr/>
        </p:nvSpPr>
        <p:spPr>
          <a:xfrm xmlns:a="http://schemas.openxmlformats.org/drawingml/2006/main">
            <a:off x="457200" y="1428750"/>
            <a:ext cx="66675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F6B78"/>
                </a:solidFill>
                <a:latin typeface="Helvetica Neue"/>
                <a:ea typeface="Helvetica Neue"/>
                <a:cs typeface="Helvetica Neue"/>
              </a:defRPr>
            </a:pPr>
            <a:r>
              <a:t>We keep going through the same four steps.</a:t>
            </a:r>
          </a:p>
        </p:txBody>
      </p:sp>
      <p:cxnSp>
        <p:nvCxnSpPr>
          <p:cNvPr id="26" name="factory-line"/>
          <p:cNvCxnSpPr/>
          <p:nvPr/>
        </p:nvCxnSpPr>
        <p:spPr>
          <a:xfrm xmlns:a="http://schemas.openxmlformats.org/drawingml/2006/main">
            <a:off x="1428750" y="3333750"/>
            <a:ext cx="8858250" cy="286"/>
          </a:xfrm>
          <a:prstGeom xmlns:a="http://schemas.openxmlformats.org/drawingml/2006/main" prst="straightConnector1">
            <a:avLst/>
          </a:prstGeom>
          <a:ln xmlns:a="http://schemas.openxmlformats.org/drawingml/2006/main" w="38100">
            <a:solidFill>
              <a:srgbClr val="BBC5C8"/>
            </a:solidFill>
            <a:prstDash val="solid"/>
          </a:ln>
        </p:spPr>
      </p:cxnSp>
      <p:sp>
        <p:nvSpPr>
          <p:cNvPr id="5" name="factory-node-1">
            <a:extLst xmlns:a="http://schemas.openxmlformats.org/drawingml/2006/main">
              <a:ext uri="{FF2B5EF4-FFF2-40B4-BE49-F238E27FC236}">
                <a16:creationId xmlns:a16="http://schemas.microsoft.com/office/drawing/2014/main" id="{196FB9CD-A378-4834-8EE7-B1018E1D0796}"/>
              </a:ext>
            </a:extLst>
          </p:cNvPr>
          <p:cNvSpPr>
            <a:spLocks xmlns:a="http://schemas.openxmlformats.org/drawingml/2006/main" noGrp="1"/>
          </p:cNvSpPr>
          <p:nvPr/>
        </p:nvSpPr>
        <p:spPr>
          <a:xfrm xmlns:a="http://schemas.openxmlformats.org/drawingml/2006/main">
            <a:off x="1381125" y="2990850"/>
            <a:ext cx="685800" cy="685800"/>
          </a:xfrm>
          <a:prstGeom xmlns:a="http://schemas.openxmlformats.org/drawingml/2006/main" prst="ellipse">
            <a:avLst/>
          </a:prstGeom>
          <a:solidFill xmlns:a="http://schemas.openxmlformats.org/drawingml/2006/main">
            <a:srgbClr val="FFFFFF"/>
          </a:solidFill>
          <a:ln xmlns:a="http://schemas.openxmlformats.org/drawingml/2006/main" w="38100">
            <a:solidFill>
              <a:srgbClr val="101820"/>
            </a:solidFill>
            <a:prstDash val="solid"/>
          </a:ln>
        </p:spPr>
      </p:sp>
      <p:sp>
        <p:nvSpPr>
          <p:cNvPr id="6" name="factory-number-1">
            <a:extLst xmlns:a="http://schemas.openxmlformats.org/drawingml/2006/main">
              <a:ext uri="{FF2B5EF4-FFF2-40B4-BE49-F238E27FC236}">
                <a16:creationId xmlns:a16="http://schemas.microsoft.com/office/drawing/2014/main" id="{389409E2-B308-45FB-B052-EFFDEFA90EFE}"/>
              </a:ext>
            </a:extLst>
          </p:cNvPr>
          <p:cNvSpPr>
            <a:spLocks xmlns:a="http://schemas.openxmlformats.org/drawingml/2006/main" noGrp="1"/>
          </p:cNvSpPr>
          <p:nvPr/>
        </p:nvSpPr>
        <p:spPr>
          <a:xfrm xmlns:a="http://schemas.openxmlformats.org/drawingml/2006/main">
            <a:off x="1381125" y="3181350"/>
            <a:ext cx="6858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101820"/>
                </a:solidFill>
                <a:latin typeface="Helvetica Neue"/>
                <a:ea typeface="Helvetica Neue"/>
                <a:cs typeface="Helvetica Neue"/>
              </a:defRPr>
            </a:pPr>
            <a:r>
              <a:t>1</a:t>
            </a:r>
          </a:p>
        </p:txBody>
      </p:sp>
      <p:sp>
        <p:nvSpPr>
          <p:cNvPr id="7" name="factory-label-1">
            <a:extLst xmlns:a="http://schemas.openxmlformats.org/drawingml/2006/main">
              <a:ext uri="{FF2B5EF4-FFF2-40B4-BE49-F238E27FC236}">
                <a16:creationId xmlns:a16="http://schemas.microsoft.com/office/drawing/2014/main" id="{451D6E0A-875D-48D5-BA81-880C3C1206F6}"/>
              </a:ext>
            </a:extLst>
          </p:cNvPr>
          <p:cNvSpPr>
            <a:spLocks xmlns:a="http://schemas.openxmlformats.org/drawingml/2006/main" noGrp="1"/>
          </p:cNvSpPr>
          <p:nvPr/>
        </p:nvSpPr>
        <p:spPr>
          <a:xfrm xmlns:a="http://schemas.openxmlformats.org/drawingml/2006/main">
            <a:off x="857250" y="4048125"/>
            <a:ext cx="1762125"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101820"/>
                </a:solidFill>
                <a:latin typeface="Helvetica Neue"/>
                <a:ea typeface="Helvetica Neue"/>
                <a:cs typeface="Helvetica Neue"/>
              </a:defRPr>
            </a:pPr>
            <a:r>
              <a:t>PLAN</a:t>
            </a:r>
          </a:p>
        </p:txBody>
      </p:sp>
      <p:sp>
        <p:nvSpPr>
          <p:cNvPr id="8" name="factory-body-1">
            <a:extLst xmlns:a="http://schemas.openxmlformats.org/drawingml/2006/main">
              <a:ext uri="{FF2B5EF4-FFF2-40B4-BE49-F238E27FC236}">
                <a16:creationId xmlns:a16="http://schemas.microsoft.com/office/drawing/2014/main" id="{AE5B8AC3-15AB-42C6-A612-4C704D6DF0B6}"/>
              </a:ext>
            </a:extLst>
          </p:cNvPr>
          <p:cNvSpPr>
            <a:spLocks xmlns:a="http://schemas.openxmlformats.org/drawingml/2006/main" noGrp="1"/>
          </p:cNvSpPr>
          <p:nvPr/>
        </p:nvSpPr>
        <p:spPr>
          <a:xfrm xmlns:a="http://schemas.openxmlformats.org/drawingml/2006/main">
            <a:off x="714375" y="4457700"/>
            <a:ext cx="2047875"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5F6B78"/>
                </a:solidFill>
                <a:latin typeface="Helvetica Neue"/>
                <a:ea typeface="Helvetica Neue"/>
                <a:cs typeface="Helvetica Neue"/>
              </a:defRPr>
            </a:pPr>
            <a:r>
              <a:t>Choose what the next version needs</a:t>
            </a:r>
          </a:p>
        </p:txBody>
      </p:sp>
      <p:sp>
        <p:nvSpPr>
          <p:cNvPr id="9" name="factory-node-2">
            <a:extLst xmlns:a="http://schemas.openxmlformats.org/drawingml/2006/main">
              <a:ext uri="{FF2B5EF4-FFF2-40B4-BE49-F238E27FC236}">
                <a16:creationId xmlns:a16="http://schemas.microsoft.com/office/drawing/2014/main" id="{F3E64353-9E5B-4428-8173-A77C822611C1}"/>
              </a:ext>
            </a:extLst>
          </p:cNvPr>
          <p:cNvSpPr>
            <a:spLocks xmlns:a="http://schemas.openxmlformats.org/drawingml/2006/main" noGrp="1"/>
          </p:cNvSpPr>
          <p:nvPr/>
        </p:nvSpPr>
        <p:spPr>
          <a:xfrm xmlns:a="http://schemas.openxmlformats.org/drawingml/2006/main">
            <a:off x="4143375" y="2990850"/>
            <a:ext cx="685800" cy="685800"/>
          </a:xfrm>
          <a:prstGeom xmlns:a="http://schemas.openxmlformats.org/drawingml/2006/main" prst="ellipse">
            <a:avLst/>
          </a:prstGeom>
          <a:solidFill xmlns:a="http://schemas.openxmlformats.org/drawingml/2006/main">
            <a:srgbClr val="FFFFFF"/>
          </a:solidFill>
          <a:ln xmlns:a="http://schemas.openxmlformats.org/drawingml/2006/main" w="38100">
            <a:solidFill>
              <a:srgbClr val="101820"/>
            </a:solidFill>
            <a:prstDash val="solid"/>
          </a:ln>
        </p:spPr>
      </p:sp>
      <p:sp>
        <p:nvSpPr>
          <p:cNvPr id="10" name="factory-number-2">
            <a:extLst xmlns:a="http://schemas.openxmlformats.org/drawingml/2006/main">
              <a:ext uri="{FF2B5EF4-FFF2-40B4-BE49-F238E27FC236}">
                <a16:creationId xmlns:a16="http://schemas.microsoft.com/office/drawing/2014/main" id="{03C5E919-B5D3-477E-99C8-3AA7E9E21555}"/>
              </a:ext>
            </a:extLst>
          </p:cNvPr>
          <p:cNvSpPr>
            <a:spLocks xmlns:a="http://schemas.openxmlformats.org/drawingml/2006/main" noGrp="1"/>
          </p:cNvSpPr>
          <p:nvPr/>
        </p:nvSpPr>
        <p:spPr>
          <a:xfrm xmlns:a="http://schemas.openxmlformats.org/drawingml/2006/main">
            <a:off x="4143375" y="3181350"/>
            <a:ext cx="6858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101820"/>
                </a:solidFill>
                <a:latin typeface="Helvetica Neue"/>
                <a:ea typeface="Helvetica Neue"/>
                <a:cs typeface="Helvetica Neue"/>
              </a:defRPr>
            </a:pPr>
            <a:r>
              <a:t>2</a:t>
            </a:r>
          </a:p>
        </p:txBody>
      </p:sp>
      <p:sp>
        <p:nvSpPr>
          <p:cNvPr id="11" name="factory-label-2">
            <a:extLst xmlns:a="http://schemas.openxmlformats.org/drawingml/2006/main">
              <a:ext uri="{FF2B5EF4-FFF2-40B4-BE49-F238E27FC236}">
                <a16:creationId xmlns:a16="http://schemas.microsoft.com/office/drawing/2014/main" id="{51F44C5D-5A06-4267-8958-0912F0DD85A4}"/>
              </a:ext>
            </a:extLst>
          </p:cNvPr>
          <p:cNvSpPr>
            <a:spLocks xmlns:a="http://schemas.openxmlformats.org/drawingml/2006/main" noGrp="1"/>
          </p:cNvSpPr>
          <p:nvPr/>
        </p:nvSpPr>
        <p:spPr>
          <a:xfrm xmlns:a="http://schemas.openxmlformats.org/drawingml/2006/main">
            <a:off x="3619500" y="4048125"/>
            <a:ext cx="1762125"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101820"/>
                </a:solidFill>
                <a:latin typeface="Helvetica Neue"/>
                <a:ea typeface="Helvetica Neue"/>
                <a:cs typeface="Helvetica Neue"/>
              </a:defRPr>
            </a:pPr>
            <a:r>
              <a:t>CODE</a:t>
            </a:r>
          </a:p>
        </p:txBody>
      </p:sp>
      <p:sp>
        <p:nvSpPr>
          <p:cNvPr id="12" name="factory-body-2">
            <a:extLst xmlns:a="http://schemas.openxmlformats.org/drawingml/2006/main">
              <a:ext uri="{FF2B5EF4-FFF2-40B4-BE49-F238E27FC236}">
                <a16:creationId xmlns:a16="http://schemas.microsoft.com/office/drawing/2014/main" id="{F45B3FAD-53EE-4EA9-BFEF-FAFB0943A967}"/>
              </a:ext>
            </a:extLst>
          </p:cNvPr>
          <p:cNvSpPr>
            <a:spLocks xmlns:a="http://schemas.openxmlformats.org/drawingml/2006/main" noGrp="1"/>
          </p:cNvSpPr>
          <p:nvPr/>
        </p:nvSpPr>
        <p:spPr>
          <a:xfrm xmlns:a="http://schemas.openxmlformats.org/drawingml/2006/main">
            <a:off x="3476625" y="4457700"/>
            <a:ext cx="2047875"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5F6B78"/>
                </a:solidFill>
                <a:latin typeface="Helvetica Neue"/>
                <a:ea typeface="Helvetica Neue"/>
                <a:cs typeface="Helvetica Neue"/>
              </a:defRPr>
            </a:pPr>
            <a:r>
              <a:t>Build the screens and timing rules</a:t>
            </a:r>
          </a:p>
        </p:txBody>
      </p:sp>
      <p:sp>
        <p:nvSpPr>
          <p:cNvPr id="13" name="factory-node-3">
            <a:extLst xmlns:a="http://schemas.openxmlformats.org/drawingml/2006/main">
              <a:ext uri="{FF2B5EF4-FFF2-40B4-BE49-F238E27FC236}">
                <a16:creationId xmlns:a16="http://schemas.microsoft.com/office/drawing/2014/main" id="{63FC0E4E-E0AE-4C2A-9642-4584D4170CFD}"/>
              </a:ext>
            </a:extLst>
          </p:cNvPr>
          <p:cNvSpPr>
            <a:spLocks xmlns:a="http://schemas.openxmlformats.org/drawingml/2006/main" noGrp="1"/>
          </p:cNvSpPr>
          <p:nvPr/>
        </p:nvSpPr>
        <p:spPr>
          <a:xfrm xmlns:a="http://schemas.openxmlformats.org/drawingml/2006/main">
            <a:off x="6905625" y="2990850"/>
            <a:ext cx="685800" cy="685800"/>
          </a:xfrm>
          <a:prstGeom xmlns:a="http://schemas.openxmlformats.org/drawingml/2006/main" prst="ellipse">
            <a:avLst/>
          </a:prstGeom>
          <a:solidFill xmlns:a="http://schemas.openxmlformats.org/drawingml/2006/main">
            <a:srgbClr val="FFFFFF"/>
          </a:solidFill>
          <a:ln xmlns:a="http://schemas.openxmlformats.org/drawingml/2006/main" w="38100">
            <a:solidFill>
              <a:srgbClr val="101820"/>
            </a:solidFill>
            <a:prstDash val="solid"/>
          </a:ln>
        </p:spPr>
      </p:sp>
      <p:sp>
        <p:nvSpPr>
          <p:cNvPr id="14" name="factory-number-3">
            <a:extLst xmlns:a="http://schemas.openxmlformats.org/drawingml/2006/main">
              <a:ext uri="{FF2B5EF4-FFF2-40B4-BE49-F238E27FC236}">
                <a16:creationId xmlns:a16="http://schemas.microsoft.com/office/drawing/2014/main" id="{3B85CC33-1602-427B-9123-93E0F8CA6B33}"/>
              </a:ext>
            </a:extLst>
          </p:cNvPr>
          <p:cNvSpPr>
            <a:spLocks xmlns:a="http://schemas.openxmlformats.org/drawingml/2006/main" noGrp="1"/>
          </p:cNvSpPr>
          <p:nvPr/>
        </p:nvSpPr>
        <p:spPr>
          <a:xfrm xmlns:a="http://schemas.openxmlformats.org/drawingml/2006/main">
            <a:off x="6905625" y="3181350"/>
            <a:ext cx="6858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101820"/>
                </a:solidFill>
                <a:latin typeface="Helvetica Neue"/>
                <a:ea typeface="Helvetica Neue"/>
                <a:cs typeface="Helvetica Neue"/>
              </a:defRPr>
            </a:pPr>
            <a:r>
              <a:t>3</a:t>
            </a:r>
          </a:p>
        </p:txBody>
      </p:sp>
      <p:sp>
        <p:nvSpPr>
          <p:cNvPr id="15" name="factory-label-3">
            <a:extLst xmlns:a="http://schemas.openxmlformats.org/drawingml/2006/main">
              <a:ext uri="{FF2B5EF4-FFF2-40B4-BE49-F238E27FC236}">
                <a16:creationId xmlns:a16="http://schemas.microsoft.com/office/drawing/2014/main" id="{18363572-94C2-47AA-95F0-9D0990A8662D}"/>
              </a:ext>
            </a:extLst>
          </p:cNvPr>
          <p:cNvSpPr>
            <a:spLocks xmlns:a="http://schemas.openxmlformats.org/drawingml/2006/main" noGrp="1"/>
          </p:cNvSpPr>
          <p:nvPr/>
        </p:nvSpPr>
        <p:spPr>
          <a:xfrm xmlns:a="http://schemas.openxmlformats.org/drawingml/2006/main">
            <a:off x="6381750" y="4048125"/>
            <a:ext cx="1762125"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101820"/>
                </a:solidFill>
                <a:latin typeface="Helvetica Neue"/>
                <a:ea typeface="Helvetica Neue"/>
                <a:cs typeface="Helvetica Neue"/>
              </a:defRPr>
            </a:pPr>
            <a:r>
              <a:t>TEST</a:t>
            </a:r>
          </a:p>
        </p:txBody>
      </p:sp>
      <p:sp>
        <p:nvSpPr>
          <p:cNvPr id="16" name="factory-body-3">
            <a:extLst xmlns:a="http://schemas.openxmlformats.org/drawingml/2006/main">
              <a:ext uri="{FF2B5EF4-FFF2-40B4-BE49-F238E27FC236}">
                <a16:creationId xmlns:a16="http://schemas.microsoft.com/office/drawing/2014/main" id="{382723E3-9459-47BD-BE5F-03AE5BD5B296}"/>
              </a:ext>
            </a:extLst>
          </p:cNvPr>
          <p:cNvSpPr>
            <a:spLocks xmlns:a="http://schemas.openxmlformats.org/drawingml/2006/main" noGrp="1"/>
          </p:cNvSpPr>
          <p:nvPr/>
        </p:nvSpPr>
        <p:spPr>
          <a:xfrm xmlns:a="http://schemas.openxmlformats.org/drawingml/2006/main">
            <a:off x="6238875" y="4457700"/>
            <a:ext cx="2047875"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5F6B78"/>
                </a:solidFill>
                <a:latin typeface="Helvetica Neue"/>
                <a:ea typeface="Helvetica Neue"/>
                <a:cs typeface="Helvetica Neue"/>
              </a:defRPr>
            </a:pPr>
            <a:r>
              <a:t>Check the math and real alarms</a:t>
            </a:r>
          </a:p>
        </p:txBody>
      </p:sp>
      <p:sp>
        <p:nvSpPr>
          <p:cNvPr id="17" name="factory-node-4">
            <a:extLst xmlns:a="http://schemas.openxmlformats.org/drawingml/2006/main">
              <a:ext uri="{FF2B5EF4-FFF2-40B4-BE49-F238E27FC236}">
                <a16:creationId xmlns:a16="http://schemas.microsoft.com/office/drawing/2014/main" id="{A6B38D0A-DC96-4A70-9F53-57564F48402A}"/>
              </a:ext>
            </a:extLst>
          </p:cNvPr>
          <p:cNvSpPr>
            <a:spLocks xmlns:a="http://schemas.openxmlformats.org/drawingml/2006/main" noGrp="1"/>
          </p:cNvSpPr>
          <p:nvPr/>
        </p:nvSpPr>
        <p:spPr>
          <a:xfrm xmlns:a="http://schemas.openxmlformats.org/drawingml/2006/main">
            <a:off x="9667875" y="2990850"/>
            <a:ext cx="685800" cy="685800"/>
          </a:xfrm>
          <a:prstGeom xmlns:a="http://schemas.openxmlformats.org/drawingml/2006/main" prst="ellipse">
            <a:avLst/>
          </a:prstGeom>
          <a:solidFill xmlns:a="http://schemas.openxmlformats.org/drawingml/2006/main">
            <a:srgbClr val="20BFA8"/>
          </a:solidFill>
          <a:ln xmlns:a="http://schemas.openxmlformats.org/drawingml/2006/main" w="38100">
            <a:solidFill>
              <a:srgbClr val="20BFA8"/>
            </a:solidFill>
            <a:prstDash val="solid"/>
          </a:ln>
        </p:spPr>
      </p:sp>
      <p:sp>
        <p:nvSpPr>
          <p:cNvPr id="18" name="factory-number-4">
            <a:extLst xmlns:a="http://schemas.openxmlformats.org/drawingml/2006/main">
              <a:ext uri="{FF2B5EF4-FFF2-40B4-BE49-F238E27FC236}">
                <a16:creationId xmlns:a16="http://schemas.microsoft.com/office/drawing/2014/main" id="{33A96FCB-10BB-4C98-AD2E-975E473F463C}"/>
              </a:ext>
            </a:extLst>
          </p:cNvPr>
          <p:cNvSpPr>
            <a:spLocks xmlns:a="http://schemas.openxmlformats.org/drawingml/2006/main" noGrp="1"/>
          </p:cNvSpPr>
          <p:nvPr/>
        </p:nvSpPr>
        <p:spPr>
          <a:xfrm xmlns:a="http://schemas.openxmlformats.org/drawingml/2006/main">
            <a:off x="9667875" y="3181350"/>
            <a:ext cx="6858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t>4</a:t>
            </a:r>
          </a:p>
        </p:txBody>
      </p:sp>
      <p:sp>
        <p:nvSpPr>
          <p:cNvPr id="19" name="factory-label-4">
            <a:extLst xmlns:a="http://schemas.openxmlformats.org/drawingml/2006/main">
              <a:ext uri="{FF2B5EF4-FFF2-40B4-BE49-F238E27FC236}">
                <a16:creationId xmlns:a16="http://schemas.microsoft.com/office/drawing/2014/main" id="{228FF4FF-8E8C-4295-922F-BF05ECC465C9}"/>
              </a:ext>
            </a:extLst>
          </p:cNvPr>
          <p:cNvSpPr>
            <a:spLocks xmlns:a="http://schemas.openxmlformats.org/drawingml/2006/main" noGrp="1"/>
          </p:cNvSpPr>
          <p:nvPr/>
        </p:nvSpPr>
        <p:spPr>
          <a:xfrm xmlns:a="http://schemas.openxmlformats.org/drawingml/2006/main">
            <a:off x="9144000" y="4048125"/>
            <a:ext cx="1762125"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E756A"/>
                </a:solidFill>
                <a:latin typeface="Helvetica Neue"/>
                <a:ea typeface="Helvetica Neue"/>
                <a:cs typeface="Helvetica Neue"/>
              </a:defRPr>
            </a:pPr>
            <a:r>
              <a:t>RELEASE</a:t>
            </a:r>
          </a:p>
        </p:txBody>
      </p:sp>
      <p:sp>
        <p:nvSpPr>
          <p:cNvPr id="20" name="factory-body-4">
            <a:extLst xmlns:a="http://schemas.openxmlformats.org/drawingml/2006/main">
              <a:ext uri="{FF2B5EF4-FFF2-40B4-BE49-F238E27FC236}">
                <a16:creationId xmlns:a16="http://schemas.microsoft.com/office/drawing/2014/main" id="{35F2DA7C-6497-4FA8-B0AE-AB9B01D5D1B4}"/>
              </a:ext>
            </a:extLst>
          </p:cNvPr>
          <p:cNvSpPr>
            <a:spLocks xmlns:a="http://schemas.openxmlformats.org/drawingml/2006/main" noGrp="1"/>
          </p:cNvSpPr>
          <p:nvPr/>
        </p:nvSpPr>
        <p:spPr>
          <a:xfrm xmlns:a="http://schemas.openxmlformats.org/drawingml/2006/main">
            <a:off x="9001125" y="4457700"/>
            <a:ext cx="2047875"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5F6B78"/>
                </a:solidFill>
                <a:latin typeface="Helvetica Neue"/>
                <a:ea typeface="Helvetica Neue"/>
                <a:cs typeface="Helvetica Neue"/>
              </a:defRPr>
            </a:pPr>
            <a:r>
              <a:t>Send it to phones and the web</a:t>
            </a:r>
          </a:p>
        </p:txBody>
      </p:sp>
      <p:sp>
        <p:nvSpPr>
          <p:cNvPr id="21" name="factory-repeat">
            <a:extLst xmlns:a="http://schemas.openxmlformats.org/drawingml/2006/main">
              <a:ext uri="{FF2B5EF4-FFF2-40B4-BE49-F238E27FC236}">
                <a16:creationId xmlns:a16="http://schemas.microsoft.com/office/drawing/2014/main" id="{07A81EA9-C65F-4EA8-A35A-63EAD72A081A}"/>
              </a:ext>
            </a:extLst>
          </p:cNvPr>
          <p:cNvSpPr>
            <a:spLocks xmlns:a="http://schemas.openxmlformats.org/drawingml/2006/main" noGrp="1"/>
          </p:cNvSpPr>
          <p:nvPr/>
        </p:nvSpPr>
        <p:spPr>
          <a:xfrm xmlns:a="http://schemas.openxmlformats.org/drawingml/2006/main">
            <a:off x="457200" y="5857875"/>
            <a:ext cx="6858000" cy="361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E756A"/>
                </a:solidFill>
                <a:latin typeface="Helvetica Neue"/>
                <a:ea typeface="Helvetica Neue"/>
                <a:cs typeface="Helvetica Neue"/>
              </a:defRPr>
            </a:pPr>
            <a:r>
              <a:t>Then feedback starts the next version.</a:t>
            </a:r>
          </a:p>
        </p:txBody>
      </p:sp>
      <p:sp>
        <p:nvSpPr>
          <p:cNvPr id="22" name="page-6">
            <a:extLst xmlns:a="http://schemas.openxmlformats.org/drawingml/2006/main">
              <a:ext uri="{FF2B5EF4-FFF2-40B4-BE49-F238E27FC236}">
                <a16:creationId xmlns:a16="http://schemas.microsoft.com/office/drawing/2014/main" id="{05A378F5-1A83-49CA-9196-511DB16D6E34}"/>
              </a:ext>
            </a:extLst>
          </p:cNvPr>
          <p:cNvSpPr>
            <a:spLocks xmlns:a="http://schemas.openxmlformats.org/drawingml/2006/main" noGrp="1"/>
          </p:cNvSpPr>
          <p:nvPr/>
        </p:nvSpPr>
        <p:spPr>
          <a:xfrm xmlns:a="http://schemas.openxmlformats.org/drawingml/2006/main">
            <a:off x="11334750" y="6305550"/>
            <a:ext cx="400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B78"/>
                </a:solidFill>
                <a:latin typeface="Helvetica Neue"/>
                <a:ea typeface="Helvetica Neue"/>
                <a:cs typeface="Helvetica Neue"/>
              </a:defRPr>
            </a:pPr>
            <a:r>
              <a:t>6</a:t>
            </a:r>
          </a:p>
        </p:txBody>
      </p:sp>
    </p:spTree>
    <p:extLst>
      <p:ext uri="{BB962C8B-B14F-4D97-AF65-F5344CB8AC3E}">
        <p14:creationId xmlns:p14="http://schemas.microsoft.com/office/powerpoint/2010/main" val="4789528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eyebrow-7">
            <a:extLst xmlns:a="http://schemas.openxmlformats.org/drawingml/2006/main">
              <a:ext uri="{FF2B5EF4-FFF2-40B4-BE49-F238E27FC236}">
                <a16:creationId xmlns:a16="http://schemas.microsoft.com/office/drawing/2014/main" id="{B3AC6BAA-1229-43A6-9C72-812BA6A89A75}"/>
              </a:ext>
            </a:extLst>
          </p:cNvPr>
          <p:cNvSpPr>
            <a:spLocks xmlns:a="http://schemas.openxmlformats.org/drawingml/2006/main" noGrp="1"/>
          </p:cNvSpPr>
          <p:nvPr/>
        </p:nvSpPr>
        <p:spPr>
          <a:xfrm xmlns:a="http://schemas.openxmlformats.org/drawingml/2006/main">
            <a:off x="457200" y="342900"/>
            <a:ext cx="409575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TESTING AND RELEASE</a:t>
            </a:r>
          </a:p>
        </p:txBody>
      </p:sp>
      <p:sp>
        <p:nvSpPr>
          <p:cNvPr id="2" name="title-7">
            <a:extLst xmlns:a="http://schemas.openxmlformats.org/drawingml/2006/main">
              <a:ext uri="{FF2B5EF4-FFF2-40B4-BE49-F238E27FC236}">
                <a16:creationId xmlns:a16="http://schemas.microsoft.com/office/drawing/2014/main" id="{97F56753-2D1C-4849-AC65-3C1B546F799B}"/>
              </a:ext>
            </a:extLst>
          </p:cNvPr>
          <p:cNvSpPr>
            <a:spLocks xmlns:a="http://schemas.openxmlformats.org/drawingml/2006/main" noGrp="1"/>
          </p:cNvSpPr>
          <p:nvPr/>
        </p:nvSpPr>
        <p:spPr>
          <a:xfrm xmlns:a="http://schemas.openxmlformats.org/drawingml/2006/main">
            <a:off x="457200" y="704850"/>
            <a:ext cx="11125200" cy="857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820"/>
                </a:solidFill>
                <a:latin typeface="Helvetica Neue"/>
                <a:ea typeface="Helvetica Neue"/>
                <a:cs typeface="Helvetica Neue"/>
              </a:defRPr>
            </a:pPr>
            <a:r>
              <a:t>If the alarm fails, the whole idea fails.</a:t>
            </a:r>
          </a:p>
        </p:txBody>
      </p:sp>
      <p:sp>
        <p:nvSpPr>
          <p:cNvPr id="3" name="qa-dot-1">
            <a:extLst xmlns:a="http://schemas.openxmlformats.org/drawingml/2006/main">
              <a:ext uri="{FF2B5EF4-FFF2-40B4-BE49-F238E27FC236}">
                <a16:creationId xmlns:a16="http://schemas.microsoft.com/office/drawing/2014/main" id="{78B16392-E0D5-47C0-8F21-96D00A3A655B}"/>
              </a:ext>
            </a:extLst>
          </p:cNvPr>
          <p:cNvSpPr>
            <a:spLocks xmlns:a="http://schemas.openxmlformats.org/drawingml/2006/main" noGrp="1"/>
          </p:cNvSpPr>
          <p:nvPr/>
        </p:nvSpPr>
        <p:spPr>
          <a:xfrm xmlns:a="http://schemas.openxmlformats.org/drawingml/2006/main">
            <a:off x="457200" y="1695450"/>
            <a:ext cx="247650" cy="247650"/>
          </a:xfrm>
          <a:prstGeom xmlns:a="http://schemas.openxmlformats.org/drawingml/2006/main" prst="ellipse">
            <a:avLst/>
          </a:prstGeom>
          <a:solidFill xmlns:a="http://schemas.openxmlformats.org/drawingml/2006/main">
            <a:srgbClr val="20BFA8"/>
          </a:solidFill>
        </p:spPr>
      </p:sp>
      <p:sp>
        <p:nvSpPr>
          <p:cNvPr id="4" name="qa-check-1">
            <a:extLst xmlns:a="http://schemas.openxmlformats.org/drawingml/2006/main">
              <a:ext uri="{FF2B5EF4-FFF2-40B4-BE49-F238E27FC236}">
                <a16:creationId xmlns:a16="http://schemas.microsoft.com/office/drawing/2014/main" id="{854ADCFA-CF00-48A9-BEF0-ED909D77D9DD}"/>
              </a:ext>
            </a:extLst>
          </p:cNvPr>
          <p:cNvSpPr>
            <a:spLocks xmlns:a="http://schemas.openxmlformats.org/drawingml/2006/main" noGrp="1"/>
          </p:cNvSpPr>
          <p:nvPr/>
        </p:nvSpPr>
        <p:spPr>
          <a:xfrm xmlns:a="http://schemas.openxmlformats.org/drawingml/2006/main">
            <a:off x="457200" y="1714500"/>
            <a:ext cx="247650" cy="1809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t>✓</a:t>
            </a:r>
          </a:p>
        </p:txBody>
      </p:sp>
      <p:sp>
        <p:nvSpPr>
          <p:cNvPr id="5" name="qa-label-1">
            <a:extLst xmlns:a="http://schemas.openxmlformats.org/drawingml/2006/main">
              <a:ext uri="{FF2B5EF4-FFF2-40B4-BE49-F238E27FC236}">
                <a16:creationId xmlns:a16="http://schemas.microsoft.com/office/drawing/2014/main" id="{1F5A88F7-906C-472C-A078-CFB814F487CE}"/>
              </a:ext>
            </a:extLst>
          </p:cNvPr>
          <p:cNvSpPr>
            <a:spLocks xmlns:a="http://schemas.openxmlformats.org/drawingml/2006/main" noGrp="1"/>
          </p:cNvSpPr>
          <p:nvPr/>
        </p:nvSpPr>
        <p:spPr>
          <a:xfrm xmlns:a="http://schemas.openxmlformats.org/drawingml/2006/main">
            <a:off x="876300" y="1666875"/>
            <a:ext cx="17145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TIMING</a:t>
            </a:r>
          </a:p>
        </p:txBody>
      </p:sp>
      <p:sp>
        <p:nvSpPr>
          <p:cNvPr id="6" name="qa-body-1">
            <a:extLst xmlns:a="http://schemas.openxmlformats.org/drawingml/2006/main">
              <a:ext uri="{FF2B5EF4-FFF2-40B4-BE49-F238E27FC236}">
                <a16:creationId xmlns:a16="http://schemas.microsoft.com/office/drawing/2014/main" id="{5FCAD1DE-52A3-4CCD-8333-17B527C07FF5}"/>
              </a:ext>
            </a:extLst>
          </p:cNvPr>
          <p:cNvSpPr>
            <a:spLocks xmlns:a="http://schemas.openxmlformats.org/drawingml/2006/main" noGrp="1"/>
          </p:cNvSpPr>
          <p:nvPr/>
        </p:nvSpPr>
        <p:spPr>
          <a:xfrm xmlns:a="http://schemas.openxmlformats.org/drawingml/2006/main">
            <a:off x="876300" y="1952625"/>
            <a:ext cx="4476750" cy="476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01820"/>
                </a:solidFill>
                <a:latin typeface="Helvetica Neue"/>
                <a:ea typeface="Helvetica Neue"/>
                <a:cs typeface="Helvetica Neue"/>
              </a:defRPr>
            </a:pPr>
            <a:r>
              <a:t>Check the wake and leave math</a:t>
            </a:r>
          </a:p>
        </p:txBody>
      </p:sp>
      <p:sp>
        <p:nvSpPr>
          <p:cNvPr id="7" name="qa-dot-2">
            <a:extLst xmlns:a="http://schemas.openxmlformats.org/drawingml/2006/main">
              <a:ext uri="{FF2B5EF4-FFF2-40B4-BE49-F238E27FC236}">
                <a16:creationId xmlns:a16="http://schemas.microsoft.com/office/drawing/2014/main" id="{82D0CE1E-15F4-46B7-BE93-E69C37AE78FD}"/>
              </a:ext>
            </a:extLst>
          </p:cNvPr>
          <p:cNvSpPr>
            <a:spLocks xmlns:a="http://schemas.openxmlformats.org/drawingml/2006/main" noGrp="1"/>
          </p:cNvSpPr>
          <p:nvPr/>
        </p:nvSpPr>
        <p:spPr>
          <a:xfrm xmlns:a="http://schemas.openxmlformats.org/drawingml/2006/main">
            <a:off x="457200" y="2667000"/>
            <a:ext cx="247650" cy="247650"/>
          </a:xfrm>
          <a:prstGeom xmlns:a="http://schemas.openxmlformats.org/drawingml/2006/main" prst="ellipse">
            <a:avLst/>
          </a:prstGeom>
          <a:solidFill xmlns:a="http://schemas.openxmlformats.org/drawingml/2006/main">
            <a:srgbClr val="E85B70"/>
          </a:solidFill>
        </p:spPr>
      </p:sp>
      <p:sp>
        <p:nvSpPr>
          <p:cNvPr id="8" name="qa-check-2">
            <a:extLst xmlns:a="http://schemas.openxmlformats.org/drawingml/2006/main">
              <a:ext uri="{FF2B5EF4-FFF2-40B4-BE49-F238E27FC236}">
                <a16:creationId xmlns:a16="http://schemas.microsoft.com/office/drawing/2014/main" id="{77D39BBD-1412-4708-A0DD-B7B50531B89F}"/>
              </a:ext>
            </a:extLst>
          </p:cNvPr>
          <p:cNvSpPr>
            <a:spLocks xmlns:a="http://schemas.openxmlformats.org/drawingml/2006/main" noGrp="1"/>
          </p:cNvSpPr>
          <p:nvPr/>
        </p:nvSpPr>
        <p:spPr>
          <a:xfrm xmlns:a="http://schemas.openxmlformats.org/drawingml/2006/main">
            <a:off x="457200" y="2686050"/>
            <a:ext cx="247650" cy="1809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t>✓</a:t>
            </a:r>
          </a:p>
        </p:txBody>
      </p:sp>
      <p:sp>
        <p:nvSpPr>
          <p:cNvPr id="9" name="qa-label-2">
            <a:extLst xmlns:a="http://schemas.openxmlformats.org/drawingml/2006/main">
              <a:ext uri="{FF2B5EF4-FFF2-40B4-BE49-F238E27FC236}">
                <a16:creationId xmlns:a16="http://schemas.microsoft.com/office/drawing/2014/main" id="{8C1765AA-13E1-46D5-AD17-9D18422806D1}"/>
              </a:ext>
            </a:extLst>
          </p:cNvPr>
          <p:cNvSpPr>
            <a:spLocks xmlns:a="http://schemas.openxmlformats.org/drawingml/2006/main" noGrp="1"/>
          </p:cNvSpPr>
          <p:nvPr/>
        </p:nvSpPr>
        <p:spPr>
          <a:xfrm xmlns:a="http://schemas.openxmlformats.org/drawingml/2006/main">
            <a:off x="876300" y="2638425"/>
            <a:ext cx="17145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E85B70"/>
                </a:solidFill>
                <a:latin typeface="Helvetica Neue"/>
                <a:ea typeface="Helvetica Neue"/>
                <a:cs typeface="Helvetica Neue"/>
              </a:defRPr>
            </a:pPr>
            <a:r>
              <a:t>ALARMS</a:t>
            </a:r>
          </a:p>
        </p:txBody>
      </p:sp>
      <p:sp>
        <p:nvSpPr>
          <p:cNvPr id="10" name="qa-body-2">
            <a:extLst xmlns:a="http://schemas.openxmlformats.org/drawingml/2006/main">
              <a:ext uri="{FF2B5EF4-FFF2-40B4-BE49-F238E27FC236}">
                <a16:creationId xmlns:a16="http://schemas.microsoft.com/office/drawing/2014/main" id="{79FC99FA-734C-48A2-97E7-F23CCB1333C6}"/>
              </a:ext>
            </a:extLst>
          </p:cNvPr>
          <p:cNvSpPr>
            <a:spLocks xmlns:a="http://schemas.openxmlformats.org/drawingml/2006/main" noGrp="1"/>
          </p:cNvSpPr>
          <p:nvPr/>
        </p:nvSpPr>
        <p:spPr>
          <a:xfrm xmlns:a="http://schemas.openxmlformats.org/drawingml/2006/main">
            <a:off x="876300" y="2924175"/>
            <a:ext cx="4476750" cy="476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01820"/>
                </a:solidFill>
                <a:latin typeface="Helvetica Neue"/>
                <a:ea typeface="Helvetica Neue"/>
                <a:cs typeface="Helvetica Neue"/>
              </a:defRPr>
            </a:pPr>
            <a:r>
              <a:t>Test it on real phones</a:t>
            </a:r>
          </a:p>
        </p:txBody>
      </p:sp>
      <p:sp>
        <p:nvSpPr>
          <p:cNvPr id="11" name="qa-dot-3">
            <a:extLst xmlns:a="http://schemas.openxmlformats.org/drawingml/2006/main">
              <a:ext uri="{FF2B5EF4-FFF2-40B4-BE49-F238E27FC236}">
                <a16:creationId xmlns:a16="http://schemas.microsoft.com/office/drawing/2014/main" id="{DFDB3224-C42F-49DE-866B-352B46DF02FD}"/>
              </a:ext>
            </a:extLst>
          </p:cNvPr>
          <p:cNvSpPr>
            <a:spLocks xmlns:a="http://schemas.openxmlformats.org/drawingml/2006/main" noGrp="1"/>
          </p:cNvSpPr>
          <p:nvPr/>
        </p:nvSpPr>
        <p:spPr>
          <a:xfrm xmlns:a="http://schemas.openxmlformats.org/drawingml/2006/main">
            <a:off x="457200" y="3638550"/>
            <a:ext cx="247650" cy="247650"/>
          </a:xfrm>
          <a:prstGeom xmlns:a="http://schemas.openxmlformats.org/drawingml/2006/main" prst="ellipse">
            <a:avLst/>
          </a:prstGeom>
          <a:solidFill xmlns:a="http://schemas.openxmlformats.org/drawingml/2006/main">
            <a:srgbClr val="20BFA8"/>
          </a:solidFill>
        </p:spPr>
      </p:sp>
      <p:sp>
        <p:nvSpPr>
          <p:cNvPr id="12" name="qa-check-3">
            <a:extLst xmlns:a="http://schemas.openxmlformats.org/drawingml/2006/main">
              <a:ext uri="{FF2B5EF4-FFF2-40B4-BE49-F238E27FC236}">
                <a16:creationId xmlns:a16="http://schemas.microsoft.com/office/drawing/2014/main" id="{CF396F2D-9C31-4F49-9898-5A7EE76335CC}"/>
              </a:ext>
            </a:extLst>
          </p:cNvPr>
          <p:cNvSpPr>
            <a:spLocks xmlns:a="http://schemas.openxmlformats.org/drawingml/2006/main" noGrp="1"/>
          </p:cNvSpPr>
          <p:nvPr/>
        </p:nvSpPr>
        <p:spPr>
          <a:xfrm xmlns:a="http://schemas.openxmlformats.org/drawingml/2006/main">
            <a:off x="457200" y="3657600"/>
            <a:ext cx="247650" cy="1809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t>✓</a:t>
            </a:r>
          </a:p>
        </p:txBody>
      </p:sp>
      <p:sp>
        <p:nvSpPr>
          <p:cNvPr id="13" name="qa-label-3">
            <a:extLst xmlns:a="http://schemas.openxmlformats.org/drawingml/2006/main">
              <a:ext uri="{FF2B5EF4-FFF2-40B4-BE49-F238E27FC236}">
                <a16:creationId xmlns:a16="http://schemas.microsoft.com/office/drawing/2014/main" id="{B3F172C0-656A-4BBE-9455-491C7E619255}"/>
              </a:ext>
            </a:extLst>
          </p:cNvPr>
          <p:cNvSpPr>
            <a:spLocks xmlns:a="http://schemas.openxmlformats.org/drawingml/2006/main" noGrp="1"/>
          </p:cNvSpPr>
          <p:nvPr/>
        </p:nvSpPr>
        <p:spPr>
          <a:xfrm xmlns:a="http://schemas.openxmlformats.org/drawingml/2006/main">
            <a:off x="876300" y="3609975"/>
            <a:ext cx="17145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BACKUP</a:t>
            </a:r>
          </a:p>
        </p:txBody>
      </p:sp>
      <p:sp>
        <p:nvSpPr>
          <p:cNvPr id="14" name="qa-body-3">
            <a:extLst xmlns:a="http://schemas.openxmlformats.org/drawingml/2006/main">
              <a:ext uri="{FF2B5EF4-FFF2-40B4-BE49-F238E27FC236}">
                <a16:creationId xmlns:a16="http://schemas.microsoft.com/office/drawing/2014/main" id="{6984FCC5-2889-4ACF-B25C-E574AF217D24}"/>
              </a:ext>
            </a:extLst>
          </p:cNvPr>
          <p:cNvSpPr>
            <a:spLocks xmlns:a="http://schemas.openxmlformats.org/drawingml/2006/main" noGrp="1"/>
          </p:cNvSpPr>
          <p:nvPr/>
        </p:nvSpPr>
        <p:spPr>
          <a:xfrm xmlns:a="http://schemas.openxmlformats.org/drawingml/2006/main">
            <a:off x="876300" y="3895725"/>
            <a:ext cx="4476750" cy="476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01820"/>
                </a:solidFill>
                <a:latin typeface="Helvetica Neue"/>
                <a:ea typeface="Helvetica Neue"/>
                <a:cs typeface="Helvetica Neue"/>
              </a:defRPr>
            </a:pPr>
            <a:r>
              <a:t>Keep a plan if traffic data fails</a:t>
            </a:r>
          </a:p>
        </p:txBody>
      </p:sp>
      <p:sp>
        <p:nvSpPr>
          <p:cNvPr id="15" name="qa-dot-4">
            <a:extLst xmlns:a="http://schemas.openxmlformats.org/drawingml/2006/main">
              <a:ext uri="{FF2B5EF4-FFF2-40B4-BE49-F238E27FC236}">
                <a16:creationId xmlns:a16="http://schemas.microsoft.com/office/drawing/2014/main" id="{D062F99D-852D-4A79-81BE-D14B15A3A297}"/>
              </a:ext>
            </a:extLst>
          </p:cNvPr>
          <p:cNvSpPr>
            <a:spLocks xmlns:a="http://schemas.openxmlformats.org/drawingml/2006/main" noGrp="1"/>
          </p:cNvSpPr>
          <p:nvPr/>
        </p:nvSpPr>
        <p:spPr>
          <a:xfrm xmlns:a="http://schemas.openxmlformats.org/drawingml/2006/main">
            <a:off x="457200" y="4610100"/>
            <a:ext cx="247650" cy="247650"/>
          </a:xfrm>
          <a:prstGeom xmlns:a="http://schemas.openxmlformats.org/drawingml/2006/main" prst="ellipse">
            <a:avLst/>
          </a:prstGeom>
          <a:solidFill xmlns:a="http://schemas.openxmlformats.org/drawingml/2006/main">
            <a:srgbClr val="20BFA8"/>
          </a:solidFill>
        </p:spPr>
      </p:sp>
      <p:sp>
        <p:nvSpPr>
          <p:cNvPr id="16" name="qa-check-4">
            <a:extLst xmlns:a="http://schemas.openxmlformats.org/drawingml/2006/main">
              <a:ext uri="{FF2B5EF4-FFF2-40B4-BE49-F238E27FC236}">
                <a16:creationId xmlns:a16="http://schemas.microsoft.com/office/drawing/2014/main" id="{5A4DAEE4-F333-42C8-921D-475A4B4C73A0}"/>
              </a:ext>
            </a:extLst>
          </p:cNvPr>
          <p:cNvSpPr>
            <a:spLocks xmlns:a="http://schemas.openxmlformats.org/drawingml/2006/main" noGrp="1"/>
          </p:cNvSpPr>
          <p:nvPr/>
        </p:nvSpPr>
        <p:spPr>
          <a:xfrm xmlns:a="http://schemas.openxmlformats.org/drawingml/2006/main">
            <a:off x="457200" y="4629150"/>
            <a:ext cx="247650" cy="1809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t>✓</a:t>
            </a:r>
          </a:p>
        </p:txBody>
      </p:sp>
      <p:sp>
        <p:nvSpPr>
          <p:cNvPr id="17" name="qa-label-4">
            <a:extLst xmlns:a="http://schemas.openxmlformats.org/drawingml/2006/main">
              <a:ext uri="{FF2B5EF4-FFF2-40B4-BE49-F238E27FC236}">
                <a16:creationId xmlns:a16="http://schemas.microsoft.com/office/drawing/2014/main" id="{3879D71A-A98F-4A7F-A717-C97C8EC52EDC}"/>
              </a:ext>
            </a:extLst>
          </p:cNvPr>
          <p:cNvSpPr>
            <a:spLocks xmlns:a="http://schemas.openxmlformats.org/drawingml/2006/main" noGrp="1"/>
          </p:cNvSpPr>
          <p:nvPr/>
        </p:nvSpPr>
        <p:spPr>
          <a:xfrm xmlns:a="http://schemas.openxmlformats.org/drawingml/2006/main">
            <a:off x="876300" y="4581525"/>
            <a:ext cx="17145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PRIVACY</a:t>
            </a:r>
          </a:p>
        </p:txBody>
      </p:sp>
      <p:sp>
        <p:nvSpPr>
          <p:cNvPr id="18" name="qa-body-4">
            <a:extLst xmlns:a="http://schemas.openxmlformats.org/drawingml/2006/main">
              <a:ext uri="{FF2B5EF4-FFF2-40B4-BE49-F238E27FC236}">
                <a16:creationId xmlns:a16="http://schemas.microsoft.com/office/drawing/2014/main" id="{4C1E14BB-D450-45DF-BD29-4128C8751891}"/>
              </a:ext>
            </a:extLst>
          </p:cNvPr>
          <p:cNvSpPr>
            <a:spLocks xmlns:a="http://schemas.openxmlformats.org/drawingml/2006/main" noGrp="1"/>
          </p:cNvSpPr>
          <p:nvPr/>
        </p:nvSpPr>
        <p:spPr>
          <a:xfrm xmlns:a="http://schemas.openxmlformats.org/drawingml/2006/main">
            <a:off x="876300" y="4867275"/>
            <a:ext cx="4476750" cy="476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01820"/>
                </a:solidFill>
                <a:latin typeface="Helvetica Neue"/>
                <a:ea typeface="Helvetica Neue"/>
                <a:cs typeface="Helvetica Neue"/>
              </a:defRPr>
            </a:pPr>
            <a:r>
              <a:t>Only ask for the access we need</a:t>
            </a:r>
          </a:p>
        </p:txBody>
      </p:sp>
      <p:sp>
        <p:nvSpPr>
          <p:cNvPr id="19" name="qa-image-frame">
            <a:extLst xmlns:a="http://schemas.openxmlformats.org/drawingml/2006/main">
              <a:ext uri="{FF2B5EF4-FFF2-40B4-BE49-F238E27FC236}">
                <a16:creationId xmlns:a16="http://schemas.microsoft.com/office/drawing/2014/main" id="{3FFB18AB-5E49-4747-BB8B-0A9A186D86AF}"/>
              </a:ext>
            </a:extLst>
          </p:cNvPr>
          <p:cNvSpPr>
            <a:spLocks xmlns:a="http://schemas.openxmlformats.org/drawingml/2006/main" noGrp="1"/>
          </p:cNvSpPr>
          <p:nvPr/>
        </p:nvSpPr>
        <p:spPr>
          <a:xfrm xmlns:a="http://schemas.openxmlformats.org/drawingml/2006/main">
            <a:off x="6191250" y="1571625"/>
            <a:ext cx="5543550" cy="3714750"/>
          </a:xfrm>
          <a:prstGeom xmlns:a="http://schemas.openxmlformats.org/drawingml/2006/main" prst="roundRect">
            <a:avLst>
              <a:gd name="adj" fmla="val 2051"/>
            </a:avLst>
          </a:prstGeom>
          <a:solidFill xmlns:a="http://schemas.openxmlformats.org/drawingml/2006/main">
            <a:srgbClr val="DDF7F2"/>
          </a:solidFill>
          <a:ln xmlns:a="http://schemas.openxmlformats.org/drawingml/2006/main" w="9525">
            <a:solidFill>
              <a:srgbClr val="BBC5C8"/>
            </a:solidFill>
            <a:prstDash val="solid"/>
          </a:ln>
        </p:spPr>
      </p:sp>
      <p:sp>
        <p:nvSpPr>
          <p:cNvPr id="20" name="release-bar">
            <a:extLst xmlns:a="http://schemas.openxmlformats.org/drawingml/2006/main">
              <a:ext uri="{FF2B5EF4-FFF2-40B4-BE49-F238E27FC236}">
                <a16:creationId xmlns:a16="http://schemas.microsoft.com/office/drawing/2014/main" id="{A6DA698C-C083-4429-B1B1-E35A3274C45A}"/>
              </a:ext>
            </a:extLst>
          </p:cNvPr>
          <p:cNvSpPr>
            <a:spLocks xmlns:a="http://schemas.openxmlformats.org/drawingml/2006/main" noGrp="1"/>
          </p:cNvSpPr>
          <p:nvPr/>
        </p:nvSpPr>
        <p:spPr>
          <a:xfrm xmlns:a="http://schemas.openxmlformats.org/drawingml/2006/main">
            <a:off x="6191250" y="5476875"/>
            <a:ext cx="5543550" cy="666750"/>
          </a:xfrm>
          <a:prstGeom xmlns:a="http://schemas.openxmlformats.org/drawingml/2006/main" prst="roundRect">
            <a:avLst>
              <a:gd name="adj" fmla="val 11429"/>
            </a:avLst>
          </a:prstGeom>
          <a:solidFill xmlns:a="http://schemas.openxmlformats.org/drawingml/2006/main">
            <a:srgbClr val="111B25"/>
          </a:solidFill>
        </p:spPr>
      </p:sp>
      <p:sp>
        <p:nvSpPr>
          <p:cNvPr id="21" name="release-text">
            <a:extLst xmlns:a="http://schemas.openxmlformats.org/drawingml/2006/main">
              <a:ext uri="{FF2B5EF4-FFF2-40B4-BE49-F238E27FC236}">
                <a16:creationId xmlns:a16="http://schemas.microsoft.com/office/drawing/2014/main" id="{6596F3DE-F741-4680-B17C-DE5E20C235CD}"/>
              </a:ext>
            </a:extLst>
          </p:cNvPr>
          <p:cNvSpPr>
            <a:spLocks xmlns:a="http://schemas.openxmlformats.org/drawingml/2006/main" noGrp="1"/>
          </p:cNvSpPr>
          <p:nvPr/>
        </p:nvSpPr>
        <p:spPr>
          <a:xfrm xmlns:a="http://schemas.openxmlformats.org/drawingml/2006/main">
            <a:off x="6477000" y="5676900"/>
            <a:ext cx="497205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t>When it's ready: iPhone · Android · Web</a:t>
            </a:r>
          </a:p>
        </p:txBody>
      </p:sp>
      <p:sp>
        <p:nvSpPr>
          <p:cNvPr id="22" name="page-7">
            <a:extLst xmlns:a="http://schemas.openxmlformats.org/drawingml/2006/main">
              <a:ext uri="{FF2B5EF4-FFF2-40B4-BE49-F238E27FC236}">
                <a16:creationId xmlns:a16="http://schemas.microsoft.com/office/drawing/2014/main" id="{F7BA5932-397B-402E-9EAB-3DF37A5BEDB3}"/>
              </a:ext>
            </a:extLst>
          </p:cNvPr>
          <p:cNvSpPr>
            <a:spLocks xmlns:a="http://schemas.openxmlformats.org/drawingml/2006/main" noGrp="1"/>
          </p:cNvSpPr>
          <p:nvPr/>
        </p:nvSpPr>
        <p:spPr>
          <a:xfrm xmlns:a="http://schemas.openxmlformats.org/drawingml/2006/main">
            <a:off x="11334750" y="6305550"/>
            <a:ext cx="400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B78"/>
                </a:solidFill>
                <a:latin typeface="Helvetica Neue"/>
                <a:ea typeface="Helvetica Neue"/>
                <a:cs typeface="Helvetica Neue"/>
              </a:defRPr>
            </a:pPr>
            <a:r>
              <a:t>7</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e8ace71b284244b9"/>
          <a:stretch xmlns:a="http://schemas.openxmlformats.org/drawingml/2006/main"/>
        </p:blipFill>
        <p:spPr>
          <a:xfrm xmlns:a="http://schemas.openxmlformats.org/drawingml/2006/main">
            <a:off x="6438900" y="2327564"/>
            <a:ext cx="5048250" cy="2202873"/>
          </a:xfrm>
          <a:prstGeom xmlns:a="http://schemas.openxmlformats.org/drawingml/2006/main" prst="roundRect">
            <a:avLst>
              <a:gd name="adj" fmla="val 5455"/>
            </a:avLst>
          </a:prstGeom>
        </p:spPr>
      </p:pic>
    </p:spTree>
    <p:extLst>
      <p:ext uri="{BB962C8B-B14F-4D97-AF65-F5344CB8AC3E}">
        <p14:creationId xmlns:p14="http://schemas.microsoft.com/office/powerpoint/2010/main" val="7687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lose-eyebrow">
            <a:extLst xmlns:a="http://schemas.openxmlformats.org/drawingml/2006/main">
              <a:ext uri="{FF2B5EF4-FFF2-40B4-BE49-F238E27FC236}">
                <a16:creationId xmlns:a16="http://schemas.microsoft.com/office/drawing/2014/main" id="{D778CB54-D160-4DFB-BECA-6F97ED5191CF}"/>
              </a:ext>
            </a:extLst>
          </p:cNvPr>
          <p:cNvSpPr>
            <a:spLocks xmlns:a="http://schemas.openxmlformats.org/drawingml/2006/main" noGrp="1"/>
          </p:cNvSpPr>
          <p:nvPr/>
        </p:nvSpPr>
        <p:spPr>
          <a:xfrm xmlns:a="http://schemas.openxmlformats.org/drawingml/2006/main">
            <a:off x="457200" y="400050"/>
            <a:ext cx="28575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E756A"/>
                </a:solidFill>
                <a:latin typeface="Helvetica Neue"/>
                <a:ea typeface="Helvetica Neue"/>
                <a:cs typeface="Helvetica Neue"/>
              </a:defRPr>
            </a:pPr>
            <a:r>
              <a:t>OUR FIRST GOAL</a:t>
            </a:r>
          </a:p>
        </p:txBody>
      </p:sp>
      <p:sp>
        <p:nvSpPr>
          <p:cNvPr id="2" name="close-title">
            <a:extLst xmlns:a="http://schemas.openxmlformats.org/drawingml/2006/main">
              <a:ext uri="{FF2B5EF4-FFF2-40B4-BE49-F238E27FC236}">
                <a16:creationId xmlns:a16="http://schemas.microsoft.com/office/drawing/2014/main" id="{E6E89B78-B468-43D3-8A0B-F41F97B53BAA}"/>
              </a:ext>
            </a:extLst>
          </p:cNvPr>
          <p:cNvSpPr>
            <a:spLocks xmlns:a="http://schemas.openxmlformats.org/drawingml/2006/main" noGrp="1"/>
          </p:cNvSpPr>
          <p:nvPr/>
        </p:nvSpPr>
        <p:spPr>
          <a:xfrm xmlns:a="http://schemas.openxmlformats.org/drawingml/2006/main">
            <a:off x="457200" y="1381125"/>
            <a:ext cx="10477500" cy="876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820"/>
                </a:solidFill>
                <a:latin typeface="Helvetica Neue"/>
                <a:ea typeface="Helvetica Neue"/>
                <a:cs typeface="Helvetica Neue"/>
              </a:defRPr>
            </a:pPr>
            <a:r>
              <a:t>Make it work for real students.</a:t>
            </a:r>
          </a:p>
        </p:txBody>
      </p:sp>
      <p:cxnSp>
        <p:nvCxnSpPr>
          <p:cNvPr id="13" name="close-rule"/>
          <p:cNvCxnSpPr/>
          <p:nvPr/>
        </p:nvCxnSpPr>
        <p:spPr>
          <a:xfrm xmlns:a="http://schemas.openxmlformats.org/drawingml/2006/main">
            <a:off x="457200" y="2714625"/>
            <a:ext cx="1714500" cy="286"/>
          </a:xfrm>
          <a:prstGeom xmlns:a="http://schemas.openxmlformats.org/drawingml/2006/main" prst="straightConnector1">
            <a:avLst/>
          </a:prstGeom>
          <a:ln xmlns:a="http://schemas.openxmlformats.org/drawingml/2006/main" w="38100">
            <a:solidFill>
              <a:srgbClr val="20BFA8"/>
            </a:solidFill>
            <a:prstDash val="solid"/>
          </a:ln>
        </p:spPr>
      </p:cxnSp>
      <p:sp>
        <p:nvSpPr>
          <p:cNvPr id="4" name="close-marketing-label">
            <a:extLst xmlns:a="http://schemas.openxmlformats.org/drawingml/2006/main">
              <a:ext uri="{FF2B5EF4-FFF2-40B4-BE49-F238E27FC236}">
                <a16:creationId xmlns:a16="http://schemas.microsoft.com/office/drawing/2014/main" id="{1DC94ECB-1743-4BC8-9877-FBD31A84B557}"/>
              </a:ext>
            </a:extLst>
          </p:cNvPr>
          <p:cNvSpPr>
            <a:spLocks xmlns:a="http://schemas.openxmlformats.org/drawingml/2006/main" noGrp="1"/>
          </p:cNvSpPr>
          <p:nvPr/>
        </p:nvSpPr>
        <p:spPr>
          <a:xfrm xmlns:a="http://schemas.openxmlformats.org/drawingml/2006/main">
            <a:off x="457200" y="3286125"/>
            <a:ext cx="19050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E85B70"/>
                </a:solidFill>
                <a:latin typeface="Helvetica Neue"/>
                <a:ea typeface="Helvetica Neue"/>
                <a:cs typeface="Helvetica Neue"/>
              </a:defRPr>
            </a:pPr>
            <a:r>
              <a:t>MARKETING</a:t>
            </a:r>
          </a:p>
        </p:txBody>
      </p:sp>
      <p:sp>
        <p:nvSpPr>
          <p:cNvPr id="5" name="close-marketing">
            <a:extLst xmlns:a="http://schemas.openxmlformats.org/drawingml/2006/main">
              <a:ext uri="{FF2B5EF4-FFF2-40B4-BE49-F238E27FC236}">
                <a16:creationId xmlns:a16="http://schemas.microsoft.com/office/drawing/2014/main" id="{B6911046-922B-483E-B327-AF5BCD6C3AAD}"/>
              </a:ext>
            </a:extLst>
          </p:cNvPr>
          <p:cNvSpPr>
            <a:spLocks xmlns:a="http://schemas.openxmlformats.org/drawingml/2006/main" noGrp="1"/>
          </p:cNvSpPr>
          <p:nvPr/>
        </p:nvSpPr>
        <p:spPr>
          <a:xfrm xmlns:a="http://schemas.openxmlformats.org/drawingml/2006/main">
            <a:off x="457200" y="3667125"/>
            <a:ext cx="4762500" cy="533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1820"/>
                </a:solidFill>
                <a:latin typeface="Helvetica Neue"/>
                <a:ea typeface="Helvetica Neue"/>
                <a:cs typeface="Helvetica Neue"/>
              </a:defRPr>
            </a:pPr>
            <a:r>
              <a:t>Get a few people to try it.</a:t>
            </a:r>
          </a:p>
        </p:txBody>
      </p:sp>
      <p:sp>
        <p:nvSpPr>
          <p:cNvPr id="6" name="close-making-label">
            <a:extLst xmlns:a="http://schemas.openxmlformats.org/drawingml/2006/main">
              <a:ext uri="{FF2B5EF4-FFF2-40B4-BE49-F238E27FC236}">
                <a16:creationId xmlns:a16="http://schemas.microsoft.com/office/drawing/2014/main" id="{9F97BDF6-7CE2-4C8C-8EE7-D8D70B96D717}"/>
              </a:ext>
            </a:extLst>
          </p:cNvPr>
          <p:cNvSpPr>
            <a:spLocks xmlns:a="http://schemas.openxmlformats.org/drawingml/2006/main" noGrp="1"/>
          </p:cNvSpPr>
          <p:nvPr/>
        </p:nvSpPr>
        <p:spPr>
          <a:xfrm xmlns:a="http://schemas.openxmlformats.org/drawingml/2006/main">
            <a:off x="6191250" y="3286125"/>
            <a:ext cx="19050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MAKING IT</a:t>
            </a:r>
          </a:p>
        </p:txBody>
      </p:sp>
      <p:sp>
        <p:nvSpPr>
          <p:cNvPr id="7" name="close-making">
            <a:extLst xmlns:a="http://schemas.openxmlformats.org/drawingml/2006/main">
              <a:ext uri="{FF2B5EF4-FFF2-40B4-BE49-F238E27FC236}">
                <a16:creationId xmlns:a16="http://schemas.microsoft.com/office/drawing/2014/main" id="{D821493B-38B5-400D-B42C-057E963D90FD}"/>
              </a:ext>
            </a:extLst>
          </p:cNvPr>
          <p:cNvSpPr>
            <a:spLocks xmlns:a="http://schemas.openxmlformats.org/drawingml/2006/main" noGrp="1"/>
          </p:cNvSpPr>
          <p:nvPr/>
        </p:nvSpPr>
        <p:spPr>
          <a:xfrm xmlns:a="http://schemas.openxmlformats.org/drawingml/2006/main">
            <a:off x="6191250" y="3667125"/>
            <a:ext cx="5048250" cy="723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1820"/>
                </a:solidFill>
                <a:latin typeface="Helvetica Neue"/>
                <a:ea typeface="Helvetica Neue"/>
                <a:cs typeface="Helvetica Neue"/>
              </a:defRPr>
            </a:pPr>
            <a:r>
              <a:t>Make it good enough that they keep using it.</a:t>
            </a:r>
          </a:p>
        </p:txBody>
      </p:sp>
      <p:sp>
        <p:nvSpPr>
          <p:cNvPr id="8" name="close-bottom">
            <a:extLst xmlns:a="http://schemas.openxmlformats.org/drawingml/2006/main">
              <a:ext uri="{FF2B5EF4-FFF2-40B4-BE49-F238E27FC236}">
                <a16:creationId xmlns:a16="http://schemas.microsoft.com/office/drawing/2014/main" id="{02E1FF33-2CE7-4CE8-BC89-94B7DB2E2E78}"/>
              </a:ext>
            </a:extLst>
          </p:cNvPr>
          <p:cNvSpPr>
            <a:spLocks xmlns:a="http://schemas.openxmlformats.org/drawingml/2006/main" noGrp="1"/>
          </p:cNvSpPr>
          <p:nvPr/>
        </p:nvSpPr>
        <p:spPr>
          <a:xfrm xmlns:a="http://schemas.openxmlformats.org/drawingml/2006/main">
            <a:off x="457200" y="5191125"/>
            <a:ext cx="11277600" cy="857250"/>
          </a:xfrm>
          <a:prstGeom xmlns:a="http://schemas.openxmlformats.org/drawingml/2006/main" prst="roundRect">
            <a:avLst>
              <a:gd name="adj" fmla="val 8889"/>
            </a:avLst>
          </a:prstGeom>
          <a:solidFill xmlns:a="http://schemas.openxmlformats.org/drawingml/2006/main">
            <a:srgbClr val="DDF7F2"/>
          </a:solidFill>
        </p:spPr>
      </p:sp>
      <p:sp>
        <p:nvSpPr>
          <p:cNvPr id="9" name="close-bottom-text">
            <a:extLst xmlns:a="http://schemas.openxmlformats.org/drawingml/2006/main">
              <a:ext uri="{FF2B5EF4-FFF2-40B4-BE49-F238E27FC236}">
                <a16:creationId xmlns:a16="http://schemas.microsoft.com/office/drawing/2014/main" id="{CB19F024-3346-4740-87F2-386F838EC87A}"/>
              </a:ext>
            </a:extLst>
          </p:cNvPr>
          <p:cNvSpPr>
            <a:spLocks xmlns:a="http://schemas.openxmlformats.org/drawingml/2006/main" noGrp="1"/>
          </p:cNvSpPr>
          <p:nvPr/>
        </p:nvSpPr>
        <p:spPr>
          <a:xfrm xmlns:a="http://schemas.openxmlformats.org/drawingml/2006/main">
            <a:off x="781050" y="5438775"/>
            <a:ext cx="10382250" cy="38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0E756A"/>
                </a:solidFill>
                <a:latin typeface="Helvetica Neue"/>
                <a:ea typeface="Helvetica Neue"/>
                <a:cs typeface="Helvetica Neue"/>
              </a:defRPr>
            </a:pPr>
            <a:r>
              <a:t>Start small. Listen. Fix stuff. Then grow.</a:t>
            </a:r>
          </a:p>
        </p:txBody>
      </p:sp>
      <p:sp>
        <p:nvSpPr>
          <p:cNvPr id="10" name="page-8">
            <a:extLst xmlns:a="http://schemas.openxmlformats.org/drawingml/2006/main">
              <a:ext uri="{FF2B5EF4-FFF2-40B4-BE49-F238E27FC236}">
                <a16:creationId xmlns:a16="http://schemas.microsoft.com/office/drawing/2014/main" id="{06F456EA-3BEF-40C8-A8CA-0AC52DC8E4ED}"/>
              </a:ext>
            </a:extLst>
          </p:cNvPr>
          <p:cNvSpPr>
            <a:spLocks xmlns:a="http://schemas.openxmlformats.org/drawingml/2006/main" noGrp="1"/>
          </p:cNvSpPr>
          <p:nvPr/>
        </p:nvSpPr>
        <p:spPr>
          <a:xfrm xmlns:a="http://schemas.openxmlformats.org/drawingml/2006/main">
            <a:off x="11334750" y="6305550"/>
            <a:ext cx="400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B78"/>
                </a:solidFill>
                <a:latin typeface="Helvetica Neue"/>
                <a:ea typeface="Helvetica Neue"/>
                <a:cs typeface="Helvetica Neue"/>
              </a:defRPr>
            </a:pPr>
            <a:r>
              <a:t>8</a:t>
            </a:r>
          </a:p>
        </p:txBody>
      </p:sp>
    </p:spTree>
    <p:extLst>
      <p:ext uri="{BB962C8B-B14F-4D97-AF65-F5344CB8AC3E}">
        <p14:creationId xmlns:p14="http://schemas.microsoft.com/office/powerpoint/2010/main" val="11593660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2026-07-17T02:29:03.6110000Z</dcterms:created>
  <dcterms:modified xsi:type="dcterms:W3CDTF">2026-07-17T02:29:03.6110000Z</dcterms:modified>
</coreProperties>
</file>