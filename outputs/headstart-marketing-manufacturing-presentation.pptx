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cbe8df56ff45cd" /><Relationship Type="http://schemas.openxmlformats.org/officeDocument/2006/relationships/extended-properties" Target="/docProps/app.xml" Id="R0882f2a1cee846ba" /><Relationship Type="http://schemas.openxmlformats.org/officeDocument/2006/relationships/officeDocument" Target="/ppt/presentation.xml" Id="R99d34ba7b4fc4a6d" /></Relationships>
</file>

<file path=ppt/presentation.xml><?xml version="1.0" encoding="utf-8"?>
<p:presentation xmlns:p="http://schemas.openxmlformats.org/presentationml/2006/main">
  <p:sldMasterIdLst>
    <p:sldMasterId xmlns:r="http://schemas.openxmlformats.org/officeDocument/2006/relationships" id="2147483648" r:id="R0c1897a0294d486b"/>
  </p:sldMasterIdLst>
  <p:notesMasterIdLst>
    <p:notesMasterId xmlns:r="http://schemas.openxmlformats.org/officeDocument/2006/relationships" r:id="R51b207f39b1446f7"/>
  </p:notesMasterIdLst>
  <p:sldIdLst>
    <p:sldId xmlns:r="http://schemas.openxmlformats.org/officeDocument/2006/relationships" id="256" r:id="Rd261b6721c3b4129"/>
    <p:sldId xmlns:r="http://schemas.openxmlformats.org/officeDocument/2006/relationships" id="257" r:id="Re77ea4b34e734ef4"/>
    <p:sldId xmlns:r="http://schemas.openxmlformats.org/officeDocument/2006/relationships" id="258" r:id="R8be631e08d46461c"/>
    <p:sldId xmlns:r="http://schemas.openxmlformats.org/officeDocument/2006/relationships" id="259" r:id="Refed7fa251df447f"/>
    <p:sldId xmlns:r="http://schemas.openxmlformats.org/officeDocument/2006/relationships" id="260" r:id="R1455dd84eff84935"/>
    <p:sldId xmlns:r="http://schemas.openxmlformats.org/officeDocument/2006/relationships" id="261" r:id="R9c05a551168d44c4"/>
    <p:sldId xmlns:r="http://schemas.openxmlformats.org/officeDocument/2006/relationships" id="262" r:id="R83c71fa6730747fb"/>
    <p:sldId xmlns:r="http://schemas.openxmlformats.org/officeDocument/2006/relationships" id="263" r:id="R2bbb91e7e4de4c4c"/>
    <p:sldId xmlns:r="http://schemas.openxmlformats.org/officeDocument/2006/relationships" id="264" r:id="Rf47065bbd9544c6a"/>
    <p:sldId xmlns:r="http://schemas.openxmlformats.org/officeDocument/2006/relationships" id="265" r:id="R7c19fad4377d4228"/>
    <p:sldId xmlns:r="http://schemas.openxmlformats.org/officeDocument/2006/relationships" id="266" r:id="R44fe53aa74154fe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e5ac5de28a485a" /><Relationship Type="http://schemas.openxmlformats.org/officeDocument/2006/relationships/slideMaster" Target="/ppt/slideMasters/slideMaster1.xml" Id="R0c1897a0294d486b" /><Relationship Type="http://schemas.openxmlformats.org/officeDocument/2006/relationships/notesMaster" Target="/ppt/notesMasters/notesMaster1.xml" Id="R51b207f39b1446f7" /><Relationship Type="http://schemas.openxmlformats.org/officeDocument/2006/relationships/presProps" Target="/ppt/presProps.xml" Id="Rd7689db2d04344ca" /><Relationship Type="http://schemas.openxmlformats.org/officeDocument/2006/relationships/tableStyles" Target="/ppt/tableStyles.xml" Id="R9e97f6181ae849b9" /><Relationship Type="http://schemas.openxmlformats.org/officeDocument/2006/relationships/slide" Target="/ppt/slides/slide1.xml" Id="Rd261b6721c3b4129" /><Relationship Type="http://schemas.openxmlformats.org/officeDocument/2006/relationships/slide" Target="/ppt/slides/slide2.xml" Id="Re77ea4b34e734ef4" /><Relationship Type="http://schemas.openxmlformats.org/officeDocument/2006/relationships/slide" Target="/ppt/slides/slide3.xml" Id="R8be631e08d46461c" /><Relationship Type="http://schemas.openxmlformats.org/officeDocument/2006/relationships/slide" Target="/ppt/slides/slide4.xml" Id="Refed7fa251df447f" /><Relationship Type="http://schemas.openxmlformats.org/officeDocument/2006/relationships/slide" Target="/ppt/slides/slide5.xml" Id="R1455dd84eff84935" /><Relationship Type="http://schemas.openxmlformats.org/officeDocument/2006/relationships/slide" Target="/ppt/slides/slide6.xml" Id="R9c05a551168d44c4" /><Relationship Type="http://schemas.openxmlformats.org/officeDocument/2006/relationships/slide" Target="/ppt/slides/slide7.xml" Id="R83c71fa6730747fb" /><Relationship Type="http://schemas.openxmlformats.org/officeDocument/2006/relationships/slide" Target="/ppt/slides/slide8.xml" Id="R2bbb91e7e4de4c4c" /><Relationship Type="http://schemas.openxmlformats.org/officeDocument/2006/relationships/slide" Target="/ppt/slides/slide9.xml" Id="Rf47065bbd9544c6a" /><Relationship Type="http://schemas.openxmlformats.org/officeDocument/2006/relationships/slide" Target="/ppt/slides/slide10.xml" Id="R7c19fad4377d4228" /><Relationship Type="http://schemas.openxmlformats.org/officeDocument/2006/relationships/slide" Target="/ppt/slides/slide11.xml" Id="R44fe53aa74154f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47dda7d9bd4f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d968b8c15741b1" /><Relationship Type="http://schemas.openxmlformats.org/officeDocument/2006/relationships/notesMaster" Target="/ppt/notesMasters/notesMaster1.xml" Id="Re2452f8157a84a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7527754df44a0a" /><Relationship Type="http://schemas.openxmlformats.org/officeDocument/2006/relationships/notesMaster" Target="/ppt/notesMasters/notesMaster1.xml" Id="R0ae7eaaeb1fd47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f204e3e2584582" /><Relationship Type="http://schemas.openxmlformats.org/officeDocument/2006/relationships/notesMaster" Target="/ppt/notesMasters/notesMaster1.xml" Id="R11bb6c10784a4a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40897dedbb4002" /><Relationship Type="http://schemas.openxmlformats.org/officeDocument/2006/relationships/notesMaster" Target="/ppt/notesMasters/notesMaster1.xml" Id="R4078b70131a94c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44d0ef476a4b24" /><Relationship Type="http://schemas.openxmlformats.org/officeDocument/2006/relationships/notesMaster" Target="/ppt/notesMasters/notesMaster1.xml" Id="Rf8a13d105c7a4b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035d242a1846ca" /><Relationship Type="http://schemas.openxmlformats.org/officeDocument/2006/relationships/notesMaster" Target="/ppt/notesMasters/notesMaster1.xml" Id="Raeddca3e256f4f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05fb01febb421a" /><Relationship Type="http://schemas.openxmlformats.org/officeDocument/2006/relationships/notesMaster" Target="/ppt/notesMasters/notesMaster1.xml" Id="R754dcaf35b0b49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c5d09de46a4d3d" /><Relationship Type="http://schemas.openxmlformats.org/officeDocument/2006/relationships/notesMaster" Target="/ppt/notesMasters/notesMaster1.xml" Id="Rce1d6ccc7ab749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f1b7ce03f44cfb" /><Relationship Type="http://schemas.openxmlformats.org/officeDocument/2006/relationships/notesMaster" Target="/ppt/notesMasters/notesMaster1.xml" Id="R2439e9c2ce034f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6ca8092c5f41f2" /><Relationship Type="http://schemas.openxmlformats.org/officeDocument/2006/relationships/notesMaster" Target="/ppt/notesMasters/notesMaster1.xml" Id="Re7d51b50111149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d4e97ce02c404f" /><Relationship Type="http://schemas.openxmlformats.org/officeDocument/2006/relationships/notesMaster" Target="/ppt/notesMasters/notesMaster1.xml" Id="Rced8e2810dd040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is about two connected questions: how do we get the right people to try Departure, and how do we reliably produce and deliver the app? HeadStart is the project team; Departure is the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marketing, the product is not a list of APIs or widgets. The real benefit is a morning with less guessing and less rushing. The features are proof that the promise is believable.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market is deliberately narrow at first. We are designing for students with real schedule changes, not everyone who owns an alarm clock. Parents and schools can help students discover it, but students are the main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launch recommendations, not current promises. The important choice is to keep the first version free and easy to try, then earn the right to add extras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best marketing moment is visual: traffic changes, and the leave and wake plan changes with it. That can be understood in a few seconds without explaining the technology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small pilot is not a weak launch. It is how we learn whether people can set up the app, whether the alarm arrives, and whether they come back after the first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no physical assembly line. Our manufacturing process is a repeatable software pipeline. A version should not skip straight from coding to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is more than the screen. It combines the app experience, outside services such as traffic and calendars, and native phone features that deliver alarms and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alarm product has to earn trust. We test the math, the operating-system delivery, the data fallback, and the privacy model before treating a version as 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Software can be copied cheaply, but the product still has ongoing costs. We need release accounts, data services, hosting, monitoring, and people who keep the app reliable.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Marketing gets the first try. Manufacturing earns the second. Our first success is not a huge download number; it is a group of students who trust the app enough to use it on a real morning.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bf7800f2644b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f2042bf2f94d00" /><Relationship Type="http://schemas.openxmlformats.org/officeDocument/2006/relationships/slideLayout" Target="/ppt/slideLayouts/slideLayout1.xml" Id="R65b927f655c94a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b927f655c94a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3be4575efb4d63" /><Relationship Type="http://schemas.openxmlformats.org/officeDocument/2006/relationships/image" Target="/ppt/media/image.png" Id="Rde532e1009214570" /><Relationship Type="http://schemas.openxmlformats.org/officeDocument/2006/relationships/notesSlide" Target="/ppt/notesSlides/notesSlide1.xml" Id="Raae5b554312b4b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368dc2e50e45cf" /><Relationship Type="http://schemas.openxmlformats.org/officeDocument/2006/relationships/image" Target="/ppt/media/image2.png" Id="R30c8f7f08ac24feb" /><Relationship Type="http://schemas.openxmlformats.org/officeDocument/2006/relationships/notesSlide" Target="/ppt/notesSlides/notesSlide2.xml" Id="R61a6cf5f379246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d93ea98fd746db" /><Relationship Type="http://schemas.openxmlformats.org/officeDocument/2006/relationships/notesSlide" Target="/ppt/notesSlides/notesSlide3.xml" Id="R75a97c0221314b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1344b815554294" /><Relationship Type="http://schemas.openxmlformats.org/officeDocument/2006/relationships/notesSlide" Target="/ppt/notesSlides/notesSlide4.xml" Id="R35707c0d156649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bd2d05e0554fe2" /><Relationship Type="http://schemas.openxmlformats.org/officeDocument/2006/relationships/image" Target="/ppt/media/image3.png" Id="R164dceac30b24544" /><Relationship Type="http://schemas.openxmlformats.org/officeDocument/2006/relationships/notesSlide" Target="/ppt/notesSlides/notesSlide5.xml" Id="Rbe67b348d6e241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0fae5b5db64172" /><Relationship Type="http://schemas.openxmlformats.org/officeDocument/2006/relationships/notesSlide" Target="/ppt/notesSlides/notesSlide6.xml" Id="Rd94d535b18ad43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f401f7a1874240" /><Relationship Type="http://schemas.openxmlformats.org/officeDocument/2006/relationships/notesSlide" Target="/ppt/notesSlides/notesSlide7.xml" Id="Rcb4f3e7ca70240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4f8b96a6394389" /><Relationship Type="http://schemas.openxmlformats.org/officeDocument/2006/relationships/notesSlide" Target="/ppt/notesSlides/notesSlide8.xml" Id="Reb7ff3e74e1043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5d8b880c2f94683" /><Relationship Type="http://schemas.openxmlformats.org/officeDocument/2006/relationships/image" Target="/ppt/media/image4.png" Id="R12739226009c4730" /><Relationship Type="http://schemas.openxmlformats.org/officeDocument/2006/relationships/notesSlide" Target="/ppt/notesSlides/notesSlide9.xml" Id="Re7e3f68367b542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eefc6590484e86" /><Relationship Type="http://schemas.openxmlformats.org/officeDocument/2006/relationships/notesSlide" Target="/ppt/notesSlides/notesSlide10.xml" Id="R01e6375ab0a449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d7673ec7174a1e" /><Relationship Type="http://schemas.openxmlformats.org/officeDocument/2006/relationships/notesSlide" Target="/ppt/notesSlides/notesSlide11.xml" Id="R9e0ab513cc9c4ac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cover-eyebrow">
            <a:extLst xmlns:a="http://schemas.openxmlformats.org/drawingml/2006/main">
              <a:ext uri="{FF2B5EF4-FFF2-40B4-BE49-F238E27FC236}">
                <a16:creationId xmlns:a16="http://schemas.microsoft.com/office/drawing/2014/main" id="{A151A86F-90F8-43A8-A082-57CD624F6106}"/>
              </a:ext>
            </a:extLst>
          </p:cNvPr>
          <p:cNvSpPr>
            <a:spLocks xmlns:a="http://schemas.openxmlformats.org/drawingml/2006/main" noGrp="1"/>
          </p:cNvSpPr>
          <p:nvPr/>
        </p:nvSpPr>
        <p:spPr>
          <a:xfrm xmlns:a="http://schemas.openxmlformats.org/drawingml/2006/main">
            <a:off x="457200" y="361950"/>
            <a:ext cx="28575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E756A"/>
                </a:solidFill>
                <a:latin typeface="Helvetica Neue"/>
                <a:ea typeface="Helvetica Neue"/>
                <a:cs typeface="Helvetica Neue"/>
              </a:defRPr>
            </a:pPr>
            <a:r>
              <a:t>HEADSTART PROJECT</a:t>
            </a:r>
          </a:p>
        </p:txBody>
      </p:sp>
      <p:sp>
        <p:nvSpPr>
          <p:cNvPr id="2" name="cover-title">
            <a:extLst xmlns:a="http://schemas.openxmlformats.org/drawingml/2006/main">
              <a:ext uri="{FF2B5EF4-FFF2-40B4-BE49-F238E27FC236}">
                <a16:creationId xmlns:a16="http://schemas.microsoft.com/office/drawing/2014/main" id="{8EA279E1-8550-447F-9E76-DCD65416910B}"/>
              </a:ext>
            </a:extLst>
          </p:cNvPr>
          <p:cNvSpPr>
            <a:spLocks xmlns:a="http://schemas.openxmlformats.org/drawingml/2006/main" noGrp="1"/>
          </p:cNvSpPr>
          <p:nvPr/>
        </p:nvSpPr>
        <p:spPr>
          <a:xfrm xmlns:a="http://schemas.openxmlformats.org/drawingml/2006/main">
            <a:off x="457200" y="1428750"/>
            <a:ext cx="5381625" cy="1428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101820"/>
                </a:solidFill>
                <a:latin typeface="Helvetica Neue"/>
                <a:ea typeface="Helvetica Neue"/>
                <a:cs typeface="Helvetica Neue"/>
              </a:defRPr>
            </a:pPr>
            <a:r>
              <a:t>Marketing &amp;
Manufacturing</a:t>
            </a:r>
          </a:p>
        </p:txBody>
      </p:sp>
      <p:sp>
        <p:nvSpPr>
          <p:cNvPr id="3" name="cover-subtitle">
            <a:extLst xmlns:a="http://schemas.openxmlformats.org/drawingml/2006/main">
              <a:ext uri="{FF2B5EF4-FFF2-40B4-BE49-F238E27FC236}">
                <a16:creationId xmlns:a16="http://schemas.microsoft.com/office/drawing/2014/main" id="{7D159490-EE51-4C6F-A5BA-3BFC9F2BAEAF}"/>
              </a:ext>
            </a:extLst>
          </p:cNvPr>
          <p:cNvSpPr>
            <a:spLocks xmlns:a="http://schemas.openxmlformats.org/drawingml/2006/main" noGrp="1"/>
          </p:cNvSpPr>
          <p:nvPr/>
        </p:nvSpPr>
        <p:spPr>
          <a:xfrm xmlns:a="http://schemas.openxmlformats.org/drawingml/2006/main">
            <a:off x="457200" y="3190875"/>
            <a:ext cx="5143500" cy="857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F6B78"/>
                </a:solidFill>
                <a:latin typeface="Helvetica Neue"/>
                <a:ea typeface="Helvetica Neue"/>
                <a:cs typeface="Helvetica Neue"/>
              </a:defRPr>
            </a:pPr>
            <a:r>
              <a:t>How we find users—and how we build the product.</a:t>
            </a:r>
          </a:p>
        </p:txBody>
      </p:sp>
      <p:cxnSp>
        <p:nvCxnSpPr>
          <p:cNvPr id="11" name="cover-rule"/>
          <p:cNvCxnSpPr/>
          <p:nvPr/>
        </p:nvCxnSpPr>
        <p:spPr>
          <a:xfrm xmlns:a="http://schemas.openxmlformats.org/drawingml/2006/main">
            <a:off x="457200" y="4333875"/>
            <a:ext cx="1695450" cy="286"/>
          </a:xfrm>
          <a:prstGeom xmlns:a="http://schemas.openxmlformats.org/drawingml/2006/main" prst="straightConnector1">
            <a:avLst/>
          </a:prstGeom>
          <a:ln xmlns:a="http://schemas.openxmlformats.org/drawingml/2006/main" w="38100">
            <a:solidFill>
              <a:srgbClr val="20BFA8"/>
            </a:solidFill>
            <a:prstDash val="solid"/>
          </a:ln>
        </p:spPr>
      </p:cxnSp>
      <p:sp>
        <p:nvSpPr>
          <p:cNvPr id="5" name="cover-product">
            <a:extLst xmlns:a="http://schemas.openxmlformats.org/drawingml/2006/main">
              <a:ext uri="{FF2B5EF4-FFF2-40B4-BE49-F238E27FC236}">
                <a16:creationId xmlns:a16="http://schemas.microsoft.com/office/drawing/2014/main" id="{362FCEAB-CA2B-4C00-8D17-EFE9695D87E9}"/>
              </a:ext>
            </a:extLst>
          </p:cNvPr>
          <p:cNvSpPr>
            <a:spLocks xmlns:a="http://schemas.openxmlformats.org/drawingml/2006/main" noGrp="1"/>
          </p:cNvSpPr>
          <p:nvPr/>
        </p:nvSpPr>
        <p:spPr>
          <a:xfrm xmlns:a="http://schemas.openxmlformats.org/drawingml/2006/main">
            <a:off x="457200" y="4667250"/>
            <a:ext cx="40005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01820"/>
                </a:solidFill>
                <a:latin typeface="Helvetica Neue"/>
                <a:ea typeface="Helvetica Neue"/>
                <a:cs typeface="Helvetica Neue"/>
              </a:defRPr>
            </a:pPr>
            <a:r>
              <a:t>Departure by Team HeadStart</a:t>
            </a:r>
          </a:p>
        </p:txBody>
      </p:sp>
      <p:sp>
        <p:nvSpPr>
          <p:cNvPr id="6" name="cover-image-frame">
            <a:extLst xmlns:a="http://schemas.openxmlformats.org/drawingml/2006/main">
              <a:ext uri="{FF2B5EF4-FFF2-40B4-BE49-F238E27FC236}">
                <a16:creationId xmlns:a16="http://schemas.microsoft.com/office/drawing/2014/main" id="{BCDECB93-C206-4BC8-A13F-01CA9A2CDE82}"/>
              </a:ext>
            </a:extLst>
          </p:cNvPr>
          <p:cNvSpPr>
            <a:spLocks xmlns:a="http://schemas.openxmlformats.org/drawingml/2006/main" noGrp="1"/>
          </p:cNvSpPr>
          <p:nvPr/>
        </p:nvSpPr>
        <p:spPr>
          <a:xfrm xmlns:a="http://schemas.openxmlformats.org/drawingml/2006/main">
            <a:off x="6381750" y="381000"/>
            <a:ext cx="5353050" cy="6096000"/>
          </a:xfrm>
          <a:prstGeom xmlns:a="http://schemas.openxmlformats.org/drawingml/2006/main" prst="roundRect">
            <a:avLst>
              <a:gd name="adj" fmla="val 1423"/>
            </a:avLst>
          </a:prstGeom>
          <a:solidFill xmlns:a="http://schemas.openxmlformats.org/drawingml/2006/main">
            <a:srgbClr val="DDF7F2"/>
          </a:solidFill>
          <a:ln xmlns:a="http://schemas.openxmlformats.org/drawingml/2006/main" w="9525">
            <a:solidFill>
              <a:srgbClr val="BBC5C8"/>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e532e1009214570"/>
          <a:srcRect xmlns:a="http://schemas.openxmlformats.org/drawingml/2006/main" l="0" t="11" r="0" b="11"/>
          <a:stretch xmlns:a="http://schemas.openxmlformats.org/drawingml/2006/main">
            <a:fillRect l="0" t="0" r="0" b="0"/>
          </a:stretch>
        </p:blipFill>
        <p:spPr>
          <a:xfrm xmlns:a="http://schemas.openxmlformats.org/drawingml/2006/main">
            <a:off x="6667500" y="609600"/>
            <a:ext cx="4781550" cy="5638800"/>
          </a:xfrm>
          <a:prstGeom xmlns:a="http://schemas.openxmlformats.org/drawingml/2006/main" prst="roundRect">
            <a:avLst>
              <a:gd name="adj" fmla="val 3586"/>
            </a:avLst>
          </a:prstGeom>
        </p:spPr>
      </p:pic>
    </p:spTree>
    <p:extLst>
      <p:ext uri="{BB962C8B-B14F-4D97-AF65-F5344CB8AC3E}">
        <p14:creationId xmlns:p14="http://schemas.microsoft.com/office/powerpoint/2010/main" val="1343353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2">
            <a:extLst xmlns:a="http://schemas.openxmlformats.org/drawingml/2006/main">
              <a:ext uri="{FF2B5EF4-FFF2-40B4-BE49-F238E27FC236}">
                <a16:creationId xmlns:a16="http://schemas.microsoft.com/office/drawing/2014/main" id="{D0871A8E-3C77-4753-AAA9-C2DC15D6BD9B}"/>
              </a:ext>
            </a:extLst>
          </p:cNvPr>
          <p:cNvSpPr>
            <a:spLocks xmlns:a="http://schemas.openxmlformats.org/drawingml/2006/main" noGrp="1"/>
          </p:cNvSpPr>
          <p:nvPr/>
        </p:nvSpPr>
        <p:spPr>
          <a:xfrm xmlns:a="http://schemas.openxmlformats.org/drawingml/2006/main">
            <a:off x="457200" y="342900"/>
            <a:ext cx="34290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THE PRODUCT</a:t>
            </a:r>
          </a:p>
        </p:txBody>
      </p:sp>
      <p:sp>
        <p:nvSpPr>
          <p:cNvPr id="2" name="title-2">
            <a:extLst xmlns:a="http://schemas.openxmlformats.org/drawingml/2006/main">
              <a:ext uri="{FF2B5EF4-FFF2-40B4-BE49-F238E27FC236}">
                <a16:creationId xmlns:a16="http://schemas.microsoft.com/office/drawing/2014/main" id="{9DF081B1-4387-416C-AC4E-9A8F868CF3BA}"/>
              </a:ext>
            </a:extLst>
          </p:cNvPr>
          <p:cNvSpPr>
            <a:spLocks xmlns:a="http://schemas.openxmlformats.org/drawingml/2006/main" noGrp="1"/>
          </p:cNvSpPr>
          <p:nvPr/>
        </p:nvSpPr>
        <p:spPr>
          <a:xfrm xmlns:a="http://schemas.openxmlformats.org/drawingml/2006/main">
            <a:off x="457200" y="704850"/>
            <a:ext cx="111252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We are selling a calmer morning—not just an alarm.</a:t>
            </a:r>
          </a:p>
        </p:txBody>
      </p:sp>
      <p:sp>
        <p:nvSpPr>
          <p:cNvPr id="3" name="value-intro">
            <a:extLst xmlns:a="http://schemas.openxmlformats.org/drawingml/2006/main">
              <a:ext uri="{FF2B5EF4-FFF2-40B4-BE49-F238E27FC236}">
                <a16:creationId xmlns:a16="http://schemas.microsoft.com/office/drawing/2014/main" id="{EE20720F-F54C-47C4-A4AE-C45705D2E38C}"/>
              </a:ext>
            </a:extLst>
          </p:cNvPr>
          <p:cNvSpPr>
            <a:spLocks xmlns:a="http://schemas.openxmlformats.org/drawingml/2006/main" noGrp="1"/>
          </p:cNvSpPr>
          <p:nvPr/>
        </p:nvSpPr>
        <p:spPr>
          <a:xfrm xmlns:a="http://schemas.openxmlformats.org/drawingml/2006/main">
            <a:off x="457200" y="1524000"/>
            <a:ext cx="495300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F6B78"/>
                </a:solidFill>
                <a:latin typeface="Helvetica Neue"/>
                <a:ea typeface="Helvetica Neue"/>
                <a:cs typeface="Helvetica Neue"/>
              </a:defRPr>
            </a:pPr>
            <a:r>
              <a:t>Departure works backward from where you need to be.</a:t>
            </a:r>
          </a:p>
        </p:txBody>
      </p:sp>
      <p:sp>
        <p:nvSpPr>
          <p:cNvPr id="4" name="value-label-1">
            <a:extLst xmlns:a="http://schemas.openxmlformats.org/drawingml/2006/main">
              <a:ext uri="{FF2B5EF4-FFF2-40B4-BE49-F238E27FC236}">
                <a16:creationId xmlns:a16="http://schemas.microsoft.com/office/drawing/2014/main" id="{C7761A04-E265-4F7C-98CE-AAAC1B98709D}"/>
              </a:ext>
            </a:extLst>
          </p:cNvPr>
          <p:cNvSpPr>
            <a:spLocks xmlns:a="http://schemas.openxmlformats.org/drawingml/2006/main" noGrp="1"/>
          </p:cNvSpPr>
          <p:nvPr/>
        </p:nvSpPr>
        <p:spPr>
          <a:xfrm xmlns:a="http://schemas.openxmlformats.org/drawingml/2006/main">
            <a:off x="457200" y="2667000"/>
            <a:ext cx="44767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LESS GUESSING</a:t>
            </a:r>
          </a:p>
        </p:txBody>
      </p:sp>
      <p:sp>
        <p:nvSpPr>
          <p:cNvPr id="5" name="value-body-1">
            <a:extLst xmlns:a="http://schemas.openxmlformats.org/drawingml/2006/main">
              <a:ext uri="{FF2B5EF4-FFF2-40B4-BE49-F238E27FC236}">
                <a16:creationId xmlns:a16="http://schemas.microsoft.com/office/drawing/2014/main" id="{2B45C881-801F-439F-91A9-37D3280F5B10}"/>
              </a:ext>
            </a:extLst>
          </p:cNvPr>
          <p:cNvSpPr>
            <a:spLocks xmlns:a="http://schemas.openxmlformats.org/drawingml/2006/main" noGrp="1"/>
          </p:cNvSpPr>
          <p:nvPr/>
        </p:nvSpPr>
        <p:spPr>
          <a:xfrm xmlns:a="http://schemas.openxmlformats.org/drawingml/2006/main">
            <a:off x="457200" y="2952750"/>
            <a:ext cx="4619625" cy="552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01820"/>
                </a:solidFill>
                <a:latin typeface="Helvetica Neue"/>
                <a:ea typeface="Helvetica Neue"/>
                <a:cs typeface="Helvetica Neue"/>
              </a:defRPr>
            </a:pPr>
            <a:r>
              <a:t>One clear wake, leave, and arrive plan</a:t>
            </a:r>
          </a:p>
        </p:txBody>
      </p:sp>
      <p:cxnSp>
        <p:nvCxnSpPr>
          <p:cNvPr id="20" name="value-rule-1"/>
          <p:cNvCxnSpPr/>
          <p:nvPr/>
        </p:nvCxnSpPr>
        <p:spPr>
          <a:xfrm xmlns:a="http://schemas.openxmlformats.org/drawingml/2006/main">
            <a:off x="457200" y="3533775"/>
            <a:ext cx="4524375" cy="286"/>
          </a:xfrm>
          <a:prstGeom xmlns:a="http://schemas.openxmlformats.org/drawingml/2006/main" prst="straightConnector1">
            <a:avLst/>
          </a:prstGeom>
          <a:ln xmlns:a="http://schemas.openxmlformats.org/drawingml/2006/main" w="9525">
            <a:solidFill>
              <a:srgbClr val="BBC5C8"/>
            </a:solidFill>
            <a:prstDash val="solid"/>
          </a:ln>
        </p:spPr>
      </p:cxnSp>
      <p:sp>
        <p:nvSpPr>
          <p:cNvPr id="7" name="value-label-2">
            <a:extLst xmlns:a="http://schemas.openxmlformats.org/drawingml/2006/main">
              <a:ext uri="{FF2B5EF4-FFF2-40B4-BE49-F238E27FC236}">
                <a16:creationId xmlns:a16="http://schemas.microsoft.com/office/drawing/2014/main" id="{AA84163D-3121-4F65-A7F4-93C35D306395}"/>
              </a:ext>
            </a:extLst>
          </p:cNvPr>
          <p:cNvSpPr>
            <a:spLocks xmlns:a="http://schemas.openxmlformats.org/drawingml/2006/main" noGrp="1"/>
          </p:cNvSpPr>
          <p:nvPr/>
        </p:nvSpPr>
        <p:spPr>
          <a:xfrm xmlns:a="http://schemas.openxmlformats.org/drawingml/2006/main">
            <a:off x="457200" y="3667125"/>
            <a:ext cx="44767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LESS RUSHING</a:t>
            </a:r>
          </a:p>
        </p:txBody>
      </p:sp>
      <p:sp>
        <p:nvSpPr>
          <p:cNvPr id="8" name="value-body-2">
            <a:extLst xmlns:a="http://schemas.openxmlformats.org/drawingml/2006/main">
              <a:ext uri="{FF2B5EF4-FFF2-40B4-BE49-F238E27FC236}">
                <a16:creationId xmlns:a16="http://schemas.microsoft.com/office/drawing/2014/main" id="{35A5B52D-D924-45D2-8D3E-C04D16ABF9F9}"/>
              </a:ext>
            </a:extLst>
          </p:cNvPr>
          <p:cNvSpPr>
            <a:spLocks xmlns:a="http://schemas.openxmlformats.org/drawingml/2006/main" noGrp="1"/>
          </p:cNvSpPr>
          <p:nvPr/>
        </p:nvSpPr>
        <p:spPr>
          <a:xfrm xmlns:a="http://schemas.openxmlformats.org/drawingml/2006/main">
            <a:off x="457200" y="3952875"/>
            <a:ext cx="4619625" cy="552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01820"/>
                </a:solidFill>
                <a:latin typeface="Helvetica Neue"/>
                <a:ea typeface="Helvetica Neue"/>
                <a:cs typeface="Helvetica Neue"/>
              </a:defRPr>
            </a:pPr>
            <a:r>
              <a:t>Traffic changes the plan before it becomes a surprise</a:t>
            </a:r>
          </a:p>
        </p:txBody>
      </p:sp>
      <p:cxnSp>
        <p:nvCxnSpPr>
          <p:cNvPr id="23" name="value-rule-2"/>
          <p:cNvCxnSpPr/>
          <p:nvPr/>
        </p:nvCxnSpPr>
        <p:spPr>
          <a:xfrm xmlns:a="http://schemas.openxmlformats.org/drawingml/2006/main">
            <a:off x="457200" y="4533900"/>
            <a:ext cx="4524375" cy="286"/>
          </a:xfrm>
          <a:prstGeom xmlns:a="http://schemas.openxmlformats.org/drawingml/2006/main" prst="straightConnector1">
            <a:avLst/>
          </a:prstGeom>
          <a:ln xmlns:a="http://schemas.openxmlformats.org/drawingml/2006/main" w="9525">
            <a:solidFill>
              <a:srgbClr val="BBC5C8"/>
            </a:solidFill>
            <a:prstDash val="solid"/>
          </a:ln>
        </p:spPr>
      </p:cxnSp>
      <p:sp>
        <p:nvSpPr>
          <p:cNvPr id="10" name="value-label-3">
            <a:extLst xmlns:a="http://schemas.openxmlformats.org/drawingml/2006/main">
              <a:ext uri="{FF2B5EF4-FFF2-40B4-BE49-F238E27FC236}">
                <a16:creationId xmlns:a16="http://schemas.microsoft.com/office/drawing/2014/main" id="{758AB14C-8CA1-40D3-B334-D3B91B2CE026}"/>
              </a:ext>
            </a:extLst>
          </p:cNvPr>
          <p:cNvSpPr>
            <a:spLocks xmlns:a="http://schemas.openxmlformats.org/drawingml/2006/main" noGrp="1"/>
          </p:cNvSpPr>
          <p:nvPr/>
        </p:nvSpPr>
        <p:spPr>
          <a:xfrm xmlns:a="http://schemas.openxmlformats.org/drawingml/2006/main">
            <a:off x="457200" y="4667250"/>
            <a:ext cx="44767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MORE CONFIDENCE</a:t>
            </a:r>
          </a:p>
        </p:txBody>
      </p:sp>
      <p:sp>
        <p:nvSpPr>
          <p:cNvPr id="11" name="value-body-3">
            <a:extLst xmlns:a="http://schemas.openxmlformats.org/drawingml/2006/main">
              <a:ext uri="{FF2B5EF4-FFF2-40B4-BE49-F238E27FC236}">
                <a16:creationId xmlns:a16="http://schemas.microsoft.com/office/drawing/2014/main" id="{DC453A5C-F532-41FE-A901-E83810C44944}"/>
              </a:ext>
            </a:extLst>
          </p:cNvPr>
          <p:cNvSpPr>
            <a:spLocks xmlns:a="http://schemas.openxmlformats.org/drawingml/2006/main" noGrp="1"/>
          </p:cNvSpPr>
          <p:nvPr/>
        </p:nvSpPr>
        <p:spPr>
          <a:xfrm xmlns:a="http://schemas.openxmlformats.org/drawingml/2006/main">
            <a:off x="457200" y="4953000"/>
            <a:ext cx="4619625" cy="552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01820"/>
                </a:solidFill>
                <a:latin typeface="Helvetica Neue"/>
                <a:ea typeface="Helvetica Neue"/>
                <a:cs typeface="Helvetica Neue"/>
              </a:defRPr>
            </a:pPr>
            <a:r>
              <a:t>The screen shows whether the current buffer feels safe</a:t>
            </a:r>
          </a:p>
        </p:txBody>
      </p:sp>
      <p:sp>
        <p:nvSpPr>
          <p:cNvPr id="12" name="value-image-frame">
            <a:extLst xmlns:a="http://schemas.openxmlformats.org/drawingml/2006/main">
              <a:ext uri="{FF2B5EF4-FFF2-40B4-BE49-F238E27FC236}">
                <a16:creationId xmlns:a16="http://schemas.microsoft.com/office/drawing/2014/main" id="{49C8644B-46C1-4FC2-9D9D-255AD1A5A265}"/>
              </a:ext>
            </a:extLst>
          </p:cNvPr>
          <p:cNvSpPr>
            <a:spLocks xmlns:a="http://schemas.openxmlformats.org/drawingml/2006/main" noGrp="1"/>
          </p:cNvSpPr>
          <p:nvPr/>
        </p:nvSpPr>
        <p:spPr>
          <a:xfrm xmlns:a="http://schemas.openxmlformats.org/drawingml/2006/main">
            <a:off x="5619750" y="1524000"/>
            <a:ext cx="6115050" cy="4667250"/>
          </a:xfrm>
          <a:prstGeom xmlns:a="http://schemas.openxmlformats.org/drawingml/2006/main" prst="roundRect">
            <a:avLst>
              <a:gd name="adj" fmla="val 1633"/>
            </a:avLst>
          </a:prstGeom>
          <a:solidFill xmlns:a="http://schemas.openxmlformats.org/drawingml/2006/main">
            <a:srgbClr val="DDF7F2"/>
          </a:solidFill>
          <a:ln xmlns:a="http://schemas.openxmlformats.org/drawingml/2006/main" w="9525">
            <a:solidFill>
              <a:srgbClr val="BBC5C8"/>
            </a:solidFill>
            <a:prstDash val="solid"/>
          </a:ln>
        </p:spPr>
      </p:sp>
      <p:sp>
        <p:nvSpPr>
          <p:cNvPr id="13" name="page-2">
            <a:extLst xmlns:a="http://schemas.openxmlformats.org/drawingml/2006/main">
              <a:ext uri="{FF2B5EF4-FFF2-40B4-BE49-F238E27FC236}">
                <a16:creationId xmlns:a16="http://schemas.microsoft.com/office/drawing/2014/main" id="{7A5E3B37-65AA-4F04-857C-520F09863102}"/>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2</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0c8f7f08ac24feb"/>
          <a:srcRect xmlns:a="http://schemas.openxmlformats.org/drawingml/2006/main" l="0" t="35535" r="0" b="35535"/>
          <a:stretch xmlns:a="http://schemas.openxmlformats.org/drawingml/2006/main">
            <a:fillRect l="0" t="0" r="0" b="0"/>
          </a:stretch>
        </p:blipFill>
        <p:spPr>
          <a:xfrm xmlns:a="http://schemas.openxmlformats.org/drawingml/2006/main">
            <a:off x="5905500" y="1714500"/>
            <a:ext cx="5524500" cy="4286250"/>
          </a:xfrm>
          <a:prstGeom xmlns:a="http://schemas.openxmlformats.org/drawingml/2006/main" prst="roundRect">
            <a:avLst>
              <a:gd name="adj" fmla="val 4000"/>
            </a:avLst>
          </a:prstGeom>
        </p:spPr>
      </p:pic>
    </p:spTree>
    <p:extLst>
      <p:ext uri="{BB962C8B-B14F-4D97-AF65-F5344CB8AC3E}">
        <p14:creationId xmlns:p14="http://schemas.microsoft.com/office/powerpoint/2010/main" val="16228822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3">
            <a:extLst xmlns:a="http://schemas.openxmlformats.org/drawingml/2006/main">
              <a:ext uri="{FF2B5EF4-FFF2-40B4-BE49-F238E27FC236}">
                <a16:creationId xmlns:a16="http://schemas.microsoft.com/office/drawing/2014/main" id="{9E5B2193-0CE1-47A4-BC19-E68C838D8927}"/>
              </a:ext>
            </a:extLst>
          </p:cNvPr>
          <p:cNvSpPr>
            <a:spLocks xmlns:a="http://schemas.openxmlformats.org/drawingml/2006/main" noGrp="1"/>
          </p:cNvSpPr>
          <p:nvPr/>
        </p:nvSpPr>
        <p:spPr>
          <a:xfrm xmlns:a="http://schemas.openxmlformats.org/drawingml/2006/main">
            <a:off x="457200" y="342900"/>
            <a:ext cx="34290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TARGET MARKET</a:t>
            </a:r>
          </a:p>
        </p:txBody>
      </p:sp>
      <p:sp>
        <p:nvSpPr>
          <p:cNvPr id="2" name="title-3">
            <a:extLst xmlns:a="http://schemas.openxmlformats.org/drawingml/2006/main">
              <a:ext uri="{FF2B5EF4-FFF2-40B4-BE49-F238E27FC236}">
                <a16:creationId xmlns:a16="http://schemas.microsoft.com/office/drawing/2014/main" id="{4841DAEC-D8AD-4B57-983F-ACE4703DB1DF}"/>
              </a:ext>
            </a:extLst>
          </p:cNvPr>
          <p:cNvSpPr>
            <a:spLocks xmlns:a="http://schemas.openxmlformats.org/drawingml/2006/main" noGrp="1"/>
          </p:cNvSpPr>
          <p:nvPr/>
        </p:nvSpPr>
        <p:spPr>
          <a:xfrm xmlns:a="http://schemas.openxmlformats.org/drawingml/2006/main">
            <a:off x="457200" y="704850"/>
            <a:ext cx="111252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Start with students whose mornings keep changing.</a:t>
            </a:r>
          </a:p>
        </p:txBody>
      </p:sp>
      <p:sp>
        <p:nvSpPr>
          <p:cNvPr id="3" name="audience-primary-label">
            <a:extLst xmlns:a="http://schemas.openxmlformats.org/drawingml/2006/main">
              <a:ext uri="{FF2B5EF4-FFF2-40B4-BE49-F238E27FC236}">
                <a16:creationId xmlns:a16="http://schemas.microsoft.com/office/drawing/2014/main" id="{E6F1E7A6-72DF-4839-9DC0-C0D3BF2350DC}"/>
              </a:ext>
            </a:extLst>
          </p:cNvPr>
          <p:cNvSpPr>
            <a:spLocks xmlns:a="http://schemas.openxmlformats.org/drawingml/2006/main" noGrp="1"/>
          </p:cNvSpPr>
          <p:nvPr/>
        </p:nvSpPr>
        <p:spPr>
          <a:xfrm xmlns:a="http://schemas.openxmlformats.org/drawingml/2006/main">
            <a:off x="457200" y="1809750"/>
            <a:ext cx="2667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PRIMARY USER</a:t>
            </a:r>
          </a:p>
        </p:txBody>
      </p:sp>
      <p:sp>
        <p:nvSpPr>
          <p:cNvPr id="4" name="audience-primary">
            <a:extLst xmlns:a="http://schemas.openxmlformats.org/drawingml/2006/main">
              <a:ext uri="{FF2B5EF4-FFF2-40B4-BE49-F238E27FC236}">
                <a16:creationId xmlns:a16="http://schemas.microsoft.com/office/drawing/2014/main" id="{5F8FAA9A-73DF-4560-92A3-20E264BE826E}"/>
              </a:ext>
            </a:extLst>
          </p:cNvPr>
          <p:cNvSpPr>
            <a:spLocks xmlns:a="http://schemas.openxmlformats.org/drawingml/2006/main" noGrp="1"/>
          </p:cNvSpPr>
          <p:nvPr/>
        </p:nvSpPr>
        <p:spPr>
          <a:xfrm xmlns:a="http://schemas.openxmlformats.org/drawingml/2006/main">
            <a:off x="457200" y="2190750"/>
            <a:ext cx="4762500" cy="571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01820"/>
                </a:solidFill>
                <a:latin typeface="Helvetica Neue"/>
                <a:ea typeface="Helvetica Neue"/>
                <a:cs typeface="Helvetica Neue"/>
              </a:defRPr>
            </a:pPr>
            <a:r>
              <a:t>High school students</a:t>
            </a:r>
          </a:p>
        </p:txBody>
      </p:sp>
      <p:sp>
        <p:nvSpPr>
          <p:cNvPr id="5" name="audience-primary-body">
            <a:extLst xmlns:a="http://schemas.openxmlformats.org/drawingml/2006/main">
              <a:ext uri="{FF2B5EF4-FFF2-40B4-BE49-F238E27FC236}">
                <a16:creationId xmlns:a16="http://schemas.microsoft.com/office/drawing/2014/main" id="{6D4D3B8C-0F7A-4D5F-9DD5-7A9824EB033F}"/>
              </a:ext>
            </a:extLst>
          </p:cNvPr>
          <p:cNvSpPr>
            <a:spLocks xmlns:a="http://schemas.openxmlformats.org/drawingml/2006/main" noGrp="1"/>
          </p:cNvSpPr>
          <p:nvPr/>
        </p:nvSpPr>
        <p:spPr>
          <a:xfrm xmlns:a="http://schemas.openxmlformats.org/drawingml/2006/main">
            <a:off x="457200" y="2952750"/>
            <a:ext cx="4857750" cy="1104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F6B78"/>
                </a:solidFill>
                <a:latin typeface="Helvetica Neue"/>
                <a:ea typeface="Helvetica Neue"/>
                <a:cs typeface="Helvetica Neue"/>
              </a:defRPr>
            </a:pPr>
            <a:r>
              <a:t>Especially students balancing school with practice, clubs, a job, transit, or a ride from someone else.</a:t>
            </a:r>
          </a:p>
        </p:txBody>
      </p:sp>
      <p:cxnSp>
        <p:nvCxnSpPr>
          <p:cNvPr id="23" name="audience-divider"/>
          <p:cNvCxnSpPr/>
          <p:nvPr/>
        </p:nvCxnSpPr>
        <p:spPr>
          <a:xfrm xmlns:a="http://schemas.openxmlformats.org/drawingml/2006/main">
            <a:off x="5619750" y="1666875"/>
            <a:ext cx="286" cy="2714625"/>
          </a:xfrm>
          <a:prstGeom xmlns:a="http://schemas.openxmlformats.org/drawingml/2006/main" prst="straightConnector1">
            <a:avLst/>
          </a:prstGeom>
          <a:ln xmlns:a="http://schemas.openxmlformats.org/drawingml/2006/main" w="9525">
            <a:solidFill>
              <a:srgbClr val="BBC5C8"/>
            </a:solidFill>
            <a:prstDash val="solid"/>
          </a:ln>
        </p:spPr>
      </p:cxnSp>
      <p:sp>
        <p:nvSpPr>
          <p:cNvPr id="7" name="context-title-1">
            <a:extLst xmlns:a="http://schemas.openxmlformats.org/drawingml/2006/main">
              <a:ext uri="{FF2B5EF4-FFF2-40B4-BE49-F238E27FC236}">
                <a16:creationId xmlns:a16="http://schemas.microsoft.com/office/drawing/2014/main" id="{30818923-2BC2-42B0-B7E2-F96915B01F9C}"/>
              </a:ext>
            </a:extLst>
          </p:cNvPr>
          <p:cNvSpPr>
            <a:spLocks xmlns:a="http://schemas.openxmlformats.org/drawingml/2006/main" noGrp="1"/>
          </p:cNvSpPr>
          <p:nvPr/>
        </p:nvSpPr>
        <p:spPr>
          <a:xfrm xmlns:a="http://schemas.openxmlformats.org/drawingml/2006/main">
            <a:off x="6191250" y="1809750"/>
            <a:ext cx="2000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E756A"/>
                </a:solidFill>
                <a:latin typeface="Helvetica Neue"/>
                <a:ea typeface="Helvetica Neue"/>
                <a:cs typeface="Helvetica Neue"/>
              </a:defRPr>
            </a:pPr>
            <a:r>
              <a:t>SCHOOL</a:t>
            </a:r>
          </a:p>
        </p:txBody>
      </p:sp>
      <p:sp>
        <p:nvSpPr>
          <p:cNvPr id="8" name="context-body-1">
            <a:extLst xmlns:a="http://schemas.openxmlformats.org/drawingml/2006/main">
              <a:ext uri="{FF2B5EF4-FFF2-40B4-BE49-F238E27FC236}">
                <a16:creationId xmlns:a16="http://schemas.microsoft.com/office/drawing/2014/main" id="{D681D13B-F63D-4A89-AE51-087B612C2D4D}"/>
              </a:ext>
            </a:extLst>
          </p:cNvPr>
          <p:cNvSpPr>
            <a:spLocks xmlns:a="http://schemas.openxmlformats.org/drawingml/2006/main" noGrp="1"/>
          </p:cNvSpPr>
          <p:nvPr/>
        </p:nvSpPr>
        <p:spPr>
          <a:xfrm xmlns:a="http://schemas.openxmlformats.org/drawingml/2006/main">
            <a:off x="6191250" y="2133600"/>
            <a:ext cx="47625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1820"/>
                </a:solidFill>
                <a:latin typeface="Helvetica Neue"/>
                <a:ea typeface="Helvetica Neue"/>
                <a:cs typeface="Helvetica Neue"/>
              </a:defRPr>
            </a:pPr>
            <a:r>
              <a:t>First bell and changing traffic</a:t>
            </a:r>
          </a:p>
        </p:txBody>
      </p:sp>
      <p:cxnSp>
        <p:nvCxnSpPr>
          <p:cNvPr id="26" name="context-rule-1"/>
          <p:cNvCxnSpPr/>
          <p:nvPr/>
        </p:nvCxnSpPr>
        <p:spPr>
          <a:xfrm xmlns:a="http://schemas.openxmlformats.org/drawingml/2006/main">
            <a:off x="6191250" y="2743200"/>
            <a:ext cx="4762500" cy="286"/>
          </a:xfrm>
          <a:prstGeom xmlns:a="http://schemas.openxmlformats.org/drawingml/2006/main" prst="straightConnector1">
            <a:avLst/>
          </a:prstGeom>
          <a:ln xmlns:a="http://schemas.openxmlformats.org/drawingml/2006/main" w="9525">
            <a:solidFill>
              <a:srgbClr val="BBC5C8"/>
            </a:solidFill>
            <a:prstDash val="solid"/>
          </a:ln>
        </p:spPr>
      </p:cxnSp>
      <p:sp>
        <p:nvSpPr>
          <p:cNvPr id="10" name="context-title-2">
            <a:extLst xmlns:a="http://schemas.openxmlformats.org/drawingml/2006/main">
              <a:ext uri="{FF2B5EF4-FFF2-40B4-BE49-F238E27FC236}">
                <a16:creationId xmlns:a16="http://schemas.microsoft.com/office/drawing/2014/main" id="{B58BD605-6BCE-4969-ABA9-FC33DF60B5E1}"/>
              </a:ext>
            </a:extLst>
          </p:cNvPr>
          <p:cNvSpPr>
            <a:spLocks xmlns:a="http://schemas.openxmlformats.org/drawingml/2006/main" noGrp="1"/>
          </p:cNvSpPr>
          <p:nvPr/>
        </p:nvSpPr>
        <p:spPr>
          <a:xfrm xmlns:a="http://schemas.openxmlformats.org/drawingml/2006/main">
            <a:off x="6191250" y="2952750"/>
            <a:ext cx="2000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E85B70"/>
                </a:solidFill>
                <a:latin typeface="Helvetica Neue"/>
                <a:ea typeface="Helvetica Neue"/>
                <a:cs typeface="Helvetica Neue"/>
              </a:defRPr>
            </a:pPr>
            <a:r>
              <a:t>ACTIVITIES</a:t>
            </a:r>
          </a:p>
        </p:txBody>
      </p:sp>
      <p:sp>
        <p:nvSpPr>
          <p:cNvPr id="11" name="context-body-2">
            <a:extLst xmlns:a="http://schemas.openxmlformats.org/drawingml/2006/main">
              <a:ext uri="{FF2B5EF4-FFF2-40B4-BE49-F238E27FC236}">
                <a16:creationId xmlns:a16="http://schemas.microsoft.com/office/drawing/2014/main" id="{06A36D84-6F6A-48A9-896D-704E0E134BB9}"/>
              </a:ext>
            </a:extLst>
          </p:cNvPr>
          <p:cNvSpPr>
            <a:spLocks xmlns:a="http://schemas.openxmlformats.org/drawingml/2006/main" noGrp="1"/>
          </p:cNvSpPr>
          <p:nvPr/>
        </p:nvSpPr>
        <p:spPr>
          <a:xfrm xmlns:a="http://schemas.openxmlformats.org/drawingml/2006/main">
            <a:off x="6191250" y="3276600"/>
            <a:ext cx="47625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1820"/>
                </a:solidFill>
                <a:latin typeface="Helvetica Neue"/>
                <a:ea typeface="Helvetica Neue"/>
                <a:cs typeface="Helvetica Neue"/>
              </a:defRPr>
            </a:pPr>
            <a:r>
              <a:t>Practice, clubs, and away games</a:t>
            </a:r>
          </a:p>
        </p:txBody>
      </p:sp>
      <p:cxnSp>
        <p:nvCxnSpPr>
          <p:cNvPr id="29" name="context-rule-2"/>
          <p:cNvCxnSpPr/>
          <p:nvPr/>
        </p:nvCxnSpPr>
        <p:spPr>
          <a:xfrm xmlns:a="http://schemas.openxmlformats.org/drawingml/2006/main">
            <a:off x="6191250" y="3886200"/>
            <a:ext cx="4762500" cy="286"/>
          </a:xfrm>
          <a:prstGeom xmlns:a="http://schemas.openxmlformats.org/drawingml/2006/main" prst="straightConnector1">
            <a:avLst/>
          </a:prstGeom>
          <a:ln xmlns:a="http://schemas.openxmlformats.org/drawingml/2006/main" w="9525">
            <a:solidFill>
              <a:srgbClr val="BBC5C8"/>
            </a:solidFill>
            <a:prstDash val="solid"/>
          </a:ln>
        </p:spPr>
      </p:cxnSp>
      <p:sp>
        <p:nvSpPr>
          <p:cNvPr id="13" name="context-title-3">
            <a:extLst xmlns:a="http://schemas.openxmlformats.org/drawingml/2006/main">
              <a:ext uri="{FF2B5EF4-FFF2-40B4-BE49-F238E27FC236}">
                <a16:creationId xmlns:a16="http://schemas.microsoft.com/office/drawing/2014/main" id="{31654B5D-45DE-40C2-A2F5-92907B8E2398}"/>
              </a:ext>
            </a:extLst>
          </p:cNvPr>
          <p:cNvSpPr>
            <a:spLocks xmlns:a="http://schemas.openxmlformats.org/drawingml/2006/main" noGrp="1"/>
          </p:cNvSpPr>
          <p:nvPr/>
        </p:nvSpPr>
        <p:spPr>
          <a:xfrm xmlns:a="http://schemas.openxmlformats.org/drawingml/2006/main">
            <a:off x="6191250" y="4095750"/>
            <a:ext cx="2000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E756A"/>
                </a:solidFill>
                <a:latin typeface="Helvetica Neue"/>
                <a:ea typeface="Helvetica Neue"/>
                <a:cs typeface="Helvetica Neue"/>
              </a:defRPr>
            </a:pPr>
            <a:r>
              <a:t>WORK</a:t>
            </a:r>
          </a:p>
        </p:txBody>
      </p:sp>
      <p:sp>
        <p:nvSpPr>
          <p:cNvPr id="14" name="context-body-3">
            <a:extLst xmlns:a="http://schemas.openxmlformats.org/drawingml/2006/main">
              <a:ext uri="{FF2B5EF4-FFF2-40B4-BE49-F238E27FC236}">
                <a16:creationId xmlns:a16="http://schemas.microsoft.com/office/drawing/2014/main" id="{758915A4-911F-4D07-980E-6B15ACA5B1ED}"/>
              </a:ext>
            </a:extLst>
          </p:cNvPr>
          <p:cNvSpPr>
            <a:spLocks xmlns:a="http://schemas.openxmlformats.org/drawingml/2006/main" noGrp="1"/>
          </p:cNvSpPr>
          <p:nvPr/>
        </p:nvSpPr>
        <p:spPr>
          <a:xfrm xmlns:a="http://schemas.openxmlformats.org/drawingml/2006/main">
            <a:off x="6191250" y="4419600"/>
            <a:ext cx="47625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1820"/>
                </a:solidFill>
                <a:latin typeface="Helvetica Neue"/>
                <a:ea typeface="Helvetica Neue"/>
                <a:cs typeface="Helvetica Neue"/>
              </a:defRPr>
            </a:pPr>
            <a:r>
              <a:t>Early shifts and part-time jobs</a:t>
            </a:r>
          </a:p>
        </p:txBody>
      </p:sp>
      <p:sp>
        <p:nvSpPr>
          <p:cNvPr id="15" name="audience-callout">
            <a:extLst xmlns:a="http://schemas.openxmlformats.org/drawingml/2006/main">
              <a:ext uri="{FF2B5EF4-FFF2-40B4-BE49-F238E27FC236}">
                <a16:creationId xmlns:a16="http://schemas.microsoft.com/office/drawing/2014/main" id="{68FA848A-EE76-4B9D-B29D-B5EC683F635B}"/>
              </a:ext>
            </a:extLst>
          </p:cNvPr>
          <p:cNvSpPr>
            <a:spLocks xmlns:a="http://schemas.openxmlformats.org/drawingml/2006/main" noGrp="1"/>
          </p:cNvSpPr>
          <p:nvPr/>
        </p:nvSpPr>
        <p:spPr>
          <a:xfrm xmlns:a="http://schemas.openxmlformats.org/drawingml/2006/main">
            <a:off x="457200" y="5191125"/>
            <a:ext cx="10496550" cy="809625"/>
          </a:xfrm>
          <a:prstGeom xmlns:a="http://schemas.openxmlformats.org/drawingml/2006/main" prst="roundRect">
            <a:avLst>
              <a:gd name="adj" fmla="val 9412"/>
            </a:avLst>
          </a:prstGeom>
          <a:solidFill xmlns:a="http://schemas.openxmlformats.org/drawingml/2006/main">
            <a:srgbClr val="DDF7F2"/>
          </a:solidFill>
        </p:spPr>
      </p:sp>
      <p:sp>
        <p:nvSpPr>
          <p:cNvPr id="16" name="audience-callout-text">
            <a:extLst xmlns:a="http://schemas.openxmlformats.org/drawingml/2006/main">
              <a:ext uri="{FF2B5EF4-FFF2-40B4-BE49-F238E27FC236}">
                <a16:creationId xmlns:a16="http://schemas.microsoft.com/office/drawing/2014/main" id="{A879994A-7467-4729-B91C-5C4BFF572E54}"/>
              </a:ext>
            </a:extLst>
          </p:cNvPr>
          <p:cNvSpPr>
            <a:spLocks xmlns:a="http://schemas.openxmlformats.org/drawingml/2006/main" noGrp="1"/>
          </p:cNvSpPr>
          <p:nvPr/>
        </p:nvSpPr>
        <p:spPr>
          <a:xfrm xmlns:a="http://schemas.openxmlformats.org/drawingml/2006/main">
            <a:off x="781050" y="5429250"/>
            <a:ext cx="9858375"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0E756A"/>
                </a:solidFill>
                <a:latin typeface="Helvetica Neue"/>
                <a:ea typeface="Helvetica Neue"/>
                <a:cs typeface="Helvetica Neue"/>
              </a:defRPr>
            </a:pPr>
            <a:r>
              <a:t>One student can have all three in the same week.</a:t>
            </a:r>
          </a:p>
        </p:txBody>
      </p:sp>
      <p:sp>
        <p:nvSpPr>
          <p:cNvPr id="17" name="page-3">
            <a:extLst xmlns:a="http://schemas.openxmlformats.org/drawingml/2006/main">
              <a:ext uri="{FF2B5EF4-FFF2-40B4-BE49-F238E27FC236}">
                <a16:creationId xmlns:a16="http://schemas.microsoft.com/office/drawing/2014/main" id="{8EB1657B-C7CC-4723-98F8-53BA61BC4EC8}"/>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3</a:t>
            </a:r>
          </a:p>
        </p:txBody>
      </p:sp>
    </p:spTree>
    <p:extLst>
      <p:ext uri="{BB962C8B-B14F-4D97-AF65-F5344CB8AC3E}">
        <p14:creationId xmlns:p14="http://schemas.microsoft.com/office/powerpoint/2010/main" val="11638152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4">
            <a:extLst xmlns:a="http://schemas.openxmlformats.org/drawingml/2006/main">
              <a:ext uri="{FF2B5EF4-FFF2-40B4-BE49-F238E27FC236}">
                <a16:creationId xmlns:a16="http://schemas.microsoft.com/office/drawing/2014/main" id="{769562CF-821D-42CF-9B4C-2375E296C99F}"/>
              </a:ext>
            </a:extLst>
          </p:cNvPr>
          <p:cNvSpPr>
            <a:spLocks xmlns:a="http://schemas.openxmlformats.org/drawingml/2006/main" noGrp="1"/>
          </p:cNvSpPr>
          <p:nvPr/>
        </p:nvSpPr>
        <p:spPr>
          <a:xfrm xmlns:a="http://schemas.openxmlformats.org/drawingml/2006/main">
            <a:off x="457200" y="342900"/>
            <a:ext cx="34290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MARKETING MIX: THE 4 PS</a:t>
            </a:r>
          </a:p>
        </p:txBody>
      </p:sp>
      <p:sp>
        <p:nvSpPr>
          <p:cNvPr id="2" name="title-4">
            <a:extLst xmlns:a="http://schemas.openxmlformats.org/drawingml/2006/main">
              <a:ext uri="{FF2B5EF4-FFF2-40B4-BE49-F238E27FC236}">
                <a16:creationId xmlns:a16="http://schemas.microsoft.com/office/drawing/2014/main" id="{866E68D2-7596-4640-9ED0-DF61B97C6971}"/>
              </a:ext>
            </a:extLst>
          </p:cNvPr>
          <p:cNvSpPr>
            <a:spLocks xmlns:a="http://schemas.openxmlformats.org/drawingml/2006/main" noGrp="1"/>
          </p:cNvSpPr>
          <p:nvPr/>
        </p:nvSpPr>
        <p:spPr>
          <a:xfrm xmlns:a="http://schemas.openxmlformats.org/drawingml/2006/main">
            <a:off x="457200" y="704850"/>
            <a:ext cx="111252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Our launch mix keeps the first version simple.</a:t>
            </a:r>
          </a:p>
        </p:txBody>
      </p:sp>
      <p:cxnSp>
        <p:nvCxnSpPr>
          <p:cNvPr id="21" name="mix-vertical"/>
          <p:cNvCxnSpPr/>
          <p:nvPr/>
        </p:nvCxnSpPr>
        <p:spPr>
          <a:xfrm xmlns:a="http://schemas.openxmlformats.org/drawingml/2006/main">
            <a:off x="6096000" y="1714500"/>
            <a:ext cx="286" cy="4095750"/>
          </a:xfrm>
          <a:prstGeom xmlns:a="http://schemas.openxmlformats.org/drawingml/2006/main" prst="straightConnector1">
            <a:avLst/>
          </a:prstGeom>
          <a:ln xmlns:a="http://schemas.openxmlformats.org/drawingml/2006/main" w="9525">
            <a:solidFill>
              <a:srgbClr val="BBC5C8"/>
            </a:solidFill>
            <a:prstDash val="solid"/>
          </a:ln>
        </p:spPr>
      </p:cxnSp>
      <p:cxnSp>
        <p:nvCxnSpPr>
          <p:cNvPr id="22" name="mix-horizontal-left"/>
          <p:cNvCxnSpPr/>
          <p:nvPr/>
        </p:nvCxnSpPr>
        <p:spPr>
          <a:xfrm xmlns:a="http://schemas.openxmlformats.org/drawingml/2006/main">
            <a:off x="457200" y="3857625"/>
            <a:ext cx="5238750" cy="286"/>
          </a:xfrm>
          <a:prstGeom xmlns:a="http://schemas.openxmlformats.org/drawingml/2006/main" prst="straightConnector1">
            <a:avLst/>
          </a:prstGeom>
          <a:ln xmlns:a="http://schemas.openxmlformats.org/drawingml/2006/main" w="9525">
            <a:solidFill>
              <a:srgbClr val="BBC5C8"/>
            </a:solidFill>
            <a:prstDash val="solid"/>
          </a:ln>
        </p:spPr>
      </p:cxnSp>
      <p:cxnSp>
        <p:nvCxnSpPr>
          <p:cNvPr id="23" name="mix-horizontal-right"/>
          <p:cNvCxnSpPr/>
          <p:nvPr/>
        </p:nvCxnSpPr>
        <p:spPr>
          <a:xfrm xmlns:a="http://schemas.openxmlformats.org/drawingml/2006/main">
            <a:off x="6496050" y="3857625"/>
            <a:ext cx="5238750" cy="286"/>
          </a:xfrm>
          <a:prstGeom xmlns:a="http://schemas.openxmlformats.org/drawingml/2006/main" prst="straightConnector1">
            <a:avLst/>
          </a:prstGeom>
          <a:ln xmlns:a="http://schemas.openxmlformats.org/drawingml/2006/main" w="9525">
            <a:solidFill>
              <a:srgbClr val="BBC5C8"/>
            </a:solidFill>
            <a:prstDash val="solid"/>
          </a:ln>
        </p:spPr>
      </p:cxnSp>
      <p:sp>
        <p:nvSpPr>
          <p:cNvPr id="6" name="mix-label-1">
            <a:extLst xmlns:a="http://schemas.openxmlformats.org/drawingml/2006/main">
              <a:ext uri="{FF2B5EF4-FFF2-40B4-BE49-F238E27FC236}">
                <a16:creationId xmlns:a16="http://schemas.microsoft.com/office/drawing/2014/main" id="{F3DC6EF4-E3A5-478D-9379-DEA61DF428D2}"/>
              </a:ext>
            </a:extLst>
          </p:cNvPr>
          <p:cNvSpPr>
            <a:spLocks xmlns:a="http://schemas.openxmlformats.org/drawingml/2006/main" noGrp="1"/>
          </p:cNvSpPr>
          <p:nvPr/>
        </p:nvSpPr>
        <p:spPr>
          <a:xfrm xmlns:a="http://schemas.openxmlformats.org/drawingml/2006/main">
            <a:off x="457200" y="1809750"/>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PRODUCT</a:t>
            </a:r>
          </a:p>
        </p:txBody>
      </p:sp>
      <p:sp>
        <p:nvSpPr>
          <p:cNvPr id="7" name="mix-title-1">
            <a:extLst xmlns:a="http://schemas.openxmlformats.org/drawingml/2006/main">
              <a:ext uri="{FF2B5EF4-FFF2-40B4-BE49-F238E27FC236}">
                <a16:creationId xmlns:a16="http://schemas.microsoft.com/office/drawing/2014/main" id="{10202F19-AD9E-4DD0-A0DF-3090B3BBA829}"/>
              </a:ext>
            </a:extLst>
          </p:cNvPr>
          <p:cNvSpPr>
            <a:spLocks xmlns:a="http://schemas.openxmlformats.org/drawingml/2006/main" noGrp="1"/>
          </p:cNvSpPr>
          <p:nvPr/>
        </p:nvSpPr>
        <p:spPr>
          <a:xfrm xmlns:a="http://schemas.openxmlformats.org/drawingml/2006/main">
            <a:off x="457200" y="2152650"/>
            <a:ext cx="4905375" cy="647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1820"/>
                </a:solidFill>
                <a:latin typeface="Helvetica Neue"/>
                <a:ea typeface="Helvetica Neue"/>
                <a:cs typeface="Helvetica Neue"/>
              </a:defRPr>
            </a:pPr>
            <a:r>
              <a:t>A traffic-aware wake and leave plan</a:t>
            </a:r>
          </a:p>
        </p:txBody>
      </p:sp>
      <p:sp>
        <p:nvSpPr>
          <p:cNvPr id="8" name="mix-body-1">
            <a:extLst xmlns:a="http://schemas.openxmlformats.org/drawingml/2006/main">
              <a:ext uri="{FF2B5EF4-FFF2-40B4-BE49-F238E27FC236}">
                <a16:creationId xmlns:a16="http://schemas.microsoft.com/office/drawing/2014/main" id="{8B4B6127-432C-465B-BF70-6F1F2E7EAE9C}"/>
              </a:ext>
            </a:extLst>
          </p:cNvPr>
          <p:cNvSpPr>
            <a:spLocks xmlns:a="http://schemas.openxmlformats.org/drawingml/2006/main" noGrp="1"/>
          </p:cNvSpPr>
          <p:nvPr/>
        </p:nvSpPr>
        <p:spPr>
          <a:xfrm xmlns:a="http://schemas.openxmlformats.org/drawingml/2006/main">
            <a:off x="457200" y="2933700"/>
            <a:ext cx="4905375" cy="66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The useful version stays focused on the next commitment.</a:t>
            </a:r>
          </a:p>
        </p:txBody>
      </p:sp>
      <p:sp>
        <p:nvSpPr>
          <p:cNvPr id="9" name="mix-label-2">
            <a:extLst xmlns:a="http://schemas.openxmlformats.org/drawingml/2006/main">
              <a:ext uri="{FF2B5EF4-FFF2-40B4-BE49-F238E27FC236}">
                <a16:creationId xmlns:a16="http://schemas.microsoft.com/office/drawing/2014/main" id="{0C129FC1-7887-4EB0-83AD-9F08792A0D66}"/>
              </a:ext>
            </a:extLst>
          </p:cNvPr>
          <p:cNvSpPr>
            <a:spLocks xmlns:a="http://schemas.openxmlformats.org/drawingml/2006/main" noGrp="1"/>
          </p:cNvSpPr>
          <p:nvPr/>
        </p:nvSpPr>
        <p:spPr>
          <a:xfrm xmlns:a="http://schemas.openxmlformats.org/drawingml/2006/main">
            <a:off x="6496050" y="1809750"/>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PRICE</a:t>
            </a:r>
          </a:p>
        </p:txBody>
      </p:sp>
      <p:sp>
        <p:nvSpPr>
          <p:cNvPr id="10" name="mix-title-2">
            <a:extLst xmlns:a="http://schemas.openxmlformats.org/drawingml/2006/main">
              <a:ext uri="{FF2B5EF4-FFF2-40B4-BE49-F238E27FC236}">
                <a16:creationId xmlns:a16="http://schemas.microsoft.com/office/drawing/2014/main" id="{ADCE5B9B-7E78-417B-80D7-F72AE116D538}"/>
              </a:ext>
            </a:extLst>
          </p:cNvPr>
          <p:cNvSpPr>
            <a:spLocks xmlns:a="http://schemas.openxmlformats.org/drawingml/2006/main" noGrp="1"/>
          </p:cNvSpPr>
          <p:nvPr/>
        </p:nvSpPr>
        <p:spPr>
          <a:xfrm xmlns:a="http://schemas.openxmlformats.org/drawingml/2006/main">
            <a:off x="6496050" y="2152650"/>
            <a:ext cx="4905375" cy="647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1820"/>
                </a:solidFill>
                <a:latin typeface="Helvetica Neue"/>
                <a:ea typeface="Helvetica Neue"/>
                <a:cs typeface="Helvetica Neue"/>
              </a:defRPr>
            </a:pPr>
            <a:r>
              <a:t>Free beta first</a:t>
            </a:r>
          </a:p>
        </p:txBody>
      </p:sp>
      <p:sp>
        <p:nvSpPr>
          <p:cNvPr id="11" name="mix-body-2">
            <a:extLst xmlns:a="http://schemas.openxmlformats.org/drawingml/2006/main">
              <a:ext uri="{FF2B5EF4-FFF2-40B4-BE49-F238E27FC236}">
                <a16:creationId xmlns:a16="http://schemas.microsoft.com/office/drawing/2014/main" id="{E7E48790-88FA-415D-A833-7359B93A4933}"/>
              </a:ext>
            </a:extLst>
          </p:cNvPr>
          <p:cNvSpPr>
            <a:spLocks xmlns:a="http://schemas.openxmlformats.org/drawingml/2006/main" noGrp="1"/>
          </p:cNvSpPr>
          <p:nvPr/>
        </p:nvSpPr>
        <p:spPr>
          <a:xfrm xmlns:a="http://schemas.openxmlformats.org/drawingml/2006/main">
            <a:off x="6496050" y="2933700"/>
            <a:ext cx="4905375" cy="66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Prove the core alarm works before considering paid extras.</a:t>
            </a:r>
          </a:p>
        </p:txBody>
      </p:sp>
      <p:sp>
        <p:nvSpPr>
          <p:cNvPr id="12" name="mix-label-3">
            <a:extLst xmlns:a="http://schemas.openxmlformats.org/drawingml/2006/main">
              <a:ext uri="{FF2B5EF4-FFF2-40B4-BE49-F238E27FC236}">
                <a16:creationId xmlns:a16="http://schemas.microsoft.com/office/drawing/2014/main" id="{9A008550-582F-4848-B3F8-B8F909F85F27}"/>
              </a:ext>
            </a:extLst>
          </p:cNvPr>
          <p:cNvSpPr>
            <a:spLocks xmlns:a="http://schemas.openxmlformats.org/drawingml/2006/main" noGrp="1"/>
          </p:cNvSpPr>
          <p:nvPr/>
        </p:nvSpPr>
        <p:spPr>
          <a:xfrm xmlns:a="http://schemas.openxmlformats.org/drawingml/2006/main">
            <a:off x="457200" y="4095750"/>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PLACE</a:t>
            </a:r>
          </a:p>
        </p:txBody>
      </p:sp>
      <p:sp>
        <p:nvSpPr>
          <p:cNvPr id="13" name="mix-title-3">
            <a:extLst xmlns:a="http://schemas.openxmlformats.org/drawingml/2006/main">
              <a:ext uri="{FF2B5EF4-FFF2-40B4-BE49-F238E27FC236}">
                <a16:creationId xmlns:a16="http://schemas.microsoft.com/office/drawing/2014/main" id="{7B34837B-B15C-4AF0-B648-F156F6B01C81}"/>
              </a:ext>
            </a:extLst>
          </p:cNvPr>
          <p:cNvSpPr>
            <a:spLocks xmlns:a="http://schemas.openxmlformats.org/drawingml/2006/main" noGrp="1"/>
          </p:cNvSpPr>
          <p:nvPr/>
        </p:nvSpPr>
        <p:spPr>
          <a:xfrm xmlns:a="http://schemas.openxmlformats.org/drawingml/2006/main">
            <a:off x="457200" y="4438650"/>
            <a:ext cx="4905375" cy="647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1820"/>
                </a:solidFill>
                <a:latin typeface="Helvetica Neue"/>
                <a:ea typeface="Helvetica Neue"/>
                <a:cs typeface="Helvetica Neue"/>
              </a:defRPr>
            </a:pPr>
            <a:r>
              <a:t>Phone and web</a:t>
            </a:r>
          </a:p>
        </p:txBody>
      </p:sp>
      <p:sp>
        <p:nvSpPr>
          <p:cNvPr id="14" name="mix-body-3">
            <a:extLst xmlns:a="http://schemas.openxmlformats.org/drawingml/2006/main">
              <a:ext uri="{FF2B5EF4-FFF2-40B4-BE49-F238E27FC236}">
                <a16:creationId xmlns:a16="http://schemas.microsoft.com/office/drawing/2014/main" id="{7A4AF599-09DB-42E1-8ABC-33C9D79CA7A4}"/>
              </a:ext>
            </a:extLst>
          </p:cNvPr>
          <p:cNvSpPr>
            <a:spLocks xmlns:a="http://schemas.openxmlformats.org/drawingml/2006/main" noGrp="1"/>
          </p:cNvSpPr>
          <p:nvPr/>
        </p:nvSpPr>
        <p:spPr>
          <a:xfrm xmlns:a="http://schemas.openxmlformats.org/drawingml/2006/main">
            <a:off x="457200" y="5219700"/>
            <a:ext cx="4905375" cy="66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iOS, Android, and the installable web app.</a:t>
            </a:r>
          </a:p>
        </p:txBody>
      </p:sp>
      <p:sp>
        <p:nvSpPr>
          <p:cNvPr id="15" name="mix-label-4">
            <a:extLst xmlns:a="http://schemas.openxmlformats.org/drawingml/2006/main">
              <a:ext uri="{FF2B5EF4-FFF2-40B4-BE49-F238E27FC236}">
                <a16:creationId xmlns:a16="http://schemas.microsoft.com/office/drawing/2014/main" id="{C10DDCEE-C2F5-46B0-B4D4-F84ABEE7C80A}"/>
              </a:ext>
            </a:extLst>
          </p:cNvPr>
          <p:cNvSpPr>
            <a:spLocks xmlns:a="http://schemas.openxmlformats.org/drawingml/2006/main" noGrp="1"/>
          </p:cNvSpPr>
          <p:nvPr/>
        </p:nvSpPr>
        <p:spPr>
          <a:xfrm xmlns:a="http://schemas.openxmlformats.org/drawingml/2006/main">
            <a:off x="6496050" y="4095750"/>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PROMOTION</a:t>
            </a:r>
          </a:p>
        </p:txBody>
      </p:sp>
      <p:sp>
        <p:nvSpPr>
          <p:cNvPr id="16" name="mix-title-4">
            <a:extLst xmlns:a="http://schemas.openxmlformats.org/drawingml/2006/main">
              <a:ext uri="{FF2B5EF4-FFF2-40B4-BE49-F238E27FC236}">
                <a16:creationId xmlns:a16="http://schemas.microsoft.com/office/drawing/2014/main" id="{73001303-8755-4F27-809B-1C7281D0A353}"/>
              </a:ext>
            </a:extLst>
          </p:cNvPr>
          <p:cNvSpPr>
            <a:spLocks xmlns:a="http://schemas.openxmlformats.org/drawingml/2006/main" noGrp="1"/>
          </p:cNvSpPr>
          <p:nvPr/>
        </p:nvSpPr>
        <p:spPr>
          <a:xfrm xmlns:a="http://schemas.openxmlformats.org/drawingml/2006/main">
            <a:off x="6496050" y="4438650"/>
            <a:ext cx="4905375" cy="647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1820"/>
                </a:solidFill>
                <a:latin typeface="Helvetica Neue"/>
                <a:ea typeface="Helvetica Neue"/>
                <a:cs typeface="Helvetica Neue"/>
              </a:defRPr>
            </a:pPr>
            <a:r>
              <a:t>Demonstrate the change</a:t>
            </a:r>
          </a:p>
        </p:txBody>
      </p:sp>
      <p:sp>
        <p:nvSpPr>
          <p:cNvPr id="17" name="mix-body-4">
            <a:extLst xmlns:a="http://schemas.openxmlformats.org/drawingml/2006/main">
              <a:ext uri="{FF2B5EF4-FFF2-40B4-BE49-F238E27FC236}">
                <a16:creationId xmlns:a16="http://schemas.microsoft.com/office/drawing/2014/main" id="{EDFECF6F-819E-4C05-891B-880E97CCC03F}"/>
              </a:ext>
            </a:extLst>
          </p:cNvPr>
          <p:cNvSpPr>
            <a:spLocks xmlns:a="http://schemas.openxmlformats.org/drawingml/2006/main" noGrp="1"/>
          </p:cNvSpPr>
          <p:nvPr/>
        </p:nvSpPr>
        <p:spPr>
          <a:xfrm xmlns:a="http://schemas.openxmlformats.org/drawingml/2006/main">
            <a:off x="6496050" y="5219700"/>
            <a:ext cx="4905375" cy="66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B78"/>
                </a:solidFill>
                <a:latin typeface="Helvetica Neue"/>
                <a:ea typeface="Helvetica Neue"/>
                <a:cs typeface="Helvetica Neue"/>
              </a:defRPr>
            </a:pPr>
            <a:r>
              <a:t>Short videos, school demos, and student ambassadors.</a:t>
            </a:r>
          </a:p>
        </p:txBody>
      </p:sp>
      <p:sp>
        <p:nvSpPr>
          <p:cNvPr id="18" name="page-4">
            <a:extLst xmlns:a="http://schemas.openxmlformats.org/drawingml/2006/main">
              <a:ext uri="{FF2B5EF4-FFF2-40B4-BE49-F238E27FC236}">
                <a16:creationId xmlns:a16="http://schemas.microsoft.com/office/drawing/2014/main" id="{E002C421-98A4-4BED-9773-D0796D1CAD4A}"/>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4</a:t>
            </a:r>
          </a:p>
        </p:txBody>
      </p:sp>
    </p:spTree>
    <p:extLst>
      <p:ext uri="{BB962C8B-B14F-4D97-AF65-F5344CB8AC3E}">
        <p14:creationId xmlns:p14="http://schemas.microsoft.com/office/powerpoint/2010/main" val="18764363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5">
            <a:extLst xmlns:a="http://schemas.openxmlformats.org/drawingml/2006/main">
              <a:ext uri="{FF2B5EF4-FFF2-40B4-BE49-F238E27FC236}">
                <a16:creationId xmlns:a16="http://schemas.microsoft.com/office/drawing/2014/main" id="{562991D6-A6F5-4A62-B36F-2939AEB2E7FD}"/>
              </a:ext>
            </a:extLst>
          </p:cNvPr>
          <p:cNvSpPr>
            <a:spLocks xmlns:a="http://schemas.openxmlformats.org/drawingml/2006/main" noGrp="1"/>
          </p:cNvSpPr>
          <p:nvPr/>
        </p:nvSpPr>
        <p:spPr>
          <a:xfrm xmlns:a="http://schemas.openxmlformats.org/drawingml/2006/main">
            <a:off x="457200" y="342900"/>
            <a:ext cx="34290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CAMPAIGN IDEA</a:t>
            </a:r>
          </a:p>
        </p:txBody>
      </p:sp>
      <p:sp>
        <p:nvSpPr>
          <p:cNvPr id="2" name="title-5">
            <a:extLst xmlns:a="http://schemas.openxmlformats.org/drawingml/2006/main">
              <a:ext uri="{FF2B5EF4-FFF2-40B4-BE49-F238E27FC236}">
                <a16:creationId xmlns:a16="http://schemas.microsoft.com/office/drawing/2014/main" id="{E44E065B-05EF-4AD8-9178-2DB9A012168A}"/>
              </a:ext>
            </a:extLst>
          </p:cNvPr>
          <p:cNvSpPr>
            <a:spLocks xmlns:a="http://schemas.openxmlformats.org/drawingml/2006/main" noGrp="1"/>
          </p:cNvSpPr>
          <p:nvPr/>
        </p:nvSpPr>
        <p:spPr>
          <a:xfrm xmlns:a="http://schemas.openxmlformats.org/drawingml/2006/main">
            <a:off x="457200" y="704850"/>
            <a:ext cx="111252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Show the plan changing instead of over-explaining it.</a:t>
            </a:r>
          </a:p>
        </p:txBody>
      </p:sp>
      <p:sp>
        <p:nvSpPr>
          <p:cNvPr id="3" name="campaign-hook-label">
            <a:extLst xmlns:a="http://schemas.openxmlformats.org/drawingml/2006/main">
              <a:ext uri="{FF2B5EF4-FFF2-40B4-BE49-F238E27FC236}">
                <a16:creationId xmlns:a16="http://schemas.microsoft.com/office/drawing/2014/main" id="{45C8B221-0510-483F-95A4-5178F7C5F8AC}"/>
              </a:ext>
            </a:extLst>
          </p:cNvPr>
          <p:cNvSpPr>
            <a:spLocks xmlns:a="http://schemas.openxmlformats.org/drawingml/2006/main" noGrp="1"/>
          </p:cNvSpPr>
          <p:nvPr/>
        </p:nvSpPr>
        <p:spPr>
          <a:xfrm xmlns:a="http://schemas.openxmlformats.org/drawingml/2006/main">
            <a:off x="457200" y="1714500"/>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THE HOOK</a:t>
            </a:r>
          </a:p>
        </p:txBody>
      </p:sp>
      <p:sp>
        <p:nvSpPr>
          <p:cNvPr id="4" name="campaign-hook">
            <a:extLst xmlns:a="http://schemas.openxmlformats.org/drawingml/2006/main">
              <a:ext uri="{FF2B5EF4-FFF2-40B4-BE49-F238E27FC236}">
                <a16:creationId xmlns:a16="http://schemas.microsoft.com/office/drawing/2014/main" id="{9AA327EA-885A-493C-84C2-F24A3A1E0103}"/>
              </a:ext>
            </a:extLst>
          </p:cNvPr>
          <p:cNvSpPr>
            <a:spLocks xmlns:a="http://schemas.openxmlformats.org/drawingml/2006/main" noGrp="1"/>
          </p:cNvSpPr>
          <p:nvPr/>
        </p:nvSpPr>
        <p:spPr>
          <a:xfrm xmlns:a="http://schemas.openxmlformats.org/drawingml/2006/main">
            <a:off x="457200" y="2095500"/>
            <a:ext cx="5334000" cy="1047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1820"/>
                </a:solidFill>
                <a:latin typeface="Helvetica Neue"/>
                <a:ea typeface="Helvetica Neue"/>
                <a:cs typeface="Helvetica Neue"/>
              </a:defRPr>
            </a:pPr>
            <a:r>
              <a:t>Traffic added 9 minutes.
Your alarm moved too.</a:t>
            </a:r>
          </a:p>
        </p:txBody>
      </p:sp>
      <p:cxnSp>
        <p:nvCxnSpPr>
          <p:cNvPr id="16" name="campaign-rule"/>
          <p:cNvCxnSpPr/>
          <p:nvPr/>
        </p:nvCxnSpPr>
        <p:spPr>
          <a:xfrm xmlns:a="http://schemas.openxmlformats.org/drawingml/2006/main">
            <a:off x="457200" y="3476625"/>
            <a:ext cx="1714500" cy="286"/>
          </a:xfrm>
          <a:prstGeom xmlns:a="http://schemas.openxmlformats.org/drawingml/2006/main" prst="straightConnector1">
            <a:avLst/>
          </a:prstGeom>
          <a:ln xmlns:a="http://schemas.openxmlformats.org/drawingml/2006/main" w="38100">
            <a:solidFill>
              <a:srgbClr val="20BFA8"/>
            </a:solidFill>
            <a:prstDash val="solid"/>
          </a:ln>
        </p:spPr>
      </p:cxnSp>
      <p:sp>
        <p:nvSpPr>
          <p:cNvPr id="6" name="campaign-tagline-label">
            <a:extLst xmlns:a="http://schemas.openxmlformats.org/drawingml/2006/main">
              <a:ext uri="{FF2B5EF4-FFF2-40B4-BE49-F238E27FC236}">
                <a16:creationId xmlns:a16="http://schemas.microsoft.com/office/drawing/2014/main" id="{1416C9FD-7176-457A-9E07-08920866B2A4}"/>
              </a:ext>
            </a:extLst>
          </p:cNvPr>
          <p:cNvSpPr>
            <a:spLocks xmlns:a="http://schemas.openxmlformats.org/drawingml/2006/main" noGrp="1"/>
          </p:cNvSpPr>
          <p:nvPr/>
        </p:nvSpPr>
        <p:spPr>
          <a:xfrm xmlns:a="http://schemas.openxmlformats.org/drawingml/2006/main">
            <a:off x="457200" y="3810000"/>
            <a:ext cx="1714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TAGLINE</a:t>
            </a:r>
          </a:p>
        </p:txBody>
      </p:sp>
      <p:sp>
        <p:nvSpPr>
          <p:cNvPr id="7" name="campaign-tagline">
            <a:extLst xmlns:a="http://schemas.openxmlformats.org/drawingml/2006/main">
              <a:ext uri="{FF2B5EF4-FFF2-40B4-BE49-F238E27FC236}">
                <a16:creationId xmlns:a16="http://schemas.microsoft.com/office/drawing/2014/main" id="{25FBAB70-4BF7-44F1-BE3A-AEA0E6C27394}"/>
              </a:ext>
            </a:extLst>
          </p:cNvPr>
          <p:cNvSpPr>
            <a:spLocks xmlns:a="http://schemas.openxmlformats.org/drawingml/2006/main" noGrp="1"/>
          </p:cNvSpPr>
          <p:nvPr/>
        </p:nvSpPr>
        <p:spPr>
          <a:xfrm xmlns:a="http://schemas.openxmlformats.org/drawingml/2006/main">
            <a:off x="457200" y="4191000"/>
            <a:ext cx="47625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1820"/>
                </a:solidFill>
                <a:latin typeface="Helvetica Neue"/>
                <a:ea typeface="Helvetica Neue"/>
                <a:cs typeface="Helvetica Neue"/>
              </a:defRPr>
            </a:pPr>
            <a:r>
              <a:t>Know when to wake.
Know when to leave.</a:t>
            </a:r>
          </a:p>
        </p:txBody>
      </p:sp>
      <p:sp>
        <p:nvSpPr>
          <p:cNvPr id="8" name="campaign-format">
            <a:extLst xmlns:a="http://schemas.openxmlformats.org/drawingml/2006/main">
              <a:ext uri="{FF2B5EF4-FFF2-40B4-BE49-F238E27FC236}">
                <a16:creationId xmlns:a16="http://schemas.microsoft.com/office/drawing/2014/main" id="{A5327658-64AF-4E04-9D07-D4BF94576C0A}"/>
              </a:ext>
            </a:extLst>
          </p:cNvPr>
          <p:cNvSpPr>
            <a:spLocks xmlns:a="http://schemas.openxmlformats.org/drawingml/2006/main" noGrp="1"/>
          </p:cNvSpPr>
          <p:nvPr/>
        </p:nvSpPr>
        <p:spPr>
          <a:xfrm xmlns:a="http://schemas.openxmlformats.org/drawingml/2006/main">
            <a:off x="457200" y="5381625"/>
            <a:ext cx="4762500" cy="6191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F6B78"/>
                </a:solidFill>
                <a:latin typeface="Helvetica Neue"/>
                <a:ea typeface="Helvetica Neue"/>
                <a:cs typeface="Helvetica Neue"/>
              </a:defRPr>
            </a:pPr>
            <a:r>
              <a:t>Use a 15-second before-and-after clip or a live Simulate morning demo.</a:t>
            </a:r>
          </a:p>
        </p:txBody>
      </p:sp>
      <p:sp>
        <p:nvSpPr>
          <p:cNvPr id="9" name="campaign-image-frame">
            <a:extLst xmlns:a="http://schemas.openxmlformats.org/drawingml/2006/main">
              <a:ext uri="{FF2B5EF4-FFF2-40B4-BE49-F238E27FC236}">
                <a16:creationId xmlns:a16="http://schemas.microsoft.com/office/drawing/2014/main" id="{8F83A244-960A-46B9-95E3-D4EDB439992D}"/>
              </a:ext>
            </a:extLst>
          </p:cNvPr>
          <p:cNvSpPr>
            <a:spLocks xmlns:a="http://schemas.openxmlformats.org/drawingml/2006/main" noGrp="1"/>
          </p:cNvSpPr>
          <p:nvPr/>
        </p:nvSpPr>
        <p:spPr>
          <a:xfrm xmlns:a="http://schemas.openxmlformats.org/drawingml/2006/main">
            <a:off x="6191250" y="1524000"/>
            <a:ext cx="5543550" cy="4667250"/>
          </a:xfrm>
          <a:prstGeom xmlns:a="http://schemas.openxmlformats.org/drawingml/2006/main" prst="roundRect">
            <a:avLst>
              <a:gd name="adj" fmla="val 1633"/>
            </a:avLst>
          </a:prstGeom>
          <a:solidFill xmlns:a="http://schemas.openxmlformats.org/drawingml/2006/main">
            <a:srgbClr val="111B25"/>
          </a:solidFill>
          <a:ln xmlns:a="http://schemas.openxmlformats.org/drawingml/2006/main" w="9525">
            <a:solidFill>
              <a:srgbClr val="BBC5C8"/>
            </a:solidFill>
            <a:prstDash val="solid"/>
          </a:ln>
        </p:spPr>
      </p:sp>
      <p:sp>
        <p:nvSpPr>
          <p:cNvPr id="10" name="page-5">
            <a:extLst xmlns:a="http://schemas.openxmlformats.org/drawingml/2006/main">
              <a:ext uri="{FF2B5EF4-FFF2-40B4-BE49-F238E27FC236}">
                <a16:creationId xmlns:a16="http://schemas.microsoft.com/office/drawing/2014/main" id="{23DA3152-9B8D-49EB-83F4-322DDDB42068}"/>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5</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64dceac30b24544"/>
          <a:srcRect xmlns:a="http://schemas.openxmlformats.org/drawingml/2006/main" l="0" t="34311" r="0" b="34311"/>
          <a:stretch xmlns:a="http://schemas.openxmlformats.org/drawingml/2006/main">
            <a:fillRect l="0" t="0" r="0" b="0"/>
          </a:stretch>
        </p:blipFill>
        <p:spPr>
          <a:xfrm xmlns:a="http://schemas.openxmlformats.org/drawingml/2006/main">
            <a:off x="6438900" y="1733550"/>
            <a:ext cx="5048250" cy="4248150"/>
          </a:xfrm>
          <a:prstGeom xmlns:a="http://schemas.openxmlformats.org/drawingml/2006/main" prst="roundRect">
            <a:avLst>
              <a:gd name="adj" fmla="val 4036"/>
            </a:avLst>
          </a:prstGeom>
        </p:spPr>
      </p:pic>
    </p:spTree>
    <p:extLst>
      <p:ext uri="{BB962C8B-B14F-4D97-AF65-F5344CB8AC3E}">
        <p14:creationId xmlns:p14="http://schemas.microsoft.com/office/powerpoint/2010/main" val="17077577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6">
            <a:extLst xmlns:a="http://schemas.openxmlformats.org/drawingml/2006/main">
              <a:ext uri="{FF2B5EF4-FFF2-40B4-BE49-F238E27FC236}">
                <a16:creationId xmlns:a16="http://schemas.microsoft.com/office/drawing/2014/main" id="{3758945D-7EDC-4177-A8F1-6165F15250A6}"/>
              </a:ext>
            </a:extLst>
          </p:cNvPr>
          <p:cNvSpPr>
            <a:spLocks xmlns:a="http://schemas.openxmlformats.org/drawingml/2006/main" noGrp="1"/>
          </p:cNvSpPr>
          <p:nvPr/>
        </p:nvSpPr>
        <p:spPr>
          <a:xfrm xmlns:a="http://schemas.openxmlformats.org/drawingml/2006/main">
            <a:off x="457200" y="342900"/>
            <a:ext cx="34290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GO-TO-MARKET PLAN</a:t>
            </a:r>
          </a:p>
        </p:txBody>
      </p:sp>
      <p:sp>
        <p:nvSpPr>
          <p:cNvPr id="2" name="title-6">
            <a:extLst xmlns:a="http://schemas.openxmlformats.org/drawingml/2006/main">
              <a:ext uri="{FF2B5EF4-FFF2-40B4-BE49-F238E27FC236}">
                <a16:creationId xmlns:a16="http://schemas.microsoft.com/office/drawing/2014/main" id="{31A25AF9-3399-428A-A00D-E5BCC0CBBC08}"/>
              </a:ext>
            </a:extLst>
          </p:cNvPr>
          <p:cNvSpPr>
            <a:spLocks xmlns:a="http://schemas.openxmlformats.org/drawingml/2006/main" noGrp="1"/>
          </p:cNvSpPr>
          <p:nvPr/>
        </p:nvSpPr>
        <p:spPr>
          <a:xfrm xmlns:a="http://schemas.openxmlformats.org/drawingml/2006/main">
            <a:off x="457200" y="704850"/>
            <a:ext cx="111252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Pilot small, learn fast, then widen the launch.</a:t>
            </a:r>
          </a:p>
        </p:txBody>
      </p:sp>
      <p:cxnSp>
        <p:nvCxnSpPr>
          <p:cNvPr id="20" name="launch-line"/>
          <p:cNvCxnSpPr/>
          <p:nvPr/>
        </p:nvCxnSpPr>
        <p:spPr>
          <a:xfrm xmlns:a="http://schemas.openxmlformats.org/drawingml/2006/main">
            <a:off x="1285875" y="3381375"/>
            <a:ext cx="9620250" cy="286"/>
          </a:xfrm>
          <a:prstGeom xmlns:a="http://schemas.openxmlformats.org/drawingml/2006/main" prst="straightConnector1">
            <a:avLst/>
          </a:prstGeom>
          <a:ln xmlns:a="http://schemas.openxmlformats.org/drawingml/2006/main" w="28575">
            <a:solidFill>
              <a:srgbClr val="BBC5C8"/>
            </a:solidFill>
            <a:prstDash val="solid"/>
          </a:ln>
        </p:spPr>
      </p:cxnSp>
      <p:sp>
        <p:nvSpPr>
          <p:cNvPr id="4" name="launch-node-1">
            <a:extLst xmlns:a="http://schemas.openxmlformats.org/drawingml/2006/main">
              <a:ext uri="{FF2B5EF4-FFF2-40B4-BE49-F238E27FC236}">
                <a16:creationId xmlns:a16="http://schemas.microsoft.com/office/drawing/2014/main" id="{C604F04A-FEB6-487E-B338-CEAEAAA262FB}"/>
              </a:ext>
            </a:extLst>
          </p:cNvPr>
          <p:cNvSpPr>
            <a:spLocks xmlns:a="http://schemas.openxmlformats.org/drawingml/2006/main" noGrp="1"/>
          </p:cNvSpPr>
          <p:nvPr/>
        </p:nvSpPr>
        <p:spPr>
          <a:xfrm xmlns:a="http://schemas.openxmlformats.org/drawingml/2006/main">
            <a:off x="1428750" y="3181350"/>
            <a:ext cx="400050" cy="40005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5" name="launch-phase-1">
            <a:extLst xmlns:a="http://schemas.openxmlformats.org/drawingml/2006/main">
              <a:ext uri="{FF2B5EF4-FFF2-40B4-BE49-F238E27FC236}">
                <a16:creationId xmlns:a16="http://schemas.microsoft.com/office/drawing/2014/main" id="{8E2A5995-5FA5-4060-9582-C6EF3858E619}"/>
              </a:ext>
            </a:extLst>
          </p:cNvPr>
          <p:cNvSpPr>
            <a:spLocks xmlns:a="http://schemas.openxmlformats.org/drawingml/2006/main" noGrp="1"/>
          </p:cNvSpPr>
          <p:nvPr/>
        </p:nvSpPr>
        <p:spPr>
          <a:xfrm xmlns:a="http://schemas.openxmlformats.org/drawingml/2006/main">
            <a:off x="1409700" y="2619375"/>
            <a:ext cx="20002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5F6B78"/>
                </a:solidFill>
                <a:latin typeface="Helvetica Neue"/>
                <a:ea typeface="Helvetica Neue"/>
                <a:cs typeface="Helvetica Neue"/>
              </a:defRPr>
            </a:pPr>
            <a:r>
              <a:t>PHASE 1</a:t>
            </a:r>
          </a:p>
        </p:txBody>
      </p:sp>
      <p:sp>
        <p:nvSpPr>
          <p:cNvPr id="6" name="launch-title-1">
            <a:extLst xmlns:a="http://schemas.openxmlformats.org/drawingml/2006/main">
              <a:ext uri="{FF2B5EF4-FFF2-40B4-BE49-F238E27FC236}">
                <a16:creationId xmlns:a16="http://schemas.microsoft.com/office/drawing/2014/main" id="{A491353F-6D90-4F76-8B5C-B10989F346F9}"/>
              </a:ext>
            </a:extLst>
          </p:cNvPr>
          <p:cNvSpPr>
            <a:spLocks xmlns:a="http://schemas.openxmlformats.org/drawingml/2006/main" noGrp="1"/>
          </p:cNvSpPr>
          <p:nvPr/>
        </p:nvSpPr>
        <p:spPr>
          <a:xfrm xmlns:a="http://schemas.openxmlformats.org/drawingml/2006/main">
            <a:off x="1409700" y="3857625"/>
            <a:ext cx="2619375"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1820"/>
                </a:solidFill>
                <a:latin typeface="Helvetica Neue"/>
                <a:ea typeface="Helvetica Neue"/>
                <a:cs typeface="Helvetica Neue"/>
              </a:defRPr>
            </a:pPr>
            <a:r>
              <a:t>One-school beta</a:t>
            </a:r>
          </a:p>
        </p:txBody>
      </p:sp>
      <p:sp>
        <p:nvSpPr>
          <p:cNvPr id="7" name="launch-body-1">
            <a:extLst xmlns:a="http://schemas.openxmlformats.org/drawingml/2006/main">
              <a:ext uri="{FF2B5EF4-FFF2-40B4-BE49-F238E27FC236}">
                <a16:creationId xmlns:a16="http://schemas.microsoft.com/office/drawing/2014/main" id="{AB2E3D6B-92D8-4522-A884-B9E63911F2EE}"/>
              </a:ext>
            </a:extLst>
          </p:cNvPr>
          <p:cNvSpPr>
            <a:spLocks xmlns:a="http://schemas.openxmlformats.org/drawingml/2006/main" noGrp="1"/>
          </p:cNvSpPr>
          <p:nvPr/>
        </p:nvSpPr>
        <p:spPr>
          <a:xfrm xmlns:a="http://schemas.openxmlformats.org/drawingml/2006/main">
            <a:off x="1409700" y="4476750"/>
            <a:ext cx="2647950" cy="1047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F6B78"/>
                </a:solidFill>
                <a:latin typeface="Helvetica Neue"/>
                <a:ea typeface="Helvetica Neue"/>
                <a:cs typeface="Helvetica Neue"/>
              </a:defRPr>
            </a:pPr>
            <a:r>
              <a:t>Recruit through friends, clubs, and teachers. Watch setup closely.</a:t>
            </a:r>
          </a:p>
        </p:txBody>
      </p:sp>
      <p:sp>
        <p:nvSpPr>
          <p:cNvPr id="8" name="launch-node-2">
            <a:extLst xmlns:a="http://schemas.openxmlformats.org/drawingml/2006/main">
              <a:ext uri="{FF2B5EF4-FFF2-40B4-BE49-F238E27FC236}">
                <a16:creationId xmlns:a16="http://schemas.microsoft.com/office/drawing/2014/main" id="{6FAF6AA3-F88F-45CB-9270-1B743DCD477E}"/>
              </a:ext>
            </a:extLst>
          </p:cNvPr>
          <p:cNvSpPr>
            <a:spLocks xmlns:a="http://schemas.openxmlformats.org/drawingml/2006/main" noGrp="1"/>
          </p:cNvSpPr>
          <p:nvPr/>
        </p:nvSpPr>
        <p:spPr>
          <a:xfrm xmlns:a="http://schemas.openxmlformats.org/drawingml/2006/main">
            <a:off x="4667250" y="3181350"/>
            <a:ext cx="400050" cy="40005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9" name="launch-phase-2">
            <a:extLst xmlns:a="http://schemas.openxmlformats.org/drawingml/2006/main">
              <a:ext uri="{FF2B5EF4-FFF2-40B4-BE49-F238E27FC236}">
                <a16:creationId xmlns:a16="http://schemas.microsoft.com/office/drawing/2014/main" id="{72203579-B8CF-49CC-8352-A71059119D59}"/>
              </a:ext>
            </a:extLst>
          </p:cNvPr>
          <p:cNvSpPr>
            <a:spLocks xmlns:a="http://schemas.openxmlformats.org/drawingml/2006/main" noGrp="1"/>
          </p:cNvSpPr>
          <p:nvPr/>
        </p:nvSpPr>
        <p:spPr>
          <a:xfrm xmlns:a="http://schemas.openxmlformats.org/drawingml/2006/main">
            <a:off x="4648200" y="2619375"/>
            <a:ext cx="20002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5F6B78"/>
                </a:solidFill>
                <a:latin typeface="Helvetica Neue"/>
                <a:ea typeface="Helvetica Neue"/>
                <a:cs typeface="Helvetica Neue"/>
              </a:defRPr>
            </a:pPr>
            <a:r>
              <a:t>PHASE 2</a:t>
            </a:r>
          </a:p>
        </p:txBody>
      </p:sp>
      <p:sp>
        <p:nvSpPr>
          <p:cNvPr id="10" name="launch-title-2">
            <a:extLst xmlns:a="http://schemas.openxmlformats.org/drawingml/2006/main">
              <a:ext uri="{FF2B5EF4-FFF2-40B4-BE49-F238E27FC236}">
                <a16:creationId xmlns:a16="http://schemas.microsoft.com/office/drawing/2014/main" id="{E3CDF192-5C66-41F2-95CC-5332601C8D26}"/>
              </a:ext>
            </a:extLst>
          </p:cNvPr>
          <p:cNvSpPr>
            <a:spLocks xmlns:a="http://schemas.openxmlformats.org/drawingml/2006/main" noGrp="1"/>
          </p:cNvSpPr>
          <p:nvPr/>
        </p:nvSpPr>
        <p:spPr>
          <a:xfrm xmlns:a="http://schemas.openxmlformats.org/drawingml/2006/main">
            <a:off x="4648200" y="3857625"/>
            <a:ext cx="2619375"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1820"/>
                </a:solidFill>
                <a:latin typeface="Helvetica Neue"/>
                <a:ea typeface="Helvetica Neue"/>
                <a:cs typeface="Helvetica Neue"/>
              </a:defRPr>
            </a:pPr>
            <a:r>
              <a:t>Fix the rough spots</a:t>
            </a:r>
          </a:p>
        </p:txBody>
      </p:sp>
      <p:sp>
        <p:nvSpPr>
          <p:cNvPr id="11" name="launch-body-2">
            <a:extLst xmlns:a="http://schemas.openxmlformats.org/drawingml/2006/main">
              <a:ext uri="{FF2B5EF4-FFF2-40B4-BE49-F238E27FC236}">
                <a16:creationId xmlns:a16="http://schemas.microsoft.com/office/drawing/2014/main" id="{1FA2AC5F-1574-4B9C-83A7-1DB8962EDE21}"/>
              </a:ext>
            </a:extLst>
          </p:cNvPr>
          <p:cNvSpPr>
            <a:spLocks xmlns:a="http://schemas.openxmlformats.org/drawingml/2006/main" noGrp="1"/>
          </p:cNvSpPr>
          <p:nvPr/>
        </p:nvSpPr>
        <p:spPr>
          <a:xfrm xmlns:a="http://schemas.openxmlformats.org/drawingml/2006/main">
            <a:off x="4648200" y="4476750"/>
            <a:ext cx="2647950" cy="1047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F6B78"/>
                </a:solidFill>
                <a:latin typeface="Helvetica Neue"/>
                <a:ea typeface="Helvetica Neue"/>
                <a:cs typeface="Helvetica Neue"/>
              </a:defRPr>
            </a:pPr>
            <a:r>
              <a:t>Improve onboarding, alarm reliability, and the first-week experience.</a:t>
            </a:r>
          </a:p>
        </p:txBody>
      </p:sp>
      <p:sp>
        <p:nvSpPr>
          <p:cNvPr id="12" name="launch-node-3">
            <a:extLst xmlns:a="http://schemas.openxmlformats.org/drawingml/2006/main">
              <a:ext uri="{FF2B5EF4-FFF2-40B4-BE49-F238E27FC236}">
                <a16:creationId xmlns:a16="http://schemas.microsoft.com/office/drawing/2014/main" id="{539AE88D-648C-4102-9CD7-DDADEADE9F15}"/>
              </a:ext>
            </a:extLst>
          </p:cNvPr>
          <p:cNvSpPr>
            <a:spLocks xmlns:a="http://schemas.openxmlformats.org/drawingml/2006/main" noGrp="1"/>
          </p:cNvSpPr>
          <p:nvPr/>
        </p:nvSpPr>
        <p:spPr>
          <a:xfrm xmlns:a="http://schemas.openxmlformats.org/drawingml/2006/main">
            <a:off x="7905750" y="3181350"/>
            <a:ext cx="400050" cy="400050"/>
          </a:xfrm>
          <a:prstGeom xmlns:a="http://schemas.openxmlformats.org/drawingml/2006/main" prst="ellipse">
            <a:avLst/>
          </a:prstGeom>
          <a:solidFill xmlns:a="http://schemas.openxmlformats.org/drawingml/2006/main">
            <a:srgbClr val="20BFA8"/>
          </a:solidFill>
          <a:ln xmlns:a="http://schemas.openxmlformats.org/drawingml/2006/main" w="38100">
            <a:solidFill>
              <a:srgbClr val="20BFA8"/>
            </a:solidFill>
            <a:prstDash val="solid"/>
          </a:ln>
        </p:spPr>
      </p:sp>
      <p:sp>
        <p:nvSpPr>
          <p:cNvPr id="13" name="launch-phase-3">
            <a:extLst xmlns:a="http://schemas.openxmlformats.org/drawingml/2006/main">
              <a:ext uri="{FF2B5EF4-FFF2-40B4-BE49-F238E27FC236}">
                <a16:creationId xmlns:a16="http://schemas.microsoft.com/office/drawing/2014/main" id="{47F1CEB2-E1F2-44BE-8D22-672B9A58857A}"/>
              </a:ext>
            </a:extLst>
          </p:cNvPr>
          <p:cNvSpPr>
            <a:spLocks xmlns:a="http://schemas.openxmlformats.org/drawingml/2006/main" noGrp="1"/>
          </p:cNvSpPr>
          <p:nvPr/>
        </p:nvSpPr>
        <p:spPr>
          <a:xfrm xmlns:a="http://schemas.openxmlformats.org/drawingml/2006/main">
            <a:off x="7886700" y="2619375"/>
            <a:ext cx="20002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PHASE 3</a:t>
            </a:r>
          </a:p>
        </p:txBody>
      </p:sp>
      <p:sp>
        <p:nvSpPr>
          <p:cNvPr id="14" name="launch-title-3">
            <a:extLst xmlns:a="http://schemas.openxmlformats.org/drawingml/2006/main">
              <a:ext uri="{FF2B5EF4-FFF2-40B4-BE49-F238E27FC236}">
                <a16:creationId xmlns:a16="http://schemas.microsoft.com/office/drawing/2014/main" id="{BF842FCF-6621-4B82-A9AA-CE453EB98C0B}"/>
              </a:ext>
            </a:extLst>
          </p:cNvPr>
          <p:cNvSpPr>
            <a:spLocks xmlns:a="http://schemas.openxmlformats.org/drawingml/2006/main" noGrp="1"/>
          </p:cNvSpPr>
          <p:nvPr/>
        </p:nvSpPr>
        <p:spPr>
          <a:xfrm xmlns:a="http://schemas.openxmlformats.org/drawingml/2006/main">
            <a:off x="7886700" y="3857625"/>
            <a:ext cx="2619375"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1820"/>
                </a:solidFill>
                <a:latin typeface="Helvetica Neue"/>
                <a:ea typeface="Helvetica Neue"/>
                <a:cs typeface="Helvetica Neue"/>
              </a:defRPr>
            </a:pPr>
            <a:r>
              <a:t>Wider release</a:t>
            </a:r>
          </a:p>
        </p:txBody>
      </p:sp>
      <p:sp>
        <p:nvSpPr>
          <p:cNvPr id="15" name="launch-body-3">
            <a:extLst xmlns:a="http://schemas.openxmlformats.org/drawingml/2006/main">
              <a:ext uri="{FF2B5EF4-FFF2-40B4-BE49-F238E27FC236}">
                <a16:creationId xmlns:a16="http://schemas.microsoft.com/office/drawing/2014/main" id="{0108518B-FACB-4AE0-8094-76393D9A512F}"/>
              </a:ext>
            </a:extLst>
          </p:cNvPr>
          <p:cNvSpPr>
            <a:spLocks xmlns:a="http://schemas.openxmlformats.org/drawingml/2006/main" noGrp="1"/>
          </p:cNvSpPr>
          <p:nvPr/>
        </p:nvSpPr>
        <p:spPr>
          <a:xfrm xmlns:a="http://schemas.openxmlformats.org/drawingml/2006/main">
            <a:off x="7886700" y="4476750"/>
            <a:ext cx="2647950" cy="1047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F6B78"/>
                </a:solidFill>
                <a:latin typeface="Helvetica Neue"/>
                <a:ea typeface="Helvetica Neue"/>
                <a:cs typeface="Helvetica Neue"/>
              </a:defRPr>
            </a:pPr>
            <a:r>
              <a:t>Publish to phone and web channels, then add referrals and demos.</a:t>
            </a:r>
          </a:p>
        </p:txBody>
      </p:sp>
      <p:sp>
        <p:nvSpPr>
          <p:cNvPr id="16" name="launch-measure">
            <a:extLst xmlns:a="http://schemas.openxmlformats.org/drawingml/2006/main">
              <a:ext uri="{FF2B5EF4-FFF2-40B4-BE49-F238E27FC236}">
                <a16:creationId xmlns:a16="http://schemas.microsoft.com/office/drawing/2014/main" id="{BDBF5EBB-4CE8-4D6B-BBA9-6B2998F42633}"/>
              </a:ext>
            </a:extLst>
          </p:cNvPr>
          <p:cNvSpPr>
            <a:spLocks xmlns:a="http://schemas.openxmlformats.org/drawingml/2006/main" noGrp="1"/>
          </p:cNvSpPr>
          <p:nvPr/>
        </p:nvSpPr>
        <p:spPr>
          <a:xfrm xmlns:a="http://schemas.openxmlformats.org/drawingml/2006/main">
            <a:off x="457200" y="5905500"/>
            <a:ext cx="104775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E756A"/>
                </a:solidFill>
                <a:latin typeface="Helvetica Neue"/>
                <a:ea typeface="Helvetica Neue"/>
                <a:cs typeface="Helvetica Neue"/>
              </a:defRPr>
            </a:pPr>
            <a:r>
              <a:t>What we watch: setup success · alarm delivery · repeat use · honest feedback</a:t>
            </a:r>
          </a:p>
        </p:txBody>
      </p:sp>
      <p:sp>
        <p:nvSpPr>
          <p:cNvPr id="17" name="page-6">
            <a:extLst xmlns:a="http://schemas.openxmlformats.org/drawingml/2006/main">
              <a:ext uri="{FF2B5EF4-FFF2-40B4-BE49-F238E27FC236}">
                <a16:creationId xmlns:a16="http://schemas.microsoft.com/office/drawing/2014/main" id="{1EBCB4B6-CE80-499B-8F4C-F85E3329B3B2}"/>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6</a:t>
            </a:r>
          </a:p>
        </p:txBody>
      </p:sp>
    </p:spTree>
    <p:extLst>
      <p:ext uri="{BB962C8B-B14F-4D97-AF65-F5344CB8AC3E}">
        <p14:creationId xmlns:p14="http://schemas.microsoft.com/office/powerpoint/2010/main" val="8600935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7">
            <a:extLst xmlns:a="http://schemas.openxmlformats.org/drawingml/2006/main">
              <a:ext uri="{FF2B5EF4-FFF2-40B4-BE49-F238E27FC236}">
                <a16:creationId xmlns:a16="http://schemas.microsoft.com/office/drawing/2014/main" id="{1E9160BE-CF37-47C3-84DE-B556CE5CE7C4}"/>
              </a:ext>
            </a:extLst>
          </p:cNvPr>
          <p:cNvSpPr>
            <a:spLocks xmlns:a="http://schemas.openxmlformats.org/drawingml/2006/main" noGrp="1"/>
          </p:cNvSpPr>
          <p:nvPr/>
        </p:nvSpPr>
        <p:spPr>
          <a:xfrm xmlns:a="http://schemas.openxmlformats.org/drawingml/2006/main">
            <a:off x="457200" y="342900"/>
            <a:ext cx="34290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MANUFACTURING</a:t>
            </a:r>
          </a:p>
        </p:txBody>
      </p:sp>
      <p:sp>
        <p:nvSpPr>
          <p:cNvPr id="2" name="title-7">
            <a:extLst xmlns:a="http://schemas.openxmlformats.org/drawingml/2006/main">
              <a:ext uri="{FF2B5EF4-FFF2-40B4-BE49-F238E27FC236}">
                <a16:creationId xmlns:a16="http://schemas.microsoft.com/office/drawing/2014/main" id="{95D73B13-26CA-4E16-BC2C-12CE63BD6256}"/>
              </a:ext>
            </a:extLst>
          </p:cNvPr>
          <p:cNvSpPr>
            <a:spLocks xmlns:a="http://schemas.openxmlformats.org/drawingml/2006/main" noGrp="1"/>
          </p:cNvSpPr>
          <p:nvPr/>
        </p:nvSpPr>
        <p:spPr>
          <a:xfrm xmlns:a="http://schemas.openxmlformats.org/drawingml/2006/main">
            <a:off x="457200" y="704850"/>
            <a:ext cx="111252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For an app, the factory is the release pipeline.</a:t>
            </a:r>
          </a:p>
        </p:txBody>
      </p:sp>
      <p:sp>
        <p:nvSpPr>
          <p:cNvPr id="3" name="factory-intro">
            <a:extLst xmlns:a="http://schemas.openxmlformats.org/drawingml/2006/main">
              <a:ext uri="{FF2B5EF4-FFF2-40B4-BE49-F238E27FC236}">
                <a16:creationId xmlns:a16="http://schemas.microsoft.com/office/drawing/2014/main" id="{04934336-A753-4995-9F1B-16742AE1D619}"/>
              </a:ext>
            </a:extLst>
          </p:cNvPr>
          <p:cNvSpPr>
            <a:spLocks xmlns:a="http://schemas.openxmlformats.org/drawingml/2006/main" noGrp="1"/>
          </p:cNvSpPr>
          <p:nvPr/>
        </p:nvSpPr>
        <p:spPr>
          <a:xfrm xmlns:a="http://schemas.openxmlformats.org/drawingml/2006/main">
            <a:off x="457200" y="1409700"/>
            <a:ext cx="72390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F6B78"/>
                </a:solidFill>
                <a:latin typeface="Helvetica Neue"/>
                <a:ea typeface="Helvetica Neue"/>
                <a:cs typeface="Helvetica Neue"/>
              </a:defRPr>
            </a:pPr>
            <a:r>
              <a:t>Each release moves through the same five stations.</a:t>
            </a:r>
          </a:p>
        </p:txBody>
      </p:sp>
      <p:cxnSp>
        <p:nvCxnSpPr>
          <p:cNvPr id="30" name="factory-line"/>
          <p:cNvCxnSpPr/>
          <p:nvPr/>
        </p:nvCxnSpPr>
        <p:spPr>
          <a:xfrm xmlns:a="http://schemas.openxmlformats.org/drawingml/2006/main">
            <a:off x="1143000" y="3257550"/>
            <a:ext cx="9858375" cy="286"/>
          </a:xfrm>
          <a:prstGeom xmlns:a="http://schemas.openxmlformats.org/drawingml/2006/main" prst="straightConnector1">
            <a:avLst/>
          </a:prstGeom>
          <a:ln xmlns:a="http://schemas.openxmlformats.org/drawingml/2006/main" w="38100">
            <a:solidFill>
              <a:srgbClr val="BBC5C8"/>
            </a:solidFill>
            <a:prstDash val="solid"/>
          </a:ln>
        </p:spPr>
      </p:cxnSp>
      <p:sp>
        <p:nvSpPr>
          <p:cNvPr id="5" name="factory-station-1">
            <a:extLst xmlns:a="http://schemas.openxmlformats.org/drawingml/2006/main">
              <a:ext uri="{FF2B5EF4-FFF2-40B4-BE49-F238E27FC236}">
                <a16:creationId xmlns:a16="http://schemas.microsoft.com/office/drawing/2014/main" id="{1A7E16D0-09AD-481D-9018-AB380CC08FB3}"/>
              </a:ext>
            </a:extLst>
          </p:cNvPr>
          <p:cNvSpPr>
            <a:spLocks xmlns:a="http://schemas.openxmlformats.org/drawingml/2006/main" noGrp="1"/>
          </p:cNvSpPr>
          <p:nvPr/>
        </p:nvSpPr>
        <p:spPr>
          <a:xfrm xmlns:a="http://schemas.openxmlformats.org/drawingml/2006/main">
            <a:off x="1000125" y="2933700"/>
            <a:ext cx="685800" cy="685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6" name="factory-number-1">
            <a:extLst xmlns:a="http://schemas.openxmlformats.org/drawingml/2006/main">
              <a:ext uri="{FF2B5EF4-FFF2-40B4-BE49-F238E27FC236}">
                <a16:creationId xmlns:a16="http://schemas.microsoft.com/office/drawing/2014/main" id="{DBDCA440-4886-4FFD-9C1D-3AD2913F3022}"/>
              </a:ext>
            </a:extLst>
          </p:cNvPr>
          <p:cNvSpPr>
            <a:spLocks xmlns:a="http://schemas.openxmlformats.org/drawingml/2006/main" noGrp="1"/>
          </p:cNvSpPr>
          <p:nvPr/>
        </p:nvSpPr>
        <p:spPr>
          <a:xfrm xmlns:a="http://schemas.openxmlformats.org/drawingml/2006/main">
            <a:off x="1000125" y="3124200"/>
            <a:ext cx="6858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01820"/>
                </a:solidFill>
                <a:latin typeface="Helvetica Neue"/>
                <a:ea typeface="Helvetica Neue"/>
                <a:cs typeface="Helvetica Neue"/>
              </a:defRPr>
            </a:pPr>
            <a:r>
              <a:t>1</a:t>
            </a:r>
          </a:p>
        </p:txBody>
      </p:sp>
      <p:sp>
        <p:nvSpPr>
          <p:cNvPr id="7" name="factory-label-1">
            <a:extLst xmlns:a="http://schemas.openxmlformats.org/drawingml/2006/main">
              <a:ext uri="{FF2B5EF4-FFF2-40B4-BE49-F238E27FC236}">
                <a16:creationId xmlns:a16="http://schemas.microsoft.com/office/drawing/2014/main" id="{A089CB55-2455-4E9E-98D7-818E9FE387A9}"/>
              </a:ext>
            </a:extLst>
          </p:cNvPr>
          <p:cNvSpPr>
            <a:spLocks xmlns:a="http://schemas.openxmlformats.org/drawingml/2006/main" noGrp="1"/>
          </p:cNvSpPr>
          <p:nvPr/>
        </p:nvSpPr>
        <p:spPr>
          <a:xfrm xmlns:a="http://schemas.openxmlformats.org/drawingml/2006/main">
            <a:off x="714375" y="3952875"/>
            <a:ext cx="1571625"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101820"/>
                </a:solidFill>
                <a:latin typeface="Helvetica Neue"/>
                <a:ea typeface="Helvetica Neue"/>
                <a:cs typeface="Helvetica Neue"/>
              </a:defRPr>
            </a:pPr>
            <a:r>
              <a:t>DESIGN</a:t>
            </a:r>
          </a:p>
        </p:txBody>
      </p:sp>
      <p:sp>
        <p:nvSpPr>
          <p:cNvPr id="8" name="factory-body-1">
            <a:extLst xmlns:a="http://schemas.openxmlformats.org/drawingml/2006/main">
              <a:ext uri="{FF2B5EF4-FFF2-40B4-BE49-F238E27FC236}">
                <a16:creationId xmlns:a16="http://schemas.microsoft.com/office/drawing/2014/main" id="{55F67DBC-53A9-47BE-A8C7-DCAD0321A357}"/>
              </a:ext>
            </a:extLst>
          </p:cNvPr>
          <p:cNvSpPr>
            <a:spLocks xmlns:a="http://schemas.openxmlformats.org/drawingml/2006/main" noGrp="1"/>
          </p:cNvSpPr>
          <p:nvPr/>
        </p:nvSpPr>
        <p:spPr>
          <a:xfrm xmlns:a="http://schemas.openxmlformats.org/drawingml/2006/main">
            <a:off x="600075" y="4333875"/>
            <a:ext cx="180975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F6B78"/>
                </a:solidFill>
                <a:latin typeface="Helvetica Neue"/>
                <a:ea typeface="Helvetica Neue"/>
                <a:cs typeface="Helvetica Neue"/>
              </a:defRPr>
            </a:pPr>
            <a:r>
              <a:t>Screens and timing rules</a:t>
            </a:r>
          </a:p>
        </p:txBody>
      </p:sp>
      <p:sp>
        <p:nvSpPr>
          <p:cNvPr id="9" name="factory-station-2">
            <a:extLst xmlns:a="http://schemas.openxmlformats.org/drawingml/2006/main">
              <a:ext uri="{FF2B5EF4-FFF2-40B4-BE49-F238E27FC236}">
                <a16:creationId xmlns:a16="http://schemas.microsoft.com/office/drawing/2014/main" id="{6F2891D3-8A41-4193-AF38-35ABF6B5C6AB}"/>
              </a:ext>
            </a:extLst>
          </p:cNvPr>
          <p:cNvSpPr>
            <a:spLocks xmlns:a="http://schemas.openxmlformats.org/drawingml/2006/main" noGrp="1"/>
          </p:cNvSpPr>
          <p:nvPr/>
        </p:nvSpPr>
        <p:spPr>
          <a:xfrm xmlns:a="http://schemas.openxmlformats.org/drawingml/2006/main">
            <a:off x="3143250" y="2933700"/>
            <a:ext cx="685800" cy="685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10" name="factory-number-2">
            <a:extLst xmlns:a="http://schemas.openxmlformats.org/drawingml/2006/main">
              <a:ext uri="{FF2B5EF4-FFF2-40B4-BE49-F238E27FC236}">
                <a16:creationId xmlns:a16="http://schemas.microsoft.com/office/drawing/2014/main" id="{00544014-CA11-4FE8-BBAB-E21DC970FE18}"/>
              </a:ext>
            </a:extLst>
          </p:cNvPr>
          <p:cNvSpPr>
            <a:spLocks xmlns:a="http://schemas.openxmlformats.org/drawingml/2006/main" noGrp="1"/>
          </p:cNvSpPr>
          <p:nvPr/>
        </p:nvSpPr>
        <p:spPr>
          <a:xfrm xmlns:a="http://schemas.openxmlformats.org/drawingml/2006/main">
            <a:off x="3143250" y="3124200"/>
            <a:ext cx="6858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01820"/>
                </a:solidFill>
                <a:latin typeface="Helvetica Neue"/>
                <a:ea typeface="Helvetica Neue"/>
                <a:cs typeface="Helvetica Neue"/>
              </a:defRPr>
            </a:pPr>
            <a:r>
              <a:t>2</a:t>
            </a:r>
          </a:p>
        </p:txBody>
      </p:sp>
      <p:sp>
        <p:nvSpPr>
          <p:cNvPr id="11" name="factory-label-2">
            <a:extLst xmlns:a="http://schemas.openxmlformats.org/drawingml/2006/main">
              <a:ext uri="{FF2B5EF4-FFF2-40B4-BE49-F238E27FC236}">
                <a16:creationId xmlns:a16="http://schemas.microsoft.com/office/drawing/2014/main" id="{B932F932-F42E-47BC-ACBB-1B63E0C6A20B}"/>
              </a:ext>
            </a:extLst>
          </p:cNvPr>
          <p:cNvSpPr>
            <a:spLocks xmlns:a="http://schemas.openxmlformats.org/drawingml/2006/main" noGrp="1"/>
          </p:cNvSpPr>
          <p:nvPr/>
        </p:nvSpPr>
        <p:spPr>
          <a:xfrm xmlns:a="http://schemas.openxmlformats.org/drawingml/2006/main">
            <a:off x="2857500" y="3952875"/>
            <a:ext cx="1571625"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101820"/>
                </a:solidFill>
                <a:latin typeface="Helvetica Neue"/>
                <a:ea typeface="Helvetica Neue"/>
                <a:cs typeface="Helvetica Neue"/>
              </a:defRPr>
            </a:pPr>
            <a:r>
              <a:t>BUILD</a:t>
            </a:r>
          </a:p>
        </p:txBody>
      </p:sp>
      <p:sp>
        <p:nvSpPr>
          <p:cNvPr id="12" name="factory-body-2">
            <a:extLst xmlns:a="http://schemas.openxmlformats.org/drawingml/2006/main">
              <a:ext uri="{FF2B5EF4-FFF2-40B4-BE49-F238E27FC236}">
                <a16:creationId xmlns:a16="http://schemas.microsoft.com/office/drawing/2014/main" id="{72C06399-4BB0-4E4F-9C85-6A90E71B3FD2}"/>
              </a:ext>
            </a:extLst>
          </p:cNvPr>
          <p:cNvSpPr>
            <a:spLocks xmlns:a="http://schemas.openxmlformats.org/drawingml/2006/main" noGrp="1"/>
          </p:cNvSpPr>
          <p:nvPr/>
        </p:nvSpPr>
        <p:spPr>
          <a:xfrm xmlns:a="http://schemas.openxmlformats.org/drawingml/2006/main">
            <a:off x="2743200" y="4333875"/>
            <a:ext cx="180975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F6B78"/>
                </a:solidFill>
                <a:latin typeface="Helvetica Neue"/>
                <a:ea typeface="Helvetica Neue"/>
                <a:cs typeface="Helvetica Neue"/>
              </a:defRPr>
            </a:pPr>
            <a:r>
              <a:t>Web and mobile code</a:t>
            </a:r>
          </a:p>
        </p:txBody>
      </p:sp>
      <p:sp>
        <p:nvSpPr>
          <p:cNvPr id="13" name="factory-station-3">
            <a:extLst xmlns:a="http://schemas.openxmlformats.org/drawingml/2006/main">
              <a:ext uri="{FF2B5EF4-FFF2-40B4-BE49-F238E27FC236}">
                <a16:creationId xmlns:a16="http://schemas.microsoft.com/office/drawing/2014/main" id="{352D3400-BDCF-4615-A5DD-4C0BAEE0C78B}"/>
              </a:ext>
            </a:extLst>
          </p:cNvPr>
          <p:cNvSpPr>
            <a:spLocks xmlns:a="http://schemas.openxmlformats.org/drawingml/2006/main" noGrp="1"/>
          </p:cNvSpPr>
          <p:nvPr/>
        </p:nvSpPr>
        <p:spPr>
          <a:xfrm xmlns:a="http://schemas.openxmlformats.org/drawingml/2006/main">
            <a:off x="5286375" y="2933700"/>
            <a:ext cx="685800" cy="685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14" name="factory-number-3">
            <a:extLst xmlns:a="http://schemas.openxmlformats.org/drawingml/2006/main">
              <a:ext uri="{FF2B5EF4-FFF2-40B4-BE49-F238E27FC236}">
                <a16:creationId xmlns:a16="http://schemas.microsoft.com/office/drawing/2014/main" id="{F0A1F137-DD6F-451A-818F-943784EC0454}"/>
              </a:ext>
            </a:extLst>
          </p:cNvPr>
          <p:cNvSpPr>
            <a:spLocks xmlns:a="http://schemas.openxmlformats.org/drawingml/2006/main" noGrp="1"/>
          </p:cNvSpPr>
          <p:nvPr/>
        </p:nvSpPr>
        <p:spPr>
          <a:xfrm xmlns:a="http://schemas.openxmlformats.org/drawingml/2006/main">
            <a:off x="5286375" y="3124200"/>
            <a:ext cx="6858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01820"/>
                </a:solidFill>
                <a:latin typeface="Helvetica Neue"/>
                <a:ea typeface="Helvetica Neue"/>
                <a:cs typeface="Helvetica Neue"/>
              </a:defRPr>
            </a:pPr>
            <a:r>
              <a:t>3</a:t>
            </a:r>
          </a:p>
        </p:txBody>
      </p:sp>
      <p:sp>
        <p:nvSpPr>
          <p:cNvPr id="15" name="factory-label-3">
            <a:extLst xmlns:a="http://schemas.openxmlformats.org/drawingml/2006/main">
              <a:ext uri="{FF2B5EF4-FFF2-40B4-BE49-F238E27FC236}">
                <a16:creationId xmlns:a16="http://schemas.microsoft.com/office/drawing/2014/main" id="{4B9DAE8B-2012-4DD1-8838-80B14A44CDD2}"/>
              </a:ext>
            </a:extLst>
          </p:cNvPr>
          <p:cNvSpPr>
            <a:spLocks xmlns:a="http://schemas.openxmlformats.org/drawingml/2006/main" noGrp="1"/>
          </p:cNvSpPr>
          <p:nvPr/>
        </p:nvSpPr>
        <p:spPr>
          <a:xfrm xmlns:a="http://schemas.openxmlformats.org/drawingml/2006/main">
            <a:off x="5000625" y="3952875"/>
            <a:ext cx="1571625"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101820"/>
                </a:solidFill>
                <a:latin typeface="Helvetica Neue"/>
                <a:ea typeface="Helvetica Neue"/>
                <a:cs typeface="Helvetica Neue"/>
              </a:defRPr>
            </a:pPr>
            <a:r>
              <a:t>TEST</a:t>
            </a:r>
          </a:p>
        </p:txBody>
      </p:sp>
      <p:sp>
        <p:nvSpPr>
          <p:cNvPr id="16" name="factory-body-3">
            <a:extLst xmlns:a="http://schemas.openxmlformats.org/drawingml/2006/main">
              <a:ext uri="{FF2B5EF4-FFF2-40B4-BE49-F238E27FC236}">
                <a16:creationId xmlns:a16="http://schemas.microsoft.com/office/drawing/2014/main" id="{21450638-DC69-4458-83AE-B12E0679F739}"/>
              </a:ext>
            </a:extLst>
          </p:cNvPr>
          <p:cNvSpPr>
            <a:spLocks xmlns:a="http://schemas.openxmlformats.org/drawingml/2006/main" noGrp="1"/>
          </p:cNvSpPr>
          <p:nvPr/>
        </p:nvSpPr>
        <p:spPr>
          <a:xfrm xmlns:a="http://schemas.openxmlformats.org/drawingml/2006/main">
            <a:off x="4886325" y="4333875"/>
            <a:ext cx="180975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F6B78"/>
                </a:solidFill>
                <a:latin typeface="Helvetica Neue"/>
                <a:ea typeface="Helvetica Neue"/>
                <a:cs typeface="Helvetica Neue"/>
              </a:defRPr>
            </a:pPr>
            <a:r>
              <a:t>Math, alarms, and devices</a:t>
            </a:r>
          </a:p>
        </p:txBody>
      </p:sp>
      <p:sp>
        <p:nvSpPr>
          <p:cNvPr id="17" name="factory-station-4">
            <a:extLst xmlns:a="http://schemas.openxmlformats.org/drawingml/2006/main">
              <a:ext uri="{FF2B5EF4-FFF2-40B4-BE49-F238E27FC236}">
                <a16:creationId xmlns:a16="http://schemas.microsoft.com/office/drawing/2014/main" id="{4B0A8254-2C79-4861-AD68-903C02AB63AA}"/>
              </a:ext>
            </a:extLst>
          </p:cNvPr>
          <p:cNvSpPr>
            <a:spLocks xmlns:a="http://schemas.openxmlformats.org/drawingml/2006/main" noGrp="1"/>
          </p:cNvSpPr>
          <p:nvPr/>
        </p:nvSpPr>
        <p:spPr>
          <a:xfrm xmlns:a="http://schemas.openxmlformats.org/drawingml/2006/main">
            <a:off x="7429500" y="2933700"/>
            <a:ext cx="685800" cy="685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101820"/>
            </a:solidFill>
            <a:prstDash val="solid"/>
          </a:ln>
        </p:spPr>
      </p:sp>
      <p:sp>
        <p:nvSpPr>
          <p:cNvPr id="18" name="factory-number-4">
            <a:extLst xmlns:a="http://schemas.openxmlformats.org/drawingml/2006/main">
              <a:ext uri="{FF2B5EF4-FFF2-40B4-BE49-F238E27FC236}">
                <a16:creationId xmlns:a16="http://schemas.microsoft.com/office/drawing/2014/main" id="{ED00E43E-41FC-48A3-A340-19CF013E755B}"/>
              </a:ext>
            </a:extLst>
          </p:cNvPr>
          <p:cNvSpPr>
            <a:spLocks xmlns:a="http://schemas.openxmlformats.org/drawingml/2006/main" noGrp="1"/>
          </p:cNvSpPr>
          <p:nvPr/>
        </p:nvSpPr>
        <p:spPr>
          <a:xfrm xmlns:a="http://schemas.openxmlformats.org/drawingml/2006/main">
            <a:off x="7429500" y="3124200"/>
            <a:ext cx="6858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101820"/>
                </a:solidFill>
                <a:latin typeface="Helvetica Neue"/>
                <a:ea typeface="Helvetica Neue"/>
                <a:cs typeface="Helvetica Neue"/>
              </a:defRPr>
            </a:pPr>
            <a:r>
              <a:t>4</a:t>
            </a:r>
          </a:p>
        </p:txBody>
      </p:sp>
      <p:sp>
        <p:nvSpPr>
          <p:cNvPr id="19" name="factory-label-4">
            <a:extLst xmlns:a="http://schemas.openxmlformats.org/drawingml/2006/main">
              <a:ext uri="{FF2B5EF4-FFF2-40B4-BE49-F238E27FC236}">
                <a16:creationId xmlns:a16="http://schemas.microsoft.com/office/drawing/2014/main" id="{BE0654A2-4664-4DE1-B471-424D34718B4B}"/>
              </a:ext>
            </a:extLst>
          </p:cNvPr>
          <p:cNvSpPr>
            <a:spLocks xmlns:a="http://schemas.openxmlformats.org/drawingml/2006/main" noGrp="1"/>
          </p:cNvSpPr>
          <p:nvPr/>
        </p:nvSpPr>
        <p:spPr>
          <a:xfrm xmlns:a="http://schemas.openxmlformats.org/drawingml/2006/main">
            <a:off x="7143750" y="3952875"/>
            <a:ext cx="1571625"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101820"/>
                </a:solidFill>
                <a:latin typeface="Helvetica Neue"/>
                <a:ea typeface="Helvetica Neue"/>
                <a:cs typeface="Helvetica Neue"/>
              </a:defRPr>
            </a:pPr>
            <a:r>
              <a:t>PACKAGE</a:t>
            </a:r>
          </a:p>
        </p:txBody>
      </p:sp>
      <p:sp>
        <p:nvSpPr>
          <p:cNvPr id="20" name="factory-body-4">
            <a:extLst xmlns:a="http://schemas.openxmlformats.org/drawingml/2006/main">
              <a:ext uri="{FF2B5EF4-FFF2-40B4-BE49-F238E27FC236}">
                <a16:creationId xmlns:a16="http://schemas.microsoft.com/office/drawing/2014/main" id="{07951489-B41C-432F-BAC5-825E87B97BA8}"/>
              </a:ext>
            </a:extLst>
          </p:cNvPr>
          <p:cNvSpPr>
            <a:spLocks xmlns:a="http://schemas.openxmlformats.org/drawingml/2006/main" noGrp="1"/>
          </p:cNvSpPr>
          <p:nvPr/>
        </p:nvSpPr>
        <p:spPr>
          <a:xfrm xmlns:a="http://schemas.openxmlformats.org/drawingml/2006/main">
            <a:off x="7029450" y="4333875"/>
            <a:ext cx="180975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F6B78"/>
                </a:solidFill>
                <a:latin typeface="Helvetica Neue"/>
                <a:ea typeface="Helvetica Neue"/>
                <a:cs typeface="Helvetica Neue"/>
              </a:defRPr>
            </a:pPr>
            <a:r>
              <a:t>iOS, Android, and PWA</a:t>
            </a:r>
          </a:p>
        </p:txBody>
      </p:sp>
      <p:sp>
        <p:nvSpPr>
          <p:cNvPr id="21" name="factory-station-5">
            <a:extLst xmlns:a="http://schemas.openxmlformats.org/drawingml/2006/main">
              <a:ext uri="{FF2B5EF4-FFF2-40B4-BE49-F238E27FC236}">
                <a16:creationId xmlns:a16="http://schemas.microsoft.com/office/drawing/2014/main" id="{A045022A-2126-4751-A895-81D69FDDA8BF}"/>
              </a:ext>
            </a:extLst>
          </p:cNvPr>
          <p:cNvSpPr>
            <a:spLocks xmlns:a="http://schemas.openxmlformats.org/drawingml/2006/main" noGrp="1"/>
          </p:cNvSpPr>
          <p:nvPr/>
        </p:nvSpPr>
        <p:spPr>
          <a:xfrm xmlns:a="http://schemas.openxmlformats.org/drawingml/2006/main">
            <a:off x="9572625" y="2933700"/>
            <a:ext cx="685800" cy="685800"/>
          </a:xfrm>
          <a:prstGeom xmlns:a="http://schemas.openxmlformats.org/drawingml/2006/main" prst="ellipse">
            <a:avLst/>
          </a:prstGeom>
          <a:solidFill xmlns:a="http://schemas.openxmlformats.org/drawingml/2006/main">
            <a:srgbClr val="20BFA8"/>
          </a:solidFill>
          <a:ln xmlns:a="http://schemas.openxmlformats.org/drawingml/2006/main" w="38100">
            <a:solidFill>
              <a:srgbClr val="20BFA8"/>
            </a:solidFill>
            <a:prstDash val="solid"/>
          </a:ln>
        </p:spPr>
      </p:sp>
      <p:sp>
        <p:nvSpPr>
          <p:cNvPr id="22" name="factory-number-5">
            <a:extLst xmlns:a="http://schemas.openxmlformats.org/drawingml/2006/main">
              <a:ext uri="{FF2B5EF4-FFF2-40B4-BE49-F238E27FC236}">
                <a16:creationId xmlns:a16="http://schemas.microsoft.com/office/drawing/2014/main" id="{CF774FE9-8A1D-4500-919F-0F5D868B5BB3}"/>
              </a:ext>
            </a:extLst>
          </p:cNvPr>
          <p:cNvSpPr>
            <a:spLocks xmlns:a="http://schemas.openxmlformats.org/drawingml/2006/main" noGrp="1"/>
          </p:cNvSpPr>
          <p:nvPr/>
        </p:nvSpPr>
        <p:spPr>
          <a:xfrm xmlns:a="http://schemas.openxmlformats.org/drawingml/2006/main">
            <a:off x="9572625" y="3124200"/>
            <a:ext cx="6858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t>5</a:t>
            </a:r>
          </a:p>
        </p:txBody>
      </p:sp>
      <p:sp>
        <p:nvSpPr>
          <p:cNvPr id="23" name="factory-label-5">
            <a:extLst xmlns:a="http://schemas.openxmlformats.org/drawingml/2006/main">
              <a:ext uri="{FF2B5EF4-FFF2-40B4-BE49-F238E27FC236}">
                <a16:creationId xmlns:a16="http://schemas.microsoft.com/office/drawing/2014/main" id="{165F82F0-FA86-4D12-B69B-E831F54C2A0F}"/>
              </a:ext>
            </a:extLst>
          </p:cNvPr>
          <p:cNvSpPr>
            <a:spLocks xmlns:a="http://schemas.openxmlformats.org/drawingml/2006/main" noGrp="1"/>
          </p:cNvSpPr>
          <p:nvPr/>
        </p:nvSpPr>
        <p:spPr>
          <a:xfrm xmlns:a="http://schemas.openxmlformats.org/drawingml/2006/main">
            <a:off x="9286875" y="3952875"/>
            <a:ext cx="1571625"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0E756A"/>
                </a:solidFill>
                <a:latin typeface="Helvetica Neue"/>
                <a:ea typeface="Helvetica Neue"/>
                <a:cs typeface="Helvetica Neue"/>
              </a:defRPr>
            </a:pPr>
            <a:r>
              <a:t>RELEASE</a:t>
            </a:r>
          </a:p>
        </p:txBody>
      </p:sp>
      <p:sp>
        <p:nvSpPr>
          <p:cNvPr id="24" name="factory-body-5">
            <a:extLst xmlns:a="http://schemas.openxmlformats.org/drawingml/2006/main">
              <a:ext uri="{FF2B5EF4-FFF2-40B4-BE49-F238E27FC236}">
                <a16:creationId xmlns:a16="http://schemas.microsoft.com/office/drawing/2014/main" id="{0ECC62D9-33A6-4F2E-8AB3-99D74049292B}"/>
              </a:ext>
            </a:extLst>
          </p:cNvPr>
          <p:cNvSpPr>
            <a:spLocks xmlns:a="http://schemas.openxmlformats.org/drawingml/2006/main" noGrp="1"/>
          </p:cNvSpPr>
          <p:nvPr/>
        </p:nvSpPr>
        <p:spPr>
          <a:xfrm xmlns:a="http://schemas.openxmlformats.org/drawingml/2006/main">
            <a:off x="9172575" y="4333875"/>
            <a:ext cx="180975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F6B78"/>
                </a:solidFill>
                <a:latin typeface="Helvetica Neue"/>
                <a:ea typeface="Helvetica Neue"/>
                <a:cs typeface="Helvetica Neue"/>
              </a:defRPr>
            </a:pPr>
            <a:r>
              <a:t>Stores and the web</a:t>
            </a:r>
          </a:p>
        </p:txBody>
      </p:sp>
      <p:sp>
        <p:nvSpPr>
          <p:cNvPr id="25" name="factory-repeat">
            <a:extLst xmlns:a="http://schemas.openxmlformats.org/drawingml/2006/main">
              <a:ext uri="{FF2B5EF4-FFF2-40B4-BE49-F238E27FC236}">
                <a16:creationId xmlns:a16="http://schemas.microsoft.com/office/drawing/2014/main" id="{5B4EC88A-9167-4530-8B04-EC2D85217F1F}"/>
              </a:ext>
            </a:extLst>
          </p:cNvPr>
          <p:cNvSpPr>
            <a:spLocks xmlns:a="http://schemas.openxmlformats.org/drawingml/2006/main" noGrp="1"/>
          </p:cNvSpPr>
          <p:nvPr/>
        </p:nvSpPr>
        <p:spPr>
          <a:xfrm xmlns:a="http://schemas.openxmlformats.org/drawingml/2006/main">
            <a:off x="457200" y="5810250"/>
            <a:ext cx="68580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E756A"/>
                </a:solidFill>
                <a:latin typeface="Helvetica Neue"/>
                <a:ea typeface="Helvetica Neue"/>
                <a:cs typeface="Helvetica Neue"/>
              </a:defRPr>
            </a:pPr>
            <a:r>
              <a:t>Then feedback starts the next version.</a:t>
            </a:r>
          </a:p>
        </p:txBody>
      </p:sp>
      <p:sp>
        <p:nvSpPr>
          <p:cNvPr id="26" name="page-7">
            <a:extLst xmlns:a="http://schemas.openxmlformats.org/drawingml/2006/main">
              <a:ext uri="{FF2B5EF4-FFF2-40B4-BE49-F238E27FC236}">
                <a16:creationId xmlns:a16="http://schemas.microsoft.com/office/drawing/2014/main" id="{82878B1D-29CA-4F2B-BD7D-49AD6182D027}"/>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7</a:t>
            </a:r>
          </a:p>
        </p:txBody>
      </p:sp>
    </p:spTree>
    <p:extLst>
      <p:ext uri="{BB962C8B-B14F-4D97-AF65-F5344CB8AC3E}">
        <p14:creationId xmlns:p14="http://schemas.microsoft.com/office/powerpoint/2010/main" val="19848448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8">
            <a:extLst xmlns:a="http://schemas.openxmlformats.org/drawingml/2006/main">
              <a:ext uri="{FF2B5EF4-FFF2-40B4-BE49-F238E27FC236}">
                <a16:creationId xmlns:a16="http://schemas.microsoft.com/office/drawing/2014/main" id="{FD3387A2-97F1-4E8A-A5CA-5B5E1B353593}"/>
              </a:ext>
            </a:extLst>
          </p:cNvPr>
          <p:cNvSpPr>
            <a:spLocks xmlns:a="http://schemas.openxmlformats.org/drawingml/2006/main" noGrp="1"/>
          </p:cNvSpPr>
          <p:nvPr/>
        </p:nvSpPr>
        <p:spPr>
          <a:xfrm xmlns:a="http://schemas.openxmlformats.org/drawingml/2006/main">
            <a:off x="457200" y="342900"/>
            <a:ext cx="34290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WHAT GETS BUILT</a:t>
            </a:r>
          </a:p>
        </p:txBody>
      </p:sp>
      <p:sp>
        <p:nvSpPr>
          <p:cNvPr id="2" name="title-8">
            <a:extLst xmlns:a="http://schemas.openxmlformats.org/drawingml/2006/main">
              <a:ext uri="{FF2B5EF4-FFF2-40B4-BE49-F238E27FC236}">
                <a16:creationId xmlns:a16="http://schemas.microsoft.com/office/drawing/2014/main" id="{E8DB4DCC-5A5E-4CF3-80BB-5ECD754B65E5}"/>
              </a:ext>
            </a:extLst>
          </p:cNvPr>
          <p:cNvSpPr>
            <a:spLocks xmlns:a="http://schemas.openxmlformats.org/drawingml/2006/main" noGrp="1"/>
          </p:cNvSpPr>
          <p:nvPr/>
        </p:nvSpPr>
        <p:spPr>
          <a:xfrm xmlns:a="http://schemas.openxmlformats.org/drawingml/2006/main">
            <a:off x="457200" y="704850"/>
            <a:ext cx="111252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The raw materials are code, services, and device access.</a:t>
            </a:r>
          </a:p>
        </p:txBody>
      </p:sp>
      <p:sp>
        <p:nvSpPr>
          <p:cNvPr id="3" name="materials-label-1">
            <a:extLst xmlns:a="http://schemas.openxmlformats.org/drawingml/2006/main">
              <a:ext uri="{FF2B5EF4-FFF2-40B4-BE49-F238E27FC236}">
                <a16:creationId xmlns:a16="http://schemas.microsoft.com/office/drawing/2014/main" id="{5CE26391-86E5-4E95-8544-8159A150EC8B}"/>
              </a:ext>
            </a:extLst>
          </p:cNvPr>
          <p:cNvSpPr>
            <a:spLocks xmlns:a="http://schemas.openxmlformats.org/drawingml/2006/main" noGrp="1"/>
          </p:cNvSpPr>
          <p:nvPr/>
        </p:nvSpPr>
        <p:spPr>
          <a:xfrm xmlns:a="http://schemas.openxmlformats.org/drawingml/2006/main">
            <a:off x="457200" y="1809750"/>
            <a:ext cx="3048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APP EXPERIENCE</a:t>
            </a:r>
          </a:p>
        </p:txBody>
      </p:sp>
      <p:sp>
        <p:nvSpPr>
          <p:cNvPr id="4" name="materials-title-1">
            <a:extLst xmlns:a="http://schemas.openxmlformats.org/drawingml/2006/main">
              <a:ext uri="{FF2B5EF4-FFF2-40B4-BE49-F238E27FC236}">
                <a16:creationId xmlns:a16="http://schemas.microsoft.com/office/drawing/2014/main" id="{1D61112A-26BC-4CB0-B7B4-4430B8D27401}"/>
              </a:ext>
            </a:extLst>
          </p:cNvPr>
          <p:cNvSpPr>
            <a:spLocks xmlns:a="http://schemas.openxmlformats.org/drawingml/2006/main" noGrp="1"/>
          </p:cNvSpPr>
          <p:nvPr/>
        </p:nvSpPr>
        <p:spPr>
          <a:xfrm xmlns:a="http://schemas.openxmlformats.org/drawingml/2006/main">
            <a:off x="457200" y="2333625"/>
            <a:ext cx="3238500" cy="762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1820"/>
                </a:solidFill>
                <a:latin typeface="Helvetica Neue"/>
                <a:ea typeface="Helvetica Neue"/>
                <a:cs typeface="Helvetica Neue"/>
              </a:defRPr>
            </a:pPr>
            <a:r>
              <a:t>The planner students use</a:t>
            </a:r>
          </a:p>
        </p:txBody>
      </p:sp>
      <p:sp>
        <p:nvSpPr>
          <p:cNvPr id="5" name="materials-body-1">
            <a:extLst xmlns:a="http://schemas.openxmlformats.org/drawingml/2006/main">
              <a:ext uri="{FF2B5EF4-FFF2-40B4-BE49-F238E27FC236}">
                <a16:creationId xmlns:a16="http://schemas.microsoft.com/office/drawing/2014/main" id="{E6D2AA36-1A46-4F36-AB51-665A38C9573A}"/>
              </a:ext>
            </a:extLst>
          </p:cNvPr>
          <p:cNvSpPr>
            <a:spLocks xmlns:a="http://schemas.openxmlformats.org/drawingml/2006/main" noGrp="1"/>
          </p:cNvSpPr>
          <p:nvPr/>
        </p:nvSpPr>
        <p:spPr>
          <a:xfrm xmlns:a="http://schemas.openxmlformats.org/drawingml/2006/main">
            <a:off x="457200" y="3429000"/>
            <a:ext cx="3238500" cy="1190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F6B78"/>
                </a:solidFill>
                <a:latin typeface="Helvetica Neue"/>
                <a:ea typeface="Helvetica Neue"/>
                <a:cs typeface="Helvetica Neue"/>
              </a:defRPr>
            </a:pPr>
            <a:r>
              <a:t>Screens, schedule math, settings, and local account data.</a:t>
            </a:r>
          </a:p>
        </p:txBody>
      </p:sp>
      <p:cxnSp>
        <p:nvCxnSpPr>
          <p:cNvPr id="22" name="materials-divider-1"/>
          <p:cNvCxnSpPr/>
          <p:nvPr/>
        </p:nvCxnSpPr>
        <p:spPr>
          <a:xfrm xmlns:a="http://schemas.openxmlformats.org/drawingml/2006/main">
            <a:off x="3905250" y="1666875"/>
            <a:ext cx="286" cy="3333750"/>
          </a:xfrm>
          <a:prstGeom xmlns:a="http://schemas.openxmlformats.org/drawingml/2006/main" prst="straightConnector1">
            <a:avLst/>
          </a:prstGeom>
          <a:ln xmlns:a="http://schemas.openxmlformats.org/drawingml/2006/main" w="9525">
            <a:solidFill>
              <a:srgbClr val="BBC5C8"/>
            </a:solidFill>
            <a:prstDash val="solid"/>
          </a:ln>
        </p:spPr>
      </p:cxnSp>
      <p:sp>
        <p:nvSpPr>
          <p:cNvPr id="7" name="materials-label-2">
            <a:extLst xmlns:a="http://schemas.openxmlformats.org/drawingml/2006/main">
              <a:ext uri="{FF2B5EF4-FFF2-40B4-BE49-F238E27FC236}">
                <a16:creationId xmlns:a16="http://schemas.microsoft.com/office/drawing/2014/main" id="{131715FC-D135-4E3F-B73B-7835B3B17965}"/>
              </a:ext>
            </a:extLst>
          </p:cNvPr>
          <p:cNvSpPr>
            <a:spLocks xmlns:a="http://schemas.openxmlformats.org/drawingml/2006/main" noGrp="1"/>
          </p:cNvSpPr>
          <p:nvPr/>
        </p:nvSpPr>
        <p:spPr>
          <a:xfrm xmlns:a="http://schemas.openxmlformats.org/drawingml/2006/main">
            <a:off x="4171950" y="1809750"/>
            <a:ext cx="3048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CONNECTED SERVICES</a:t>
            </a:r>
          </a:p>
        </p:txBody>
      </p:sp>
      <p:sp>
        <p:nvSpPr>
          <p:cNvPr id="8" name="materials-title-2">
            <a:extLst xmlns:a="http://schemas.openxmlformats.org/drawingml/2006/main">
              <a:ext uri="{FF2B5EF4-FFF2-40B4-BE49-F238E27FC236}">
                <a16:creationId xmlns:a16="http://schemas.microsoft.com/office/drawing/2014/main" id="{260C9593-69D8-4F25-A223-833B3E1949E1}"/>
              </a:ext>
            </a:extLst>
          </p:cNvPr>
          <p:cNvSpPr>
            <a:spLocks xmlns:a="http://schemas.openxmlformats.org/drawingml/2006/main" noGrp="1"/>
          </p:cNvSpPr>
          <p:nvPr/>
        </p:nvSpPr>
        <p:spPr>
          <a:xfrm xmlns:a="http://schemas.openxmlformats.org/drawingml/2006/main">
            <a:off x="4171950" y="2333625"/>
            <a:ext cx="3238500" cy="762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1820"/>
                </a:solidFill>
                <a:latin typeface="Helvetica Neue"/>
                <a:ea typeface="Helvetica Neue"/>
                <a:cs typeface="Helvetica Neue"/>
              </a:defRPr>
            </a:pPr>
            <a:r>
              <a:t>The information it needs</a:t>
            </a:r>
          </a:p>
        </p:txBody>
      </p:sp>
      <p:sp>
        <p:nvSpPr>
          <p:cNvPr id="9" name="materials-body-2">
            <a:extLst xmlns:a="http://schemas.openxmlformats.org/drawingml/2006/main">
              <a:ext uri="{FF2B5EF4-FFF2-40B4-BE49-F238E27FC236}">
                <a16:creationId xmlns:a16="http://schemas.microsoft.com/office/drawing/2014/main" id="{9D7F2DC1-005A-4DDE-9727-650142852378}"/>
              </a:ext>
            </a:extLst>
          </p:cNvPr>
          <p:cNvSpPr>
            <a:spLocks xmlns:a="http://schemas.openxmlformats.org/drawingml/2006/main" noGrp="1"/>
          </p:cNvSpPr>
          <p:nvPr/>
        </p:nvSpPr>
        <p:spPr>
          <a:xfrm xmlns:a="http://schemas.openxmlformats.org/drawingml/2006/main">
            <a:off x="4171950" y="3429000"/>
            <a:ext cx="3238500" cy="1190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F6B78"/>
                </a:solidFill>
                <a:latin typeface="Helvetica Neue"/>
                <a:ea typeface="Helvetica Neue"/>
                <a:cs typeface="Helvetica Neue"/>
              </a:defRPr>
            </a:pPr>
            <a:r>
              <a:t>Traffic estimates, calendars, place search, and location.</a:t>
            </a:r>
          </a:p>
        </p:txBody>
      </p:sp>
      <p:cxnSp>
        <p:nvCxnSpPr>
          <p:cNvPr id="26" name="materials-divider-2"/>
          <p:cNvCxnSpPr/>
          <p:nvPr/>
        </p:nvCxnSpPr>
        <p:spPr>
          <a:xfrm xmlns:a="http://schemas.openxmlformats.org/drawingml/2006/main">
            <a:off x="7620000" y="1666875"/>
            <a:ext cx="286" cy="3333750"/>
          </a:xfrm>
          <a:prstGeom xmlns:a="http://schemas.openxmlformats.org/drawingml/2006/main" prst="straightConnector1">
            <a:avLst/>
          </a:prstGeom>
          <a:ln xmlns:a="http://schemas.openxmlformats.org/drawingml/2006/main" w="9525">
            <a:solidFill>
              <a:srgbClr val="BBC5C8"/>
            </a:solidFill>
            <a:prstDash val="solid"/>
          </a:ln>
        </p:spPr>
      </p:cxnSp>
      <p:sp>
        <p:nvSpPr>
          <p:cNvPr id="11" name="materials-label-3">
            <a:extLst xmlns:a="http://schemas.openxmlformats.org/drawingml/2006/main">
              <a:ext uri="{FF2B5EF4-FFF2-40B4-BE49-F238E27FC236}">
                <a16:creationId xmlns:a16="http://schemas.microsoft.com/office/drawing/2014/main" id="{EC7A4FEA-A8DD-42A0-B1B5-8305AC8432A3}"/>
              </a:ext>
            </a:extLst>
          </p:cNvPr>
          <p:cNvSpPr>
            <a:spLocks xmlns:a="http://schemas.openxmlformats.org/drawingml/2006/main" noGrp="1"/>
          </p:cNvSpPr>
          <p:nvPr/>
        </p:nvSpPr>
        <p:spPr>
          <a:xfrm xmlns:a="http://schemas.openxmlformats.org/drawingml/2006/main">
            <a:off x="7886700" y="1809750"/>
            <a:ext cx="3048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NATIVE RELIABILITY</a:t>
            </a:r>
          </a:p>
        </p:txBody>
      </p:sp>
      <p:sp>
        <p:nvSpPr>
          <p:cNvPr id="12" name="materials-title-3">
            <a:extLst xmlns:a="http://schemas.openxmlformats.org/drawingml/2006/main">
              <a:ext uri="{FF2B5EF4-FFF2-40B4-BE49-F238E27FC236}">
                <a16:creationId xmlns:a16="http://schemas.microsoft.com/office/drawing/2014/main" id="{C90B7DA6-F9BE-4B5A-ADB9-27285CF209B8}"/>
              </a:ext>
            </a:extLst>
          </p:cNvPr>
          <p:cNvSpPr>
            <a:spLocks xmlns:a="http://schemas.openxmlformats.org/drawingml/2006/main" noGrp="1"/>
          </p:cNvSpPr>
          <p:nvPr/>
        </p:nvSpPr>
        <p:spPr>
          <a:xfrm xmlns:a="http://schemas.openxmlformats.org/drawingml/2006/main">
            <a:off x="7886700" y="2333625"/>
            <a:ext cx="3238500" cy="762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1820"/>
                </a:solidFill>
                <a:latin typeface="Helvetica Neue"/>
                <a:ea typeface="Helvetica Neue"/>
                <a:cs typeface="Helvetica Neue"/>
              </a:defRPr>
            </a:pPr>
            <a:r>
              <a:t>The system-level delivery</a:t>
            </a:r>
          </a:p>
        </p:txBody>
      </p:sp>
      <p:sp>
        <p:nvSpPr>
          <p:cNvPr id="13" name="materials-body-3">
            <a:extLst xmlns:a="http://schemas.openxmlformats.org/drawingml/2006/main">
              <a:ext uri="{FF2B5EF4-FFF2-40B4-BE49-F238E27FC236}">
                <a16:creationId xmlns:a16="http://schemas.microsoft.com/office/drawing/2014/main" id="{66A8249E-43AB-4D05-89FA-BC3C8D767108}"/>
              </a:ext>
            </a:extLst>
          </p:cNvPr>
          <p:cNvSpPr>
            <a:spLocks xmlns:a="http://schemas.openxmlformats.org/drawingml/2006/main" noGrp="1"/>
          </p:cNvSpPr>
          <p:nvPr/>
        </p:nvSpPr>
        <p:spPr>
          <a:xfrm xmlns:a="http://schemas.openxmlformats.org/drawingml/2006/main">
            <a:off x="7886700" y="3429000"/>
            <a:ext cx="3238500" cy="1190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F6B78"/>
                </a:solidFill>
                <a:latin typeface="Helvetica Neue"/>
                <a:ea typeface="Helvetica Neue"/>
                <a:cs typeface="Helvetica Neue"/>
              </a:defRPr>
            </a:pPr>
            <a:r>
              <a:t>iOS and Android alarms, widgets, and background updates.</a:t>
            </a:r>
          </a:p>
        </p:txBody>
      </p:sp>
      <p:sp>
        <p:nvSpPr>
          <p:cNvPr id="14" name="materials-callout">
            <a:extLst xmlns:a="http://schemas.openxmlformats.org/drawingml/2006/main">
              <a:ext uri="{FF2B5EF4-FFF2-40B4-BE49-F238E27FC236}">
                <a16:creationId xmlns:a16="http://schemas.microsoft.com/office/drawing/2014/main" id="{51ED353C-FE5A-4E0E-9D0A-C6BF570DDDF1}"/>
              </a:ext>
            </a:extLst>
          </p:cNvPr>
          <p:cNvSpPr>
            <a:spLocks xmlns:a="http://schemas.openxmlformats.org/drawingml/2006/main" noGrp="1"/>
          </p:cNvSpPr>
          <p:nvPr/>
        </p:nvSpPr>
        <p:spPr>
          <a:xfrm xmlns:a="http://schemas.openxmlformats.org/drawingml/2006/main">
            <a:off x="457200" y="5191125"/>
            <a:ext cx="11277600" cy="800100"/>
          </a:xfrm>
          <a:prstGeom xmlns:a="http://schemas.openxmlformats.org/drawingml/2006/main" prst="roundRect">
            <a:avLst>
              <a:gd name="adj" fmla="val 9524"/>
            </a:avLst>
          </a:prstGeom>
          <a:solidFill xmlns:a="http://schemas.openxmlformats.org/drawingml/2006/main">
            <a:srgbClr val="DDF7F2"/>
          </a:solidFill>
        </p:spPr>
      </p:sp>
      <p:sp>
        <p:nvSpPr>
          <p:cNvPr id="15" name="materials-callout-text">
            <a:extLst xmlns:a="http://schemas.openxmlformats.org/drawingml/2006/main">
              <a:ext uri="{FF2B5EF4-FFF2-40B4-BE49-F238E27FC236}">
                <a16:creationId xmlns:a16="http://schemas.microsoft.com/office/drawing/2014/main" id="{5662CCAB-39F6-40E8-B7B2-E9333DCF9FC0}"/>
              </a:ext>
            </a:extLst>
          </p:cNvPr>
          <p:cNvSpPr>
            <a:spLocks xmlns:a="http://schemas.openxmlformats.org/drawingml/2006/main" noGrp="1"/>
          </p:cNvSpPr>
          <p:nvPr/>
        </p:nvSpPr>
        <p:spPr>
          <a:xfrm xmlns:a="http://schemas.openxmlformats.org/drawingml/2006/main">
            <a:off x="781050" y="5410200"/>
            <a:ext cx="1038225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0E756A"/>
                </a:solidFill>
                <a:latin typeface="Helvetica Neue"/>
                <a:ea typeface="Helvetica Neue"/>
                <a:cs typeface="Helvetica Neue"/>
              </a:defRPr>
            </a:pPr>
            <a:r>
              <a:t>A release ships only when all three layers work together.</a:t>
            </a:r>
          </a:p>
        </p:txBody>
      </p:sp>
      <p:sp>
        <p:nvSpPr>
          <p:cNvPr id="16" name="page-8">
            <a:extLst xmlns:a="http://schemas.openxmlformats.org/drawingml/2006/main">
              <a:ext uri="{FF2B5EF4-FFF2-40B4-BE49-F238E27FC236}">
                <a16:creationId xmlns:a16="http://schemas.microsoft.com/office/drawing/2014/main" id="{41DCFE48-AE5A-4924-A276-3E67FF421637}"/>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8</a:t>
            </a:r>
          </a:p>
        </p:txBody>
      </p:sp>
    </p:spTree>
    <p:extLst>
      <p:ext uri="{BB962C8B-B14F-4D97-AF65-F5344CB8AC3E}">
        <p14:creationId xmlns:p14="http://schemas.microsoft.com/office/powerpoint/2010/main" val="4814248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9">
            <a:extLst xmlns:a="http://schemas.openxmlformats.org/drawingml/2006/main">
              <a:ext uri="{FF2B5EF4-FFF2-40B4-BE49-F238E27FC236}">
                <a16:creationId xmlns:a16="http://schemas.microsoft.com/office/drawing/2014/main" id="{284EDBCB-6DA9-4CFF-9416-16970A133828}"/>
              </a:ext>
            </a:extLst>
          </p:cNvPr>
          <p:cNvSpPr>
            <a:spLocks xmlns:a="http://schemas.openxmlformats.org/drawingml/2006/main" noGrp="1"/>
          </p:cNvSpPr>
          <p:nvPr/>
        </p:nvSpPr>
        <p:spPr>
          <a:xfrm xmlns:a="http://schemas.openxmlformats.org/drawingml/2006/main">
            <a:off x="457200" y="342900"/>
            <a:ext cx="34290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TESTING AND SAFETY</a:t>
            </a:r>
          </a:p>
        </p:txBody>
      </p:sp>
      <p:sp>
        <p:nvSpPr>
          <p:cNvPr id="2" name="title-9">
            <a:extLst xmlns:a="http://schemas.openxmlformats.org/drawingml/2006/main">
              <a:ext uri="{FF2B5EF4-FFF2-40B4-BE49-F238E27FC236}">
                <a16:creationId xmlns:a16="http://schemas.microsoft.com/office/drawing/2014/main" id="{99D002FD-EAF5-4FD7-8558-92E7B1624135}"/>
              </a:ext>
            </a:extLst>
          </p:cNvPr>
          <p:cNvSpPr>
            <a:spLocks xmlns:a="http://schemas.openxmlformats.org/drawingml/2006/main" noGrp="1"/>
          </p:cNvSpPr>
          <p:nvPr/>
        </p:nvSpPr>
        <p:spPr>
          <a:xfrm xmlns:a="http://schemas.openxmlformats.org/drawingml/2006/main">
            <a:off x="457200" y="704850"/>
            <a:ext cx="111252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Quality control matters more than flashy features.</a:t>
            </a:r>
          </a:p>
        </p:txBody>
      </p:sp>
      <p:sp>
        <p:nvSpPr>
          <p:cNvPr id="3" name="qa-check-1">
            <a:extLst xmlns:a="http://schemas.openxmlformats.org/drawingml/2006/main">
              <a:ext uri="{FF2B5EF4-FFF2-40B4-BE49-F238E27FC236}">
                <a16:creationId xmlns:a16="http://schemas.microsoft.com/office/drawing/2014/main" id="{F273F818-405B-439E-8BEC-4684DBD4E19B}"/>
              </a:ext>
            </a:extLst>
          </p:cNvPr>
          <p:cNvSpPr>
            <a:spLocks xmlns:a="http://schemas.openxmlformats.org/drawingml/2006/main" noGrp="1"/>
          </p:cNvSpPr>
          <p:nvPr/>
        </p:nvSpPr>
        <p:spPr>
          <a:xfrm xmlns:a="http://schemas.openxmlformats.org/drawingml/2006/main">
            <a:off x="457200" y="1590675"/>
            <a:ext cx="266700" cy="266700"/>
          </a:xfrm>
          <a:prstGeom xmlns:a="http://schemas.openxmlformats.org/drawingml/2006/main" prst="ellipse">
            <a:avLst/>
          </a:prstGeom>
          <a:solidFill xmlns:a="http://schemas.openxmlformats.org/drawingml/2006/main">
            <a:srgbClr val="20BFA8"/>
          </a:solidFill>
        </p:spPr>
      </p:sp>
      <p:sp>
        <p:nvSpPr>
          <p:cNvPr id="4" name="qa-mark-1">
            <a:extLst xmlns:a="http://schemas.openxmlformats.org/drawingml/2006/main">
              <a:ext uri="{FF2B5EF4-FFF2-40B4-BE49-F238E27FC236}">
                <a16:creationId xmlns:a16="http://schemas.microsoft.com/office/drawing/2014/main" id="{3AD278FD-1CD0-4492-9B02-FA7F2B9BA42A}"/>
              </a:ext>
            </a:extLst>
          </p:cNvPr>
          <p:cNvSpPr>
            <a:spLocks xmlns:a="http://schemas.openxmlformats.org/drawingml/2006/main" noGrp="1"/>
          </p:cNvSpPr>
          <p:nvPr/>
        </p:nvSpPr>
        <p:spPr>
          <a:xfrm xmlns:a="http://schemas.openxmlformats.org/drawingml/2006/main">
            <a:off x="457200" y="1609725"/>
            <a:ext cx="266700" cy="19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t>✓</a:t>
            </a:r>
          </a:p>
        </p:txBody>
      </p:sp>
      <p:sp>
        <p:nvSpPr>
          <p:cNvPr id="5" name="qa-label-1">
            <a:extLst xmlns:a="http://schemas.openxmlformats.org/drawingml/2006/main">
              <a:ext uri="{FF2B5EF4-FFF2-40B4-BE49-F238E27FC236}">
                <a16:creationId xmlns:a16="http://schemas.microsoft.com/office/drawing/2014/main" id="{E8CB058C-A2F6-4B20-98E1-5EEA61C66273}"/>
              </a:ext>
            </a:extLst>
          </p:cNvPr>
          <p:cNvSpPr>
            <a:spLocks xmlns:a="http://schemas.openxmlformats.org/drawingml/2006/main" noGrp="1"/>
          </p:cNvSpPr>
          <p:nvPr/>
        </p:nvSpPr>
        <p:spPr>
          <a:xfrm xmlns:a="http://schemas.openxmlformats.org/drawingml/2006/main">
            <a:off x="895350" y="1571625"/>
            <a:ext cx="21907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TIMING MATH</a:t>
            </a:r>
          </a:p>
        </p:txBody>
      </p:sp>
      <p:sp>
        <p:nvSpPr>
          <p:cNvPr id="6" name="qa-body-1">
            <a:extLst xmlns:a="http://schemas.openxmlformats.org/drawingml/2006/main">
              <a:ext uri="{FF2B5EF4-FFF2-40B4-BE49-F238E27FC236}">
                <a16:creationId xmlns:a16="http://schemas.microsoft.com/office/drawing/2014/main" id="{BF0B95FD-D252-435D-88B0-7444545AEDE7}"/>
              </a:ext>
            </a:extLst>
          </p:cNvPr>
          <p:cNvSpPr>
            <a:spLocks xmlns:a="http://schemas.openxmlformats.org/drawingml/2006/main" noGrp="1"/>
          </p:cNvSpPr>
          <p:nvPr/>
        </p:nvSpPr>
        <p:spPr>
          <a:xfrm xmlns:a="http://schemas.openxmlformats.org/drawingml/2006/main">
            <a:off x="895350" y="1857375"/>
            <a:ext cx="4762500"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820"/>
                </a:solidFill>
                <a:latin typeface="Helvetica Neue"/>
                <a:ea typeface="Helvetica Neue"/>
                <a:cs typeface="Helvetica Neue"/>
              </a:defRPr>
            </a:pPr>
            <a:r>
              <a:t>Automated tests check wake, leave, and arrival calculations.</a:t>
            </a:r>
          </a:p>
        </p:txBody>
      </p:sp>
      <p:sp>
        <p:nvSpPr>
          <p:cNvPr id="7" name="qa-check-2">
            <a:extLst xmlns:a="http://schemas.openxmlformats.org/drawingml/2006/main">
              <a:ext uri="{FF2B5EF4-FFF2-40B4-BE49-F238E27FC236}">
                <a16:creationId xmlns:a16="http://schemas.microsoft.com/office/drawing/2014/main" id="{65016334-20BE-4665-8407-00ACC9BF90F8}"/>
              </a:ext>
            </a:extLst>
          </p:cNvPr>
          <p:cNvSpPr>
            <a:spLocks xmlns:a="http://schemas.openxmlformats.org/drawingml/2006/main" noGrp="1"/>
          </p:cNvSpPr>
          <p:nvPr/>
        </p:nvSpPr>
        <p:spPr>
          <a:xfrm xmlns:a="http://schemas.openxmlformats.org/drawingml/2006/main">
            <a:off x="457200" y="2657475"/>
            <a:ext cx="266700" cy="266700"/>
          </a:xfrm>
          <a:prstGeom xmlns:a="http://schemas.openxmlformats.org/drawingml/2006/main" prst="ellipse">
            <a:avLst/>
          </a:prstGeom>
          <a:solidFill xmlns:a="http://schemas.openxmlformats.org/drawingml/2006/main">
            <a:srgbClr val="E85B70"/>
          </a:solidFill>
        </p:spPr>
      </p:sp>
      <p:sp>
        <p:nvSpPr>
          <p:cNvPr id="8" name="qa-mark-2">
            <a:extLst xmlns:a="http://schemas.openxmlformats.org/drawingml/2006/main">
              <a:ext uri="{FF2B5EF4-FFF2-40B4-BE49-F238E27FC236}">
                <a16:creationId xmlns:a16="http://schemas.microsoft.com/office/drawing/2014/main" id="{71E0F2D2-A54B-4869-A2E2-6CB4991B1480}"/>
              </a:ext>
            </a:extLst>
          </p:cNvPr>
          <p:cNvSpPr>
            <a:spLocks xmlns:a="http://schemas.openxmlformats.org/drawingml/2006/main" noGrp="1"/>
          </p:cNvSpPr>
          <p:nvPr/>
        </p:nvSpPr>
        <p:spPr>
          <a:xfrm xmlns:a="http://schemas.openxmlformats.org/drawingml/2006/main">
            <a:off x="457200" y="2676525"/>
            <a:ext cx="266700" cy="19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t>✓</a:t>
            </a:r>
          </a:p>
        </p:txBody>
      </p:sp>
      <p:sp>
        <p:nvSpPr>
          <p:cNvPr id="9" name="qa-label-2">
            <a:extLst xmlns:a="http://schemas.openxmlformats.org/drawingml/2006/main">
              <a:ext uri="{FF2B5EF4-FFF2-40B4-BE49-F238E27FC236}">
                <a16:creationId xmlns:a16="http://schemas.microsoft.com/office/drawing/2014/main" id="{D464B21A-8831-4591-823E-9A3DB72B747C}"/>
              </a:ext>
            </a:extLst>
          </p:cNvPr>
          <p:cNvSpPr>
            <a:spLocks xmlns:a="http://schemas.openxmlformats.org/drawingml/2006/main" noGrp="1"/>
          </p:cNvSpPr>
          <p:nvPr/>
        </p:nvSpPr>
        <p:spPr>
          <a:xfrm xmlns:a="http://schemas.openxmlformats.org/drawingml/2006/main">
            <a:off x="895350" y="2638425"/>
            <a:ext cx="21907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ALARM DELIVERY</a:t>
            </a:r>
          </a:p>
        </p:txBody>
      </p:sp>
      <p:sp>
        <p:nvSpPr>
          <p:cNvPr id="10" name="qa-body-2">
            <a:extLst xmlns:a="http://schemas.openxmlformats.org/drawingml/2006/main">
              <a:ext uri="{FF2B5EF4-FFF2-40B4-BE49-F238E27FC236}">
                <a16:creationId xmlns:a16="http://schemas.microsoft.com/office/drawing/2014/main" id="{72D1C190-9509-43B3-8F83-4AACA68F028D}"/>
              </a:ext>
            </a:extLst>
          </p:cNvPr>
          <p:cNvSpPr>
            <a:spLocks xmlns:a="http://schemas.openxmlformats.org/drawingml/2006/main" noGrp="1"/>
          </p:cNvSpPr>
          <p:nvPr/>
        </p:nvSpPr>
        <p:spPr>
          <a:xfrm xmlns:a="http://schemas.openxmlformats.org/drawingml/2006/main">
            <a:off x="895350" y="2924175"/>
            <a:ext cx="4762500"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820"/>
                </a:solidFill>
                <a:latin typeface="Helvetica Neue"/>
                <a:ea typeface="Helvetica Neue"/>
                <a:cs typeface="Helvetica Neue"/>
              </a:defRPr>
            </a:pPr>
            <a:r>
              <a:t>A real 10-second device test checks the operating system.</a:t>
            </a:r>
          </a:p>
        </p:txBody>
      </p:sp>
      <p:sp>
        <p:nvSpPr>
          <p:cNvPr id="11" name="qa-check-3">
            <a:extLst xmlns:a="http://schemas.openxmlformats.org/drawingml/2006/main">
              <a:ext uri="{FF2B5EF4-FFF2-40B4-BE49-F238E27FC236}">
                <a16:creationId xmlns:a16="http://schemas.microsoft.com/office/drawing/2014/main" id="{9DA8B797-DA66-4C0B-8AB2-2240C6B84721}"/>
              </a:ext>
            </a:extLst>
          </p:cNvPr>
          <p:cNvSpPr>
            <a:spLocks xmlns:a="http://schemas.openxmlformats.org/drawingml/2006/main" noGrp="1"/>
          </p:cNvSpPr>
          <p:nvPr/>
        </p:nvSpPr>
        <p:spPr>
          <a:xfrm xmlns:a="http://schemas.openxmlformats.org/drawingml/2006/main">
            <a:off x="457200" y="3724275"/>
            <a:ext cx="266700" cy="266700"/>
          </a:xfrm>
          <a:prstGeom xmlns:a="http://schemas.openxmlformats.org/drawingml/2006/main" prst="ellipse">
            <a:avLst/>
          </a:prstGeom>
          <a:solidFill xmlns:a="http://schemas.openxmlformats.org/drawingml/2006/main">
            <a:srgbClr val="20BFA8"/>
          </a:solidFill>
        </p:spPr>
      </p:sp>
      <p:sp>
        <p:nvSpPr>
          <p:cNvPr id="12" name="qa-mark-3">
            <a:extLst xmlns:a="http://schemas.openxmlformats.org/drawingml/2006/main">
              <a:ext uri="{FF2B5EF4-FFF2-40B4-BE49-F238E27FC236}">
                <a16:creationId xmlns:a16="http://schemas.microsoft.com/office/drawing/2014/main" id="{CAD1E3ED-95FD-475B-9DAB-680F769DF77E}"/>
              </a:ext>
            </a:extLst>
          </p:cNvPr>
          <p:cNvSpPr>
            <a:spLocks xmlns:a="http://schemas.openxmlformats.org/drawingml/2006/main" noGrp="1"/>
          </p:cNvSpPr>
          <p:nvPr/>
        </p:nvSpPr>
        <p:spPr>
          <a:xfrm xmlns:a="http://schemas.openxmlformats.org/drawingml/2006/main">
            <a:off x="457200" y="3743325"/>
            <a:ext cx="266700" cy="19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t>✓</a:t>
            </a:r>
          </a:p>
        </p:txBody>
      </p:sp>
      <p:sp>
        <p:nvSpPr>
          <p:cNvPr id="13" name="qa-label-3">
            <a:extLst xmlns:a="http://schemas.openxmlformats.org/drawingml/2006/main">
              <a:ext uri="{FF2B5EF4-FFF2-40B4-BE49-F238E27FC236}">
                <a16:creationId xmlns:a16="http://schemas.microsoft.com/office/drawing/2014/main" id="{9E7D2FF6-97EE-4EFF-8DB7-386399683507}"/>
              </a:ext>
            </a:extLst>
          </p:cNvPr>
          <p:cNvSpPr>
            <a:spLocks xmlns:a="http://schemas.openxmlformats.org/drawingml/2006/main" noGrp="1"/>
          </p:cNvSpPr>
          <p:nvPr/>
        </p:nvSpPr>
        <p:spPr>
          <a:xfrm xmlns:a="http://schemas.openxmlformats.org/drawingml/2006/main">
            <a:off x="895350" y="3705225"/>
            <a:ext cx="21907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FALLBACK</a:t>
            </a:r>
          </a:p>
        </p:txBody>
      </p:sp>
      <p:sp>
        <p:nvSpPr>
          <p:cNvPr id="14" name="qa-body-3">
            <a:extLst xmlns:a="http://schemas.openxmlformats.org/drawingml/2006/main">
              <a:ext uri="{FF2B5EF4-FFF2-40B4-BE49-F238E27FC236}">
                <a16:creationId xmlns:a16="http://schemas.microsoft.com/office/drawing/2014/main" id="{A7832809-5553-4A3F-92A1-D5508CB19895}"/>
              </a:ext>
            </a:extLst>
          </p:cNvPr>
          <p:cNvSpPr>
            <a:spLocks xmlns:a="http://schemas.openxmlformats.org/drawingml/2006/main" noGrp="1"/>
          </p:cNvSpPr>
          <p:nvPr/>
        </p:nvSpPr>
        <p:spPr>
          <a:xfrm xmlns:a="http://schemas.openxmlformats.org/drawingml/2006/main">
            <a:off x="895350" y="3990975"/>
            <a:ext cx="4762500"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820"/>
                </a:solidFill>
                <a:latin typeface="Helvetica Neue"/>
                <a:ea typeface="Helvetica Neue"/>
                <a:cs typeface="Helvetica Neue"/>
              </a:defRPr>
            </a:pPr>
            <a:r>
              <a:t>An offline traffic model keeps a plan available if live data fails.</a:t>
            </a:r>
          </a:p>
        </p:txBody>
      </p:sp>
      <p:sp>
        <p:nvSpPr>
          <p:cNvPr id="15" name="qa-check-4">
            <a:extLst xmlns:a="http://schemas.openxmlformats.org/drawingml/2006/main">
              <a:ext uri="{FF2B5EF4-FFF2-40B4-BE49-F238E27FC236}">
                <a16:creationId xmlns:a16="http://schemas.microsoft.com/office/drawing/2014/main" id="{4EB86BDA-3EAF-4CE9-82F0-A671CF7C7811}"/>
              </a:ext>
            </a:extLst>
          </p:cNvPr>
          <p:cNvSpPr>
            <a:spLocks xmlns:a="http://schemas.openxmlformats.org/drawingml/2006/main" noGrp="1"/>
          </p:cNvSpPr>
          <p:nvPr/>
        </p:nvSpPr>
        <p:spPr>
          <a:xfrm xmlns:a="http://schemas.openxmlformats.org/drawingml/2006/main">
            <a:off x="457200" y="4791075"/>
            <a:ext cx="266700" cy="266700"/>
          </a:xfrm>
          <a:prstGeom xmlns:a="http://schemas.openxmlformats.org/drawingml/2006/main" prst="ellipse">
            <a:avLst/>
          </a:prstGeom>
          <a:solidFill xmlns:a="http://schemas.openxmlformats.org/drawingml/2006/main">
            <a:srgbClr val="20BFA8"/>
          </a:solidFill>
        </p:spPr>
      </p:sp>
      <p:sp>
        <p:nvSpPr>
          <p:cNvPr id="16" name="qa-mark-4">
            <a:extLst xmlns:a="http://schemas.openxmlformats.org/drawingml/2006/main">
              <a:ext uri="{FF2B5EF4-FFF2-40B4-BE49-F238E27FC236}">
                <a16:creationId xmlns:a16="http://schemas.microsoft.com/office/drawing/2014/main" id="{2AE33F64-0616-4D3D-B395-438F784E1E92}"/>
              </a:ext>
            </a:extLst>
          </p:cNvPr>
          <p:cNvSpPr>
            <a:spLocks xmlns:a="http://schemas.openxmlformats.org/drawingml/2006/main" noGrp="1"/>
          </p:cNvSpPr>
          <p:nvPr/>
        </p:nvSpPr>
        <p:spPr>
          <a:xfrm xmlns:a="http://schemas.openxmlformats.org/drawingml/2006/main">
            <a:off x="457200" y="4810125"/>
            <a:ext cx="266700" cy="19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t>✓</a:t>
            </a:r>
          </a:p>
        </p:txBody>
      </p:sp>
      <p:sp>
        <p:nvSpPr>
          <p:cNvPr id="17" name="qa-label-4">
            <a:extLst xmlns:a="http://schemas.openxmlformats.org/drawingml/2006/main">
              <a:ext uri="{FF2B5EF4-FFF2-40B4-BE49-F238E27FC236}">
                <a16:creationId xmlns:a16="http://schemas.microsoft.com/office/drawing/2014/main" id="{1D3CC17B-BFDF-4B7D-B9A5-041B13467799}"/>
              </a:ext>
            </a:extLst>
          </p:cNvPr>
          <p:cNvSpPr>
            <a:spLocks xmlns:a="http://schemas.openxmlformats.org/drawingml/2006/main" noGrp="1"/>
          </p:cNvSpPr>
          <p:nvPr/>
        </p:nvSpPr>
        <p:spPr>
          <a:xfrm xmlns:a="http://schemas.openxmlformats.org/drawingml/2006/main">
            <a:off x="895350" y="4772025"/>
            <a:ext cx="21907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PRIVACY</a:t>
            </a:r>
          </a:p>
        </p:txBody>
      </p:sp>
      <p:sp>
        <p:nvSpPr>
          <p:cNvPr id="18" name="qa-body-4">
            <a:extLst xmlns:a="http://schemas.openxmlformats.org/drawingml/2006/main">
              <a:ext uri="{FF2B5EF4-FFF2-40B4-BE49-F238E27FC236}">
                <a16:creationId xmlns:a16="http://schemas.microsoft.com/office/drawing/2014/main" id="{C813AED0-1360-45B2-B310-C4C9AF9286CD}"/>
              </a:ext>
            </a:extLst>
          </p:cNvPr>
          <p:cNvSpPr>
            <a:spLocks xmlns:a="http://schemas.openxmlformats.org/drawingml/2006/main" noGrp="1"/>
          </p:cNvSpPr>
          <p:nvPr/>
        </p:nvSpPr>
        <p:spPr>
          <a:xfrm xmlns:a="http://schemas.openxmlformats.org/drawingml/2006/main">
            <a:off x="895350" y="5057775"/>
            <a:ext cx="4762500"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01820"/>
                </a:solidFill>
                <a:latin typeface="Helvetica Neue"/>
                <a:ea typeface="Helvetica Neue"/>
                <a:cs typeface="Helvetica Neue"/>
              </a:defRPr>
            </a:pPr>
            <a:r>
              <a:t>Calendar access is read-only, and schedules stay local-first.</a:t>
            </a:r>
          </a:p>
        </p:txBody>
      </p:sp>
      <p:sp>
        <p:nvSpPr>
          <p:cNvPr id="19" name="qa-image-frame">
            <a:extLst xmlns:a="http://schemas.openxmlformats.org/drawingml/2006/main">
              <a:ext uri="{FF2B5EF4-FFF2-40B4-BE49-F238E27FC236}">
                <a16:creationId xmlns:a16="http://schemas.microsoft.com/office/drawing/2014/main" id="{BC962F87-06AD-40D7-992C-5B2542B968E9}"/>
              </a:ext>
            </a:extLst>
          </p:cNvPr>
          <p:cNvSpPr>
            <a:spLocks xmlns:a="http://schemas.openxmlformats.org/drawingml/2006/main" noGrp="1"/>
          </p:cNvSpPr>
          <p:nvPr/>
        </p:nvSpPr>
        <p:spPr>
          <a:xfrm xmlns:a="http://schemas.openxmlformats.org/drawingml/2006/main">
            <a:off x="6191250" y="1571625"/>
            <a:ext cx="5543550" cy="4429125"/>
          </a:xfrm>
          <a:prstGeom xmlns:a="http://schemas.openxmlformats.org/drawingml/2006/main" prst="roundRect">
            <a:avLst>
              <a:gd name="adj" fmla="val 1720"/>
            </a:avLst>
          </a:prstGeom>
          <a:solidFill xmlns:a="http://schemas.openxmlformats.org/drawingml/2006/main">
            <a:srgbClr val="DDF7F2"/>
          </a:solidFill>
          <a:ln xmlns:a="http://schemas.openxmlformats.org/drawingml/2006/main" w="9525">
            <a:solidFill>
              <a:srgbClr val="BBC5C8"/>
            </a:solidFill>
            <a:prstDash val="solid"/>
          </a:ln>
        </p:spPr>
      </p:sp>
      <p:sp>
        <p:nvSpPr>
          <p:cNvPr id="20" name="page-9">
            <a:extLst xmlns:a="http://schemas.openxmlformats.org/drawingml/2006/main">
              <a:ext uri="{FF2B5EF4-FFF2-40B4-BE49-F238E27FC236}">
                <a16:creationId xmlns:a16="http://schemas.microsoft.com/office/drawing/2014/main" id="{EEE95D1E-CEAC-442B-83AF-96EF75C4CE34}"/>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9</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2739226009c4730"/>
          <a:stretch xmlns:a="http://schemas.openxmlformats.org/drawingml/2006/main"/>
        </p:blipFill>
        <p:spPr>
          <a:xfrm xmlns:a="http://schemas.openxmlformats.org/drawingml/2006/main">
            <a:off x="6438900" y="2684751"/>
            <a:ext cx="5048250" cy="2202873"/>
          </a:xfrm>
          <a:prstGeom xmlns:a="http://schemas.openxmlformats.org/drawingml/2006/main" prst="roundRect">
            <a:avLst>
              <a:gd name="adj" fmla="val 4724"/>
            </a:avLst>
          </a:prstGeom>
        </p:spPr>
      </p:pic>
    </p:spTree>
    <p:extLst>
      <p:ext uri="{BB962C8B-B14F-4D97-AF65-F5344CB8AC3E}">
        <p14:creationId xmlns:p14="http://schemas.microsoft.com/office/powerpoint/2010/main" val="12371897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10">
            <a:extLst xmlns:a="http://schemas.openxmlformats.org/drawingml/2006/main">
              <a:ext uri="{FF2B5EF4-FFF2-40B4-BE49-F238E27FC236}">
                <a16:creationId xmlns:a16="http://schemas.microsoft.com/office/drawing/2014/main" id="{4A08DA5B-B576-4D17-B48F-6F60ABC80C1D}"/>
              </a:ext>
            </a:extLst>
          </p:cNvPr>
          <p:cNvSpPr>
            <a:spLocks xmlns:a="http://schemas.openxmlformats.org/drawingml/2006/main" noGrp="1"/>
          </p:cNvSpPr>
          <p:nvPr/>
        </p:nvSpPr>
        <p:spPr>
          <a:xfrm xmlns:a="http://schemas.openxmlformats.org/drawingml/2006/main">
            <a:off x="457200" y="342900"/>
            <a:ext cx="34290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DISTRIBUTION AND ONGOING COSTS</a:t>
            </a:r>
          </a:p>
        </p:txBody>
      </p:sp>
      <p:sp>
        <p:nvSpPr>
          <p:cNvPr id="2" name="title-10">
            <a:extLst xmlns:a="http://schemas.openxmlformats.org/drawingml/2006/main">
              <a:ext uri="{FF2B5EF4-FFF2-40B4-BE49-F238E27FC236}">
                <a16:creationId xmlns:a16="http://schemas.microsoft.com/office/drawing/2014/main" id="{5CE2C20D-3F86-4C36-846D-2207220BDC0C}"/>
              </a:ext>
            </a:extLst>
          </p:cNvPr>
          <p:cNvSpPr>
            <a:spLocks xmlns:a="http://schemas.openxmlformats.org/drawingml/2006/main" noGrp="1"/>
          </p:cNvSpPr>
          <p:nvPr/>
        </p:nvSpPr>
        <p:spPr>
          <a:xfrm xmlns:a="http://schemas.openxmlformats.org/drawingml/2006/main">
            <a:off x="457200" y="704850"/>
            <a:ext cx="111252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820"/>
                </a:solidFill>
                <a:latin typeface="Helvetica Neue"/>
                <a:ea typeface="Helvetica Neue"/>
                <a:cs typeface="Helvetica Neue"/>
              </a:defRPr>
            </a:pPr>
            <a:r>
              <a:t>Production continues after the first download.</a:t>
            </a:r>
          </a:p>
        </p:txBody>
      </p:sp>
      <p:sp>
        <p:nvSpPr>
          <p:cNvPr id="3" name="distribution-label">
            <a:extLst xmlns:a="http://schemas.openxmlformats.org/drawingml/2006/main">
              <a:ext uri="{FF2B5EF4-FFF2-40B4-BE49-F238E27FC236}">
                <a16:creationId xmlns:a16="http://schemas.microsoft.com/office/drawing/2014/main" id="{1F149E46-EBB6-4C1E-8190-5F4C0676716D}"/>
              </a:ext>
            </a:extLst>
          </p:cNvPr>
          <p:cNvSpPr>
            <a:spLocks xmlns:a="http://schemas.openxmlformats.org/drawingml/2006/main" noGrp="1"/>
          </p:cNvSpPr>
          <p:nvPr/>
        </p:nvSpPr>
        <p:spPr>
          <a:xfrm xmlns:a="http://schemas.openxmlformats.org/drawingml/2006/main">
            <a:off x="457200" y="1666875"/>
            <a:ext cx="2857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HOW USERS GET IT</a:t>
            </a:r>
          </a:p>
        </p:txBody>
      </p:sp>
      <p:sp>
        <p:nvSpPr>
          <p:cNvPr id="4" name="distribution-main">
            <a:extLst xmlns:a="http://schemas.openxmlformats.org/drawingml/2006/main">
              <a:ext uri="{FF2B5EF4-FFF2-40B4-BE49-F238E27FC236}">
                <a16:creationId xmlns:a16="http://schemas.microsoft.com/office/drawing/2014/main" id="{8BADD652-7E4B-401F-9EDB-958FA61A7A38}"/>
              </a:ext>
            </a:extLst>
          </p:cNvPr>
          <p:cNvSpPr>
            <a:spLocks xmlns:a="http://schemas.openxmlformats.org/drawingml/2006/main" noGrp="1"/>
          </p:cNvSpPr>
          <p:nvPr/>
        </p:nvSpPr>
        <p:spPr>
          <a:xfrm xmlns:a="http://schemas.openxmlformats.org/drawingml/2006/main">
            <a:off x="457200" y="2143125"/>
            <a:ext cx="4095750" cy="18573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1820"/>
                </a:solidFill>
                <a:latin typeface="Helvetica Neue"/>
                <a:ea typeface="Helvetica Neue"/>
                <a:cs typeface="Helvetica Neue"/>
              </a:defRPr>
            </a:pPr>
            <a:r>
              <a:t>iPhone
Android
Installable web app</a:t>
            </a:r>
          </a:p>
        </p:txBody>
      </p:sp>
      <p:sp>
        <p:nvSpPr>
          <p:cNvPr id="5" name="distribution-note">
            <a:extLst xmlns:a="http://schemas.openxmlformats.org/drawingml/2006/main">
              <a:ext uri="{FF2B5EF4-FFF2-40B4-BE49-F238E27FC236}">
                <a16:creationId xmlns:a16="http://schemas.microsoft.com/office/drawing/2014/main" id="{B6D613C0-DD6E-44C7-BF97-10974C488783}"/>
              </a:ext>
            </a:extLst>
          </p:cNvPr>
          <p:cNvSpPr>
            <a:spLocks xmlns:a="http://schemas.openxmlformats.org/drawingml/2006/main" noGrp="1"/>
          </p:cNvSpPr>
          <p:nvPr/>
        </p:nvSpPr>
        <p:spPr>
          <a:xfrm xmlns:a="http://schemas.openxmlformats.org/drawingml/2006/main">
            <a:off x="457200" y="4476750"/>
            <a:ext cx="4191000" cy="66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F6B78"/>
                </a:solidFill>
                <a:latin typeface="Helvetica Neue"/>
                <a:ea typeface="Helvetica Neue"/>
                <a:cs typeface="Helvetica Neue"/>
              </a:defRPr>
            </a:pPr>
            <a:r>
              <a:t>One product, packaged for three delivery channels.</a:t>
            </a:r>
          </a:p>
        </p:txBody>
      </p:sp>
      <p:cxnSp>
        <p:nvCxnSpPr>
          <p:cNvPr id="26" name="distribution-divider"/>
          <p:cNvCxnSpPr/>
          <p:nvPr/>
        </p:nvCxnSpPr>
        <p:spPr>
          <a:xfrm xmlns:a="http://schemas.openxmlformats.org/drawingml/2006/main">
            <a:off x="5476875" y="1619250"/>
            <a:ext cx="286" cy="4191000"/>
          </a:xfrm>
          <a:prstGeom xmlns:a="http://schemas.openxmlformats.org/drawingml/2006/main" prst="straightConnector1">
            <a:avLst/>
          </a:prstGeom>
          <a:ln xmlns:a="http://schemas.openxmlformats.org/drawingml/2006/main" w="9525">
            <a:solidFill>
              <a:srgbClr val="BBC5C8"/>
            </a:solidFill>
            <a:prstDash val="solid"/>
          </a:ln>
        </p:spPr>
      </p:cxnSp>
      <p:sp>
        <p:nvSpPr>
          <p:cNvPr id="7" name="cost-label">
            <a:extLst xmlns:a="http://schemas.openxmlformats.org/drawingml/2006/main">
              <a:ext uri="{FF2B5EF4-FFF2-40B4-BE49-F238E27FC236}">
                <a16:creationId xmlns:a16="http://schemas.microsoft.com/office/drawing/2014/main" id="{2C1E6073-3942-4E32-98A1-F452BC78E74D}"/>
              </a:ext>
            </a:extLst>
          </p:cNvPr>
          <p:cNvSpPr>
            <a:spLocks xmlns:a="http://schemas.openxmlformats.org/drawingml/2006/main" noGrp="1"/>
          </p:cNvSpPr>
          <p:nvPr/>
        </p:nvSpPr>
        <p:spPr>
          <a:xfrm xmlns:a="http://schemas.openxmlformats.org/drawingml/2006/main">
            <a:off x="6096000" y="1666875"/>
            <a:ext cx="4000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WHAT WE KEEP PAYING FOR</a:t>
            </a:r>
          </a:p>
        </p:txBody>
      </p:sp>
      <p:sp>
        <p:nvSpPr>
          <p:cNvPr id="8" name="cost-dot-1">
            <a:extLst xmlns:a="http://schemas.openxmlformats.org/drawingml/2006/main">
              <a:ext uri="{FF2B5EF4-FFF2-40B4-BE49-F238E27FC236}">
                <a16:creationId xmlns:a16="http://schemas.microsoft.com/office/drawing/2014/main" id="{D3F5E9E8-F56E-4B23-AA2F-EE24EBAA987F}"/>
              </a:ext>
            </a:extLst>
          </p:cNvPr>
          <p:cNvSpPr>
            <a:spLocks xmlns:a="http://schemas.openxmlformats.org/drawingml/2006/main" noGrp="1"/>
          </p:cNvSpPr>
          <p:nvPr/>
        </p:nvSpPr>
        <p:spPr>
          <a:xfrm xmlns:a="http://schemas.openxmlformats.org/drawingml/2006/main">
            <a:off x="6096000" y="2286000"/>
            <a:ext cx="171450" cy="171450"/>
          </a:xfrm>
          <a:prstGeom xmlns:a="http://schemas.openxmlformats.org/drawingml/2006/main" prst="ellipse">
            <a:avLst/>
          </a:prstGeom>
          <a:solidFill xmlns:a="http://schemas.openxmlformats.org/drawingml/2006/main">
            <a:srgbClr val="20BFA8"/>
          </a:solidFill>
        </p:spPr>
      </p:sp>
      <p:sp>
        <p:nvSpPr>
          <p:cNvPr id="9" name="cost-text-1">
            <a:extLst xmlns:a="http://schemas.openxmlformats.org/drawingml/2006/main">
              <a:ext uri="{FF2B5EF4-FFF2-40B4-BE49-F238E27FC236}">
                <a16:creationId xmlns:a16="http://schemas.microsoft.com/office/drawing/2014/main" id="{E007FC61-15C0-4329-B376-9DE6AF36D666}"/>
              </a:ext>
            </a:extLst>
          </p:cNvPr>
          <p:cNvSpPr>
            <a:spLocks xmlns:a="http://schemas.openxmlformats.org/drawingml/2006/main" noGrp="1"/>
          </p:cNvSpPr>
          <p:nvPr/>
        </p:nvSpPr>
        <p:spPr>
          <a:xfrm xmlns:a="http://schemas.openxmlformats.org/drawingml/2006/main">
            <a:off x="6477000" y="2238375"/>
            <a:ext cx="476250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1820"/>
                </a:solidFill>
                <a:latin typeface="Helvetica Neue"/>
                <a:ea typeface="Helvetica Neue"/>
                <a:cs typeface="Helvetica Neue"/>
              </a:defRPr>
            </a:pPr>
            <a:r>
              <a:t>Store accounts and release fees</a:t>
            </a:r>
          </a:p>
        </p:txBody>
      </p:sp>
      <p:cxnSp>
        <p:nvCxnSpPr>
          <p:cNvPr id="30" name="cost-rule-1"/>
          <p:cNvCxnSpPr/>
          <p:nvPr/>
        </p:nvCxnSpPr>
        <p:spPr>
          <a:xfrm xmlns:a="http://schemas.openxmlformats.org/drawingml/2006/main">
            <a:off x="6477000" y="2781300"/>
            <a:ext cx="4762500" cy="286"/>
          </a:xfrm>
          <a:prstGeom xmlns:a="http://schemas.openxmlformats.org/drawingml/2006/main" prst="straightConnector1">
            <a:avLst/>
          </a:prstGeom>
          <a:ln xmlns:a="http://schemas.openxmlformats.org/drawingml/2006/main" w="9525">
            <a:solidFill>
              <a:srgbClr val="BBC5C8"/>
            </a:solidFill>
            <a:prstDash val="solid"/>
          </a:ln>
        </p:spPr>
      </p:cxnSp>
      <p:sp>
        <p:nvSpPr>
          <p:cNvPr id="11" name="cost-dot-2">
            <a:extLst xmlns:a="http://schemas.openxmlformats.org/drawingml/2006/main">
              <a:ext uri="{FF2B5EF4-FFF2-40B4-BE49-F238E27FC236}">
                <a16:creationId xmlns:a16="http://schemas.microsoft.com/office/drawing/2014/main" id="{19238D7B-DDC1-4E0D-8929-8C9D3A377C1C}"/>
              </a:ext>
            </a:extLst>
          </p:cNvPr>
          <p:cNvSpPr>
            <a:spLocks xmlns:a="http://schemas.openxmlformats.org/drawingml/2006/main" noGrp="1"/>
          </p:cNvSpPr>
          <p:nvPr/>
        </p:nvSpPr>
        <p:spPr>
          <a:xfrm xmlns:a="http://schemas.openxmlformats.org/drawingml/2006/main">
            <a:off x="6096000" y="3124200"/>
            <a:ext cx="171450" cy="171450"/>
          </a:xfrm>
          <a:prstGeom xmlns:a="http://schemas.openxmlformats.org/drawingml/2006/main" prst="ellipse">
            <a:avLst/>
          </a:prstGeom>
          <a:solidFill xmlns:a="http://schemas.openxmlformats.org/drawingml/2006/main">
            <a:srgbClr val="E85B70"/>
          </a:solidFill>
        </p:spPr>
      </p:sp>
      <p:sp>
        <p:nvSpPr>
          <p:cNvPr id="12" name="cost-text-2">
            <a:extLst xmlns:a="http://schemas.openxmlformats.org/drawingml/2006/main">
              <a:ext uri="{FF2B5EF4-FFF2-40B4-BE49-F238E27FC236}">
                <a16:creationId xmlns:a16="http://schemas.microsoft.com/office/drawing/2014/main" id="{3D772A0C-2709-490F-A0AF-3DFE93FB289F}"/>
              </a:ext>
            </a:extLst>
          </p:cNvPr>
          <p:cNvSpPr>
            <a:spLocks xmlns:a="http://schemas.openxmlformats.org/drawingml/2006/main" noGrp="1"/>
          </p:cNvSpPr>
          <p:nvPr/>
        </p:nvSpPr>
        <p:spPr>
          <a:xfrm xmlns:a="http://schemas.openxmlformats.org/drawingml/2006/main">
            <a:off x="6477000" y="3076575"/>
            <a:ext cx="476250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1820"/>
                </a:solidFill>
                <a:latin typeface="Helvetica Neue"/>
                <a:ea typeface="Helvetica Neue"/>
                <a:cs typeface="Helvetica Neue"/>
              </a:defRPr>
            </a:pPr>
            <a:r>
              <a:t>Traffic, maps, and calendar services</a:t>
            </a:r>
          </a:p>
        </p:txBody>
      </p:sp>
      <p:cxnSp>
        <p:nvCxnSpPr>
          <p:cNvPr id="33" name="cost-rule-2"/>
          <p:cNvCxnSpPr/>
          <p:nvPr/>
        </p:nvCxnSpPr>
        <p:spPr>
          <a:xfrm xmlns:a="http://schemas.openxmlformats.org/drawingml/2006/main">
            <a:off x="6477000" y="3619500"/>
            <a:ext cx="4762500" cy="286"/>
          </a:xfrm>
          <a:prstGeom xmlns:a="http://schemas.openxmlformats.org/drawingml/2006/main" prst="straightConnector1">
            <a:avLst/>
          </a:prstGeom>
          <a:ln xmlns:a="http://schemas.openxmlformats.org/drawingml/2006/main" w="9525">
            <a:solidFill>
              <a:srgbClr val="BBC5C8"/>
            </a:solidFill>
            <a:prstDash val="solid"/>
          </a:ln>
        </p:spPr>
      </p:cxnSp>
      <p:sp>
        <p:nvSpPr>
          <p:cNvPr id="14" name="cost-dot-3">
            <a:extLst xmlns:a="http://schemas.openxmlformats.org/drawingml/2006/main">
              <a:ext uri="{FF2B5EF4-FFF2-40B4-BE49-F238E27FC236}">
                <a16:creationId xmlns:a16="http://schemas.microsoft.com/office/drawing/2014/main" id="{3CD2795B-83D1-48D6-8216-844A67D2A73B}"/>
              </a:ext>
            </a:extLst>
          </p:cNvPr>
          <p:cNvSpPr>
            <a:spLocks xmlns:a="http://schemas.openxmlformats.org/drawingml/2006/main" noGrp="1"/>
          </p:cNvSpPr>
          <p:nvPr/>
        </p:nvSpPr>
        <p:spPr>
          <a:xfrm xmlns:a="http://schemas.openxmlformats.org/drawingml/2006/main">
            <a:off x="6096000" y="3962400"/>
            <a:ext cx="171450" cy="171450"/>
          </a:xfrm>
          <a:prstGeom xmlns:a="http://schemas.openxmlformats.org/drawingml/2006/main" prst="ellipse">
            <a:avLst/>
          </a:prstGeom>
          <a:solidFill xmlns:a="http://schemas.openxmlformats.org/drawingml/2006/main">
            <a:srgbClr val="20BFA8"/>
          </a:solidFill>
        </p:spPr>
      </p:sp>
      <p:sp>
        <p:nvSpPr>
          <p:cNvPr id="15" name="cost-text-3">
            <a:extLst xmlns:a="http://schemas.openxmlformats.org/drawingml/2006/main">
              <a:ext uri="{FF2B5EF4-FFF2-40B4-BE49-F238E27FC236}">
                <a16:creationId xmlns:a16="http://schemas.microsoft.com/office/drawing/2014/main" id="{8BFDE64C-5A5D-4B5E-8728-4922954FED4C}"/>
              </a:ext>
            </a:extLst>
          </p:cNvPr>
          <p:cNvSpPr>
            <a:spLocks xmlns:a="http://schemas.openxmlformats.org/drawingml/2006/main" noGrp="1"/>
          </p:cNvSpPr>
          <p:nvPr/>
        </p:nvSpPr>
        <p:spPr>
          <a:xfrm xmlns:a="http://schemas.openxmlformats.org/drawingml/2006/main">
            <a:off x="6477000" y="3914775"/>
            <a:ext cx="476250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1820"/>
                </a:solidFill>
                <a:latin typeface="Helvetica Neue"/>
                <a:ea typeface="Helvetica Neue"/>
                <a:cs typeface="Helvetica Neue"/>
              </a:defRPr>
            </a:pPr>
            <a:r>
              <a:t>Hosting and monitoring</a:t>
            </a:r>
          </a:p>
        </p:txBody>
      </p:sp>
      <p:cxnSp>
        <p:nvCxnSpPr>
          <p:cNvPr id="36" name="cost-rule-3"/>
          <p:cNvCxnSpPr/>
          <p:nvPr/>
        </p:nvCxnSpPr>
        <p:spPr>
          <a:xfrm xmlns:a="http://schemas.openxmlformats.org/drawingml/2006/main">
            <a:off x="6477000" y="4457700"/>
            <a:ext cx="4762500" cy="286"/>
          </a:xfrm>
          <a:prstGeom xmlns:a="http://schemas.openxmlformats.org/drawingml/2006/main" prst="straightConnector1">
            <a:avLst/>
          </a:prstGeom>
          <a:ln xmlns:a="http://schemas.openxmlformats.org/drawingml/2006/main" w="9525">
            <a:solidFill>
              <a:srgbClr val="BBC5C8"/>
            </a:solidFill>
            <a:prstDash val="solid"/>
          </a:ln>
        </p:spPr>
      </p:cxnSp>
      <p:sp>
        <p:nvSpPr>
          <p:cNvPr id="17" name="cost-dot-4">
            <a:extLst xmlns:a="http://schemas.openxmlformats.org/drawingml/2006/main">
              <a:ext uri="{FF2B5EF4-FFF2-40B4-BE49-F238E27FC236}">
                <a16:creationId xmlns:a16="http://schemas.microsoft.com/office/drawing/2014/main" id="{55070956-56E6-495A-95FA-A63A0058563D}"/>
              </a:ext>
            </a:extLst>
          </p:cNvPr>
          <p:cNvSpPr>
            <a:spLocks xmlns:a="http://schemas.openxmlformats.org/drawingml/2006/main" noGrp="1"/>
          </p:cNvSpPr>
          <p:nvPr/>
        </p:nvSpPr>
        <p:spPr>
          <a:xfrm xmlns:a="http://schemas.openxmlformats.org/drawingml/2006/main">
            <a:off x="6096000" y="4800600"/>
            <a:ext cx="171450" cy="171450"/>
          </a:xfrm>
          <a:prstGeom xmlns:a="http://schemas.openxmlformats.org/drawingml/2006/main" prst="ellipse">
            <a:avLst/>
          </a:prstGeom>
          <a:solidFill xmlns:a="http://schemas.openxmlformats.org/drawingml/2006/main">
            <a:srgbClr val="20BFA8"/>
          </a:solidFill>
        </p:spPr>
      </p:sp>
      <p:sp>
        <p:nvSpPr>
          <p:cNvPr id="18" name="cost-text-4">
            <a:extLst xmlns:a="http://schemas.openxmlformats.org/drawingml/2006/main">
              <a:ext uri="{FF2B5EF4-FFF2-40B4-BE49-F238E27FC236}">
                <a16:creationId xmlns:a16="http://schemas.microsoft.com/office/drawing/2014/main" id="{814FF870-A70C-4AEB-A95C-D33C65434833}"/>
              </a:ext>
            </a:extLst>
          </p:cNvPr>
          <p:cNvSpPr>
            <a:spLocks xmlns:a="http://schemas.openxmlformats.org/drawingml/2006/main" noGrp="1"/>
          </p:cNvSpPr>
          <p:nvPr/>
        </p:nvSpPr>
        <p:spPr>
          <a:xfrm xmlns:a="http://schemas.openxmlformats.org/drawingml/2006/main">
            <a:off x="6477000" y="4752975"/>
            <a:ext cx="476250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1820"/>
                </a:solidFill>
                <a:latin typeface="Helvetica Neue"/>
                <a:ea typeface="Helvetica Neue"/>
                <a:cs typeface="Helvetica Neue"/>
              </a:defRPr>
            </a:pPr>
            <a:r>
              <a:t>Bug fixes, updates, and support</a:t>
            </a:r>
          </a:p>
        </p:txBody>
      </p:sp>
      <p:sp>
        <p:nvSpPr>
          <p:cNvPr id="19" name="cost-bottom">
            <a:extLst xmlns:a="http://schemas.openxmlformats.org/drawingml/2006/main">
              <a:ext uri="{FF2B5EF4-FFF2-40B4-BE49-F238E27FC236}">
                <a16:creationId xmlns:a16="http://schemas.microsoft.com/office/drawing/2014/main" id="{8D253498-0D8E-41B7-AADA-1525E4F5FD43}"/>
              </a:ext>
            </a:extLst>
          </p:cNvPr>
          <p:cNvSpPr>
            <a:spLocks xmlns:a="http://schemas.openxmlformats.org/drawingml/2006/main" noGrp="1"/>
          </p:cNvSpPr>
          <p:nvPr/>
        </p:nvSpPr>
        <p:spPr>
          <a:xfrm xmlns:a="http://schemas.openxmlformats.org/drawingml/2006/main">
            <a:off x="6096000" y="5715000"/>
            <a:ext cx="53340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E756A"/>
                </a:solidFill>
                <a:latin typeface="Helvetica Neue"/>
                <a:ea typeface="Helvetica Neue"/>
                <a:cs typeface="Helvetica Neue"/>
              </a:defRPr>
            </a:pPr>
            <a:r>
              <a:t>Digital manufacturing is cheaper to copy—but not free to run.</a:t>
            </a:r>
          </a:p>
        </p:txBody>
      </p:sp>
      <p:sp>
        <p:nvSpPr>
          <p:cNvPr id="20" name="page-10">
            <a:extLst xmlns:a="http://schemas.openxmlformats.org/drawingml/2006/main">
              <a:ext uri="{FF2B5EF4-FFF2-40B4-BE49-F238E27FC236}">
                <a16:creationId xmlns:a16="http://schemas.microsoft.com/office/drawing/2014/main" id="{A8519EB3-2ED4-4AB5-BC18-AFF515FAC03C}"/>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10</a:t>
            </a:r>
          </a:p>
        </p:txBody>
      </p:sp>
    </p:spTree>
    <p:extLst>
      <p:ext uri="{BB962C8B-B14F-4D97-AF65-F5344CB8AC3E}">
        <p14:creationId xmlns:p14="http://schemas.microsoft.com/office/powerpoint/2010/main" val="11690752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close-eyebrow">
            <a:extLst xmlns:a="http://schemas.openxmlformats.org/drawingml/2006/main">
              <a:ext uri="{FF2B5EF4-FFF2-40B4-BE49-F238E27FC236}">
                <a16:creationId xmlns:a16="http://schemas.microsoft.com/office/drawing/2014/main" id="{30E3FF09-B1F2-4EE7-A04E-96D704EEEE16}"/>
              </a:ext>
            </a:extLst>
          </p:cNvPr>
          <p:cNvSpPr>
            <a:spLocks xmlns:a="http://schemas.openxmlformats.org/drawingml/2006/main" noGrp="1"/>
          </p:cNvSpPr>
          <p:nvPr/>
        </p:nvSpPr>
        <p:spPr>
          <a:xfrm xmlns:a="http://schemas.openxmlformats.org/drawingml/2006/main">
            <a:off x="457200" y="400050"/>
            <a:ext cx="28575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E756A"/>
                </a:solidFill>
                <a:latin typeface="Helvetica Neue"/>
                <a:ea typeface="Helvetica Neue"/>
                <a:cs typeface="Helvetica Neue"/>
              </a:defRPr>
            </a:pPr>
            <a:r>
              <a:t>THE FIRST GOAL</a:t>
            </a:r>
          </a:p>
        </p:txBody>
      </p:sp>
      <p:sp>
        <p:nvSpPr>
          <p:cNvPr id="2" name="close-title">
            <a:extLst xmlns:a="http://schemas.openxmlformats.org/drawingml/2006/main">
              <a:ext uri="{FF2B5EF4-FFF2-40B4-BE49-F238E27FC236}">
                <a16:creationId xmlns:a16="http://schemas.microsoft.com/office/drawing/2014/main" id="{9D56001F-8F28-479A-A7C7-7C4B27FCCEB6}"/>
              </a:ext>
            </a:extLst>
          </p:cNvPr>
          <p:cNvSpPr>
            <a:spLocks xmlns:a="http://schemas.openxmlformats.org/drawingml/2006/main" noGrp="1"/>
          </p:cNvSpPr>
          <p:nvPr/>
        </p:nvSpPr>
        <p:spPr>
          <a:xfrm xmlns:a="http://schemas.openxmlformats.org/drawingml/2006/main">
            <a:off x="457200" y="1524000"/>
            <a:ext cx="99060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101820"/>
                </a:solidFill>
                <a:latin typeface="Helvetica Neue"/>
                <a:ea typeface="Helvetica Neue"/>
                <a:cs typeface="Helvetica Neue"/>
              </a:defRPr>
            </a:pPr>
            <a:r>
              <a:t>Earn trust with a small, reliable pilot.</a:t>
            </a:r>
          </a:p>
        </p:txBody>
      </p:sp>
      <p:cxnSp>
        <p:nvCxnSpPr>
          <p:cNvPr id="12" name="close-rule"/>
          <p:cNvCxnSpPr/>
          <p:nvPr/>
        </p:nvCxnSpPr>
        <p:spPr>
          <a:xfrm xmlns:a="http://schemas.openxmlformats.org/drawingml/2006/main">
            <a:off x="457200" y="2857500"/>
            <a:ext cx="1714500" cy="286"/>
          </a:xfrm>
          <a:prstGeom xmlns:a="http://schemas.openxmlformats.org/drawingml/2006/main" prst="straightConnector1">
            <a:avLst/>
          </a:prstGeom>
          <a:ln xmlns:a="http://schemas.openxmlformats.org/drawingml/2006/main" w="38100">
            <a:solidFill>
              <a:srgbClr val="20BFA8"/>
            </a:solidFill>
            <a:prstDash val="solid"/>
          </a:ln>
        </p:spPr>
      </p:cxnSp>
      <p:sp>
        <p:nvSpPr>
          <p:cNvPr id="4" name="close-marketing-label">
            <a:extLst xmlns:a="http://schemas.openxmlformats.org/drawingml/2006/main">
              <a:ext uri="{FF2B5EF4-FFF2-40B4-BE49-F238E27FC236}">
                <a16:creationId xmlns:a16="http://schemas.microsoft.com/office/drawing/2014/main" id="{24AA184E-861B-43D2-933F-42A361DA33B4}"/>
              </a:ext>
            </a:extLst>
          </p:cNvPr>
          <p:cNvSpPr>
            <a:spLocks xmlns:a="http://schemas.openxmlformats.org/drawingml/2006/main" noGrp="1"/>
          </p:cNvSpPr>
          <p:nvPr/>
        </p:nvSpPr>
        <p:spPr>
          <a:xfrm xmlns:a="http://schemas.openxmlformats.org/drawingml/2006/main">
            <a:off x="457200" y="3333750"/>
            <a:ext cx="190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E85B70"/>
                </a:solidFill>
                <a:latin typeface="Helvetica Neue"/>
                <a:ea typeface="Helvetica Neue"/>
                <a:cs typeface="Helvetica Neue"/>
              </a:defRPr>
            </a:pPr>
            <a:r>
              <a:t>MARKETING</a:t>
            </a:r>
          </a:p>
        </p:txBody>
      </p:sp>
      <p:sp>
        <p:nvSpPr>
          <p:cNvPr id="5" name="close-marketing">
            <a:extLst xmlns:a="http://schemas.openxmlformats.org/drawingml/2006/main">
              <a:ext uri="{FF2B5EF4-FFF2-40B4-BE49-F238E27FC236}">
                <a16:creationId xmlns:a16="http://schemas.microsoft.com/office/drawing/2014/main" id="{F39E8D21-7641-4B8B-890E-5EC92C388838}"/>
              </a:ext>
            </a:extLst>
          </p:cNvPr>
          <p:cNvSpPr>
            <a:spLocks xmlns:a="http://schemas.openxmlformats.org/drawingml/2006/main" noGrp="1"/>
          </p:cNvSpPr>
          <p:nvPr/>
        </p:nvSpPr>
        <p:spPr>
          <a:xfrm xmlns:a="http://schemas.openxmlformats.org/drawingml/2006/main">
            <a:off x="457200" y="3714750"/>
            <a:ext cx="4762500" cy="742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1820"/>
                </a:solidFill>
                <a:latin typeface="Helvetica Neue"/>
                <a:ea typeface="Helvetica Neue"/>
                <a:cs typeface="Helvetica Neue"/>
              </a:defRPr>
            </a:pPr>
            <a:r>
              <a:t>Make the promise clear enough to understand in seconds.</a:t>
            </a:r>
          </a:p>
        </p:txBody>
      </p:sp>
      <p:sp>
        <p:nvSpPr>
          <p:cNvPr id="6" name="close-manufacturing-label">
            <a:extLst xmlns:a="http://schemas.openxmlformats.org/drawingml/2006/main">
              <a:ext uri="{FF2B5EF4-FFF2-40B4-BE49-F238E27FC236}">
                <a16:creationId xmlns:a16="http://schemas.microsoft.com/office/drawing/2014/main" id="{C7F1C209-6829-4E41-9E46-A8CC77F31536}"/>
              </a:ext>
            </a:extLst>
          </p:cNvPr>
          <p:cNvSpPr>
            <a:spLocks xmlns:a="http://schemas.openxmlformats.org/drawingml/2006/main" noGrp="1"/>
          </p:cNvSpPr>
          <p:nvPr/>
        </p:nvSpPr>
        <p:spPr>
          <a:xfrm xmlns:a="http://schemas.openxmlformats.org/drawingml/2006/main">
            <a:off x="6191250" y="3333750"/>
            <a:ext cx="2286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E756A"/>
                </a:solidFill>
                <a:latin typeface="Helvetica Neue"/>
                <a:ea typeface="Helvetica Neue"/>
                <a:cs typeface="Helvetica Neue"/>
              </a:defRPr>
            </a:pPr>
            <a:r>
              <a:t>MANUFACTURING</a:t>
            </a:r>
          </a:p>
        </p:txBody>
      </p:sp>
      <p:sp>
        <p:nvSpPr>
          <p:cNvPr id="7" name="close-manufacturing">
            <a:extLst xmlns:a="http://schemas.openxmlformats.org/drawingml/2006/main">
              <a:ext uri="{FF2B5EF4-FFF2-40B4-BE49-F238E27FC236}">
                <a16:creationId xmlns:a16="http://schemas.microsoft.com/office/drawing/2014/main" id="{669BDB6C-ACF1-4C40-A6FC-C11BF46311CF}"/>
              </a:ext>
            </a:extLst>
          </p:cNvPr>
          <p:cNvSpPr>
            <a:spLocks xmlns:a="http://schemas.openxmlformats.org/drawingml/2006/main" noGrp="1"/>
          </p:cNvSpPr>
          <p:nvPr/>
        </p:nvSpPr>
        <p:spPr>
          <a:xfrm xmlns:a="http://schemas.openxmlformats.org/drawingml/2006/main">
            <a:off x="6191250" y="3714750"/>
            <a:ext cx="5048250" cy="857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1820"/>
                </a:solidFill>
                <a:latin typeface="Helvetica Neue"/>
                <a:ea typeface="Helvetica Neue"/>
                <a:cs typeface="Helvetica Neue"/>
              </a:defRPr>
            </a:pPr>
            <a:r>
              <a:t>Make the release process reliable enough to trust on Monday morning.</a:t>
            </a:r>
          </a:p>
        </p:txBody>
      </p:sp>
      <p:sp>
        <p:nvSpPr>
          <p:cNvPr id="8" name="close-question">
            <a:extLst xmlns:a="http://schemas.openxmlformats.org/drawingml/2006/main">
              <a:ext uri="{FF2B5EF4-FFF2-40B4-BE49-F238E27FC236}">
                <a16:creationId xmlns:a16="http://schemas.microsoft.com/office/drawing/2014/main" id="{20E4ECC4-8FC9-4EFB-8A6C-23C8840AD3A8}"/>
              </a:ext>
            </a:extLst>
          </p:cNvPr>
          <p:cNvSpPr>
            <a:spLocks xmlns:a="http://schemas.openxmlformats.org/drawingml/2006/main" noGrp="1"/>
          </p:cNvSpPr>
          <p:nvPr/>
        </p:nvSpPr>
        <p:spPr>
          <a:xfrm xmlns:a="http://schemas.openxmlformats.org/drawingml/2006/main">
            <a:off x="457200" y="5619750"/>
            <a:ext cx="8858250" cy="438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E756A"/>
                </a:solidFill>
                <a:latin typeface="Helvetica Neue"/>
                <a:ea typeface="Helvetica Neue"/>
                <a:cs typeface="Helvetica Neue"/>
              </a:defRPr>
            </a:pPr>
            <a:r>
              <a:t>Would students trust it for a real school morning?</a:t>
            </a:r>
          </a:p>
        </p:txBody>
      </p:sp>
      <p:sp>
        <p:nvSpPr>
          <p:cNvPr id="9" name="page-11">
            <a:extLst xmlns:a="http://schemas.openxmlformats.org/drawingml/2006/main">
              <a:ext uri="{FF2B5EF4-FFF2-40B4-BE49-F238E27FC236}">
                <a16:creationId xmlns:a16="http://schemas.microsoft.com/office/drawing/2014/main" id="{5DFF3493-C0AB-4AA5-BC02-14043BFDBDA8}"/>
              </a:ext>
            </a:extLst>
          </p:cNvPr>
          <p:cNvSpPr>
            <a:spLocks xmlns:a="http://schemas.openxmlformats.org/drawingml/2006/main" noGrp="1"/>
          </p:cNvSpPr>
          <p:nvPr/>
        </p:nvSpPr>
        <p:spPr>
          <a:xfrm xmlns:a="http://schemas.openxmlformats.org/drawingml/2006/main">
            <a:off x="11334750" y="6305550"/>
            <a:ext cx="400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5F6B78"/>
                </a:solidFill>
                <a:latin typeface="Helvetica Neue"/>
                <a:ea typeface="Helvetica Neue"/>
                <a:cs typeface="Helvetica Neue"/>
              </a:defRPr>
            </a:pPr>
            <a:r>
              <a:t>11</a:t>
            </a:r>
          </a:p>
        </p:txBody>
      </p:sp>
    </p:spTree>
    <p:extLst>
      <p:ext uri="{BB962C8B-B14F-4D97-AF65-F5344CB8AC3E}">
        <p14:creationId xmlns:p14="http://schemas.microsoft.com/office/powerpoint/2010/main" val="1745216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2026-07-15T16:31:34.5130000Z</dcterms:created>
  <dcterms:modified xsi:type="dcterms:W3CDTF">2026-07-15T16:31:34.5130000Z</dcterms:modified>
</coreProperties>
</file>